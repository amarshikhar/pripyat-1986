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napToObjects="1">
      <p:cViewPr varScale="1">
        <p:scale>
          <a:sx n="59" d="100"/>
          <a:sy n="59" d="100"/>
        </p:scale>
        <p:origin x="964"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560320"/>
            <a:ext cx="12191695" cy="508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731520"/>
            <a:ext cx="10058400" cy="548640"/>
          </a:xfrm>
          <a:prstGeom prst="rect">
            <a:avLst/>
          </a:prstGeom>
          <a:noFill/>
        </p:spPr>
        <p:txBody>
          <a:bodyPr wrap="square">
            <a:spAutoFit/>
          </a:bodyPr>
          <a:lstStyle/>
          <a:p>
            <a:pPr algn="ctr">
              <a:spcBef>
                <a:spcPts val="100"/>
              </a:spcBef>
              <a:spcAft>
                <a:spcPts val="100"/>
              </a:spcAft>
              <a:defRPr sz="1400" b="1">
                <a:solidFill>
                  <a:srgbClr val="009B8D"/>
                </a:solidFill>
                <a:latin typeface="Calibri"/>
              </a:defRPr>
            </a:pPr>
            <a:r>
              <a:t>Microsoft Agentic Industry Hackathon 2026</a:t>
            </a:r>
          </a:p>
        </p:txBody>
      </p:sp>
      <p:sp>
        <p:nvSpPr>
          <p:cNvPr id="5" name="TextBox 4"/>
          <p:cNvSpPr txBox="1"/>
          <p:nvPr/>
        </p:nvSpPr>
        <p:spPr>
          <a:xfrm>
            <a:off x="914400" y="1371600"/>
            <a:ext cx="10058400" cy="1097280"/>
          </a:xfrm>
          <a:prstGeom prst="rect">
            <a:avLst/>
          </a:prstGeom>
          <a:noFill/>
        </p:spPr>
        <p:txBody>
          <a:bodyPr wrap="square">
            <a:spAutoFit/>
          </a:bodyPr>
          <a:lstStyle/>
          <a:p>
            <a:pPr algn="ctr">
              <a:spcBef>
                <a:spcPts val="100"/>
              </a:spcBef>
              <a:spcAft>
                <a:spcPts val="100"/>
              </a:spcAft>
              <a:defRPr sz="3600" b="1">
                <a:solidFill>
                  <a:srgbClr val="FFFFFF"/>
                </a:solidFill>
                <a:latin typeface="Calibri"/>
              </a:defRPr>
            </a:pPr>
            <a:r>
              <a:rPr dirty="0"/>
              <a:t>PRIPYAT-1986</a:t>
            </a:r>
          </a:p>
          <a:p>
            <a:pPr algn="ctr">
              <a:spcBef>
                <a:spcPts val="100"/>
              </a:spcBef>
              <a:spcAft>
                <a:spcPts val="100"/>
              </a:spcAft>
              <a:defRPr sz="2000" b="0">
                <a:solidFill>
                  <a:srgbClr val="AACCEE"/>
                </a:solidFill>
                <a:latin typeface="Calibri"/>
              </a:defRPr>
            </a:pPr>
            <a:r>
              <a:rPr dirty="0"/>
              <a:t>Agentic AI Crisis Response Architecture</a:t>
            </a:r>
          </a:p>
        </p:txBody>
      </p:sp>
      <p:sp>
        <p:nvSpPr>
          <p:cNvPr id="6" name="Rounded Rectangle 5"/>
          <p:cNvSpPr/>
          <p:nvPr/>
        </p:nvSpPr>
        <p:spPr>
          <a:xfrm>
            <a:off x="4114800" y="2834640"/>
            <a:ext cx="3931920" cy="41148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100"/>
              </a:spcBef>
              <a:spcAft>
                <a:spcPts val="100"/>
              </a:spcAft>
              <a:defRPr sz="1300" b="1">
                <a:solidFill>
                  <a:srgbClr val="FFFFFF"/>
                </a:solidFill>
                <a:latin typeface="Calibri"/>
              </a:defRPr>
            </a:pPr>
            <a:r>
              <a:t>TRACK A: GitHub + Azure  |  Industry: Utilities Sector</a:t>
            </a:r>
          </a:p>
        </p:txBody>
      </p:sp>
      <p:sp>
        <p:nvSpPr>
          <p:cNvPr id="7" name="TextBox 6"/>
          <p:cNvSpPr txBox="1"/>
          <p:nvPr/>
        </p:nvSpPr>
        <p:spPr>
          <a:xfrm>
            <a:off x="914400" y="3566160"/>
            <a:ext cx="10058400" cy="338554"/>
          </a:xfrm>
          <a:prstGeom prst="rect">
            <a:avLst/>
          </a:prstGeom>
          <a:noFill/>
        </p:spPr>
        <p:txBody>
          <a:bodyPr wrap="square">
            <a:spAutoFit/>
          </a:bodyPr>
          <a:lstStyle/>
          <a:p>
            <a:pPr algn="ctr">
              <a:spcBef>
                <a:spcPts val="100"/>
              </a:spcBef>
              <a:spcAft>
                <a:spcPts val="100"/>
              </a:spcAft>
              <a:defRPr sz="1600" b="0">
                <a:solidFill>
                  <a:srgbClr val="FFFFFF"/>
                </a:solidFill>
                <a:latin typeface="Calibri"/>
              </a:defRPr>
            </a:pPr>
            <a:r>
              <a:rPr dirty="0"/>
              <a:t>Real-time Resilience Approach</a:t>
            </a:r>
            <a:r>
              <a:rPr lang="en-US" dirty="0"/>
              <a:t> -</a:t>
            </a:r>
            <a:r>
              <a:rPr dirty="0"/>
              <a:t> Operations Assistant</a:t>
            </a:r>
          </a:p>
        </p:txBody>
      </p:sp>
      <p:sp>
        <p:nvSpPr>
          <p:cNvPr id="8" name="TextBox 7"/>
          <p:cNvSpPr txBox="1"/>
          <p:nvPr/>
        </p:nvSpPr>
        <p:spPr>
          <a:xfrm>
            <a:off x="914400" y="4206240"/>
            <a:ext cx="10058400" cy="457200"/>
          </a:xfrm>
          <a:prstGeom prst="rect">
            <a:avLst/>
          </a:prstGeom>
          <a:noFill/>
        </p:spPr>
        <p:txBody>
          <a:bodyPr wrap="square">
            <a:spAutoFit/>
          </a:bodyPr>
          <a:lstStyle/>
          <a:p>
            <a:pPr algn="ctr">
              <a:spcBef>
                <a:spcPts val="100"/>
              </a:spcBef>
              <a:spcAft>
                <a:spcPts val="100"/>
              </a:spcAft>
              <a:defRPr sz="1400" b="1">
                <a:solidFill>
                  <a:srgbClr val="009B8D"/>
                </a:solidFill>
                <a:latin typeface="Calibri"/>
              </a:defRPr>
            </a:pPr>
            <a:r>
              <a:t>Team WattAgents</a:t>
            </a:r>
          </a:p>
        </p:txBody>
      </p:sp>
      <p:sp>
        <p:nvSpPr>
          <p:cNvPr id="9" name="TextBox 8"/>
          <p:cNvSpPr txBox="1"/>
          <p:nvPr/>
        </p:nvSpPr>
        <p:spPr>
          <a:xfrm>
            <a:off x="914400" y="4663440"/>
            <a:ext cx="10058400" cy="457200"/>
          </a:xfrm>
          <a:prstGeom prst="rect">
            <a:avLst/>
          </a:prstGeom>
          <a:noFill/>
        </p:spPr>
        <p:txBody>
          <a:bodyPr wrap="square">
            <a:spAutoFit/>
          </a:bodyPr>
          <a:lstStyle/>
          <a:p>
            <a:pPr algn="ctr">
              <a:spcBef>
                <a:spcPts val="100"/>
              </a:spcBef>
              <a:spcAft>
                <a:spcPts val="100"/>
              </a:spcAft>
              <a:defRPr sz="1100" b="0">
                <a:solidFill>
                  <a:srgbClr val="AABBCC"/>
                </a:solidFill>
                <a:latin typeface="Calibri"/>
              </a:defRPr>
            </a:pPr>
            <a:r>
              <a:t>Shruti Kate  •  Amar Shikhar  •  V. Sreenivas  •  Deendayalan Balaji  •  M. Navenaa  •  Shyamdinesh</a:t>
            </a:r>
          </a:p>
        </p:txBody>
      </p:sp>
      <p:sp>
        <p:nvSpPr>
          <p:cNvPr id="10" name="TextBox 9"/>
          <p:cNvSpPr txBox="1"/>
          <p:nvPr/>
        </p:nvSpPr>
        <p:spPr>
          <a:xfrm>
            <a:off x="914400" y="5303520"/>
            <a:ext cx="10058400" cy="261610"/>
          </a:xfrm>
          <a:prstGeom prst="rect">
            <a:avLst/>
          </a:prstGeom>
          <a:noFill/>
        </p:spPr>
        <p:txBody>
          <a:bodyPr wrap="square">
            <a:spAutoFit/>
          </a:bodyPr>
          <a:lstStyle/>
          <a:p>
            <a:pPr algn="ctr">
              <a:spcBef>
                <a:spcPts val="100"/>
              </a:spcBef>
              <a:spcAft>
                <a:spcPts val="100"/>
              </a:spcAft>
              <a:defRPr sz="1100" b="0">
                <a:solidFill>
                  <a:srgbClr val="777777"/>
                </a:solidFill>
                <a:latin typeface="Calibri"/>
              </a:defRPr>
            </a:pPr>
            <a:r>
              <a:rPr lang="en-US" dirty="0"/>
              <a:t>May</a:t>
            </a:r>
            <a:r>
              <a:rPr dirty="0"/>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Executive Summary</a:t>
            </a:r>
          </a:p>
          <a:p>
            <a:pPr algn="l">
              <a:spcBef>
                <a:spcPts val="100"/>
              </a:spcBef>
              <a:spcAft>
                <a:spcPts val="100"/>
              </a:spcAft>
              <a:defRPr sz="1300" b="0">
                <a:solidFill>
                  <a:srgbClr val="88BBDD"/>
                </a:solidFill>
                <a:latin typeface="Calibri"/>
              </a:defRPr>
            </a:pPr>
            <a:r>
              <a:t>Use Case: Real-time Resilience — Utilities Sector  |  Track A: GitHub + Azure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72540"/>
            <a:ext cx="557784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WHAT — Problem &amp; Solution</a:t>
            </a:r>
          </a:p>
        </p:txBody>
      </p:sp>
      <p:sp>
        <p:nvSpPr>
          <p:cNvPr id="5" name="Rounded Rectangle 4"/>
          <p:cNvSpPr/>
          <p:nvPr/>
        </p:nvSpPr>
        <p:spPr>
          <a:xfrm>
            <a:off x="457200" y="1546860"/>
            <a:ext cx="5577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Multi-agent AI system replaying the 1986 Chernobyl disaster through 6 autonomous agents</a:t>
            </a:r>
          </a:p>
          <a:p>
            <a:pPr>
              <a:spcBef>
                <a:spcPts val="100"/>
              </a:spcBef>
              <a:spcAft>
                <a:spcPts val="100"/>
              </a:spcAft>
              <a:defRPr sz="900" b="0">
                <a:solidFill>
                  <a:srgbClr val="333333"/>
                </a:solidFill>
                <a:latin typeface="Calibri"/>
              </a:defRPr>
            </a:pPr>
            <a:r>
              <a:rPr dirty="0"/>
              <a:t>Monitors real-time reactor telemetry, detects compound safety violations across 6 dimensions</a:t>
            </a:r>
          </a:p>
          <a:p>
            <a:pPr>
              <a:spcBef>
                <a:spcPts val="100"/>
              </a:spcBef>
              <a:spcAft>
                <a:spcPts val="100"/>
              </a:spcAft>
              <a:defRPr sz="900" b="0">
                <a:solidFill>
                  <a:srgbClr val="333333"/>
                </a:solidFill>
                <a:latin typeface="Calibri"/>
              </a:defRPr>
            </a:pPr>
            <a:r>
              <a:rPr dirty="0"/>
              <a:t>Issues automated shutdown (AZ-5 SCRAM) and evacuation orders</a:t>
            </a:r>
            <a:r>
              <a:rPr lang="en-US" dirty="0"/>
              <a:t>;</a:t>
            </a:r>
            <a:r>
              <a:rPr dirty="0"/>
              <a:t> decisions operators refused to make</a:t>
            </a:r>
          </a:p>
          <a:p>
            <a:pPr>
              <a:spcBef>
                <a:spcPts val="100"/>
              </a:spcBef>
              <a:spcAft>
                <a:spcPts val="100"/>
              </a:spcAft>
              <a:defRPr sz="900" b="0">
                <a:solidFill>
                  <a:srgbClr val="333333"/>
                </a:solidFill>
                <a:latin typeface="Calibri"/>
              </a:defRPr>
            </a:pPr>
            <a:r>
              <a:rPr dirty="0"/>
              <a:t>Proves agentic AI prevents catastrophic industrial failure in safety-critical infrastructure</a:t>
            </a:r>
          </a:p>
          <a:p>
            <a:pPr>
              <a:spcBef>
                <a:spcPts val="100"/>
              </a:spcBef>
              <a:spcAft>
                <a:spcPts val="100"/>
              </a:spcAft>
              <a:defRPr sz="900" b="0">
                <a:solidFill>
                  <a:srgbClr val="333333"/>
                </a:solidFill>
                <a:latin typeface="Calibri"/>
              </a:defRPr>
            </a:pPr>
            <a:r>
              <a:rPr dirty="0"/>
              <a:t>NOT a nuclear simulator — a reusable safety-critical AI architecture (Chernobyl = proof dataset)</a:t>
            </a:r>
          </a:p>
        </p:txBody>
      </p:sp>
      <p:sp>
        <p:nvSpPr>
          <p:cNvPr id="6" name="Rectangle 5"/>
          <p:cNvSpPr/>
          <p:nvPr/>
        </p:nvSpPr>
        <p:spPr>
          <a:xfrm>
            <a:off x="6172200" y="1272540"/>
            <a:ext cx="5577840" cy="27432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WHY — The "Dyatlov Effect"</a:t>
            </a:r>
          </a:p>
        </p:txBody>
      </p:sp>
      <p:sp>
        <p:nvSpPr>
          <p:cNvPr id="7" name="Rounded Rectangle 6"/>
          <p:cNvSpPr/>
          <p:nvPr/>
        </p:nvSpPr>
        <p:spPr>
          <a:xfrm>
            <a:off x="6172200" y="1546860"/>
            <a:ext cx="5577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Human operators under cognitive pressure exhibit confirmation bias + authority gradient</a:t>
            </a:r>
          </a:p>
          <a:p>
            <a:pPr>
              <a:spcBef>
                <a:spcPts val="100"/>
              </a:spcBef>
              <a:spcAft>
                <a:spcPts val="100"/>
              </a:spcAft>
              <a:defRPr sz="900" b="0">
                <a:solidFill>
                  <a:srgbClr val="333333"/>
                </a:solidFill>
                <a:latin typeface="Calibri"/>
              </a:defRPr>
            </a:pPr>
            <a:r>
              <a:rPr dirty="0"/>
              <a:t>No existing system detects compound failure modes across simultaneous dimensions</a:t>
            </a:r>
          </a:p>
          <a:p>
            <a:pPr>
              <a:spcBef>
                <a:spcPts val="100"/>
              </a:spcBef>
              <a:spcAft>
                <a:spcPts val="100"/>
              </a:spcAft>
              <a:defRPr sz="900" b="0">
                <a:solidFill>
                  <a:srgbClr val="333333"/>
                </a:solidFill>
                <a:latin typeface="Calibri"/>
              </a:defRPr>
            </a:pPr>
            <a:r>
              <a:rPr dirty="0"/>
              <a:t>Chain-of-command paralysis delayed Chernobyl evacuation by 35+ hours</a:t>
            </a:r>
          </a:p>
          <a:p>
            <a:pPr>
              <a:spcBef>
                <a:spcPts val="100"/>
              </a:spcBef>
              <a:spcAft>
                <a:spcPts val="100"/>
              </a:spcAft>
              <a:defRPr sz="900" b="0">
                <a:solidFill>
                  <a:srgbClr val="333333"/>
                </a:solidFill>
                <a:latin typeface="Calibri"/>
              </a:defRPr>
            </a:pPr>
            <a:r>
              <a:rPr dirty="0"/>
              <a:t>AI eliminates cognitive bias from life-or-death decisions in real-time</a:t>
            </a:r>
          </a:p>
        </p:txBody>
      </p:sp>
      <p:sp>
        <p:nvSpPr>
          <p:cNvPr id="8" name="Rectangle 7"/>
          <p:cNvSpPr/>
          <p:nvPr/>
        </p:nvSpPr>
        <p:spPr>
          <a:xfrm>
            <a:off x="457200" y="3375660"/>
            <a:ext cx="557784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WHO — Stakeholders</a:t>
            </a:r>
          </a:p>
        </p:txBody>
      </p:sp>
      <p:sp>
        <p:nvSpPr>
          <p:cNvPr id="9" name="Rounded Rectangle 8"/>
          <p:cNvSpPr/>
          <p:nvPr/>
        </p:nvSpPr>
        <p:spPr>
          <a:xfrm>
            <a:off x="457200" y="364998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Plant operators &amp; shift supervisors (primary users)</a:t>
            </a:r>
          </a:p>
          <a:p>
            <a:pPr>
              <a:spcBef>
                <a:spcPts val="100"/>
              </a:spcBef>
              <a:spcAft>
                <a:spcPts val="100"/>
              </a:spcAft>
              <a:defRPr sz="900" b="0">
                <a:solidFill>
                  <a:srgbClr val="333333"/>
                </a:solidFill>
                <a:latin typeface="Calibri"/>
              </a:defRPr>
            </a:pPr>
            <a:r>
              <a:rPr dirty="0"/>
              <a:t>IAEA / national nuclear regulatory authorities</a:t>
            </a:r>
          </a:p>
          <a:p>
            <a:pPr>
              <a:spcBef>
                <a:spcPts val="100"/>
              </a:spcBef>
              <a:spcAft>
                <a:spcPts val="100"/>
              </a:spcAft>
              <a:defRPr sz="900" b="0">
                <a:solidFill>
                  <a:srgbClr val="333333"/>
                </a:solidFill>
                <a:latin typeface="Calibri"/>
              </a:defRPr>
            </a:pPr>
            <a:r>
              <a:rPr dirty="0"/>
              <a:t>Civil emergency coordinators &amp; evacuation planners</a:t>
            </a:r>
          </a:p>
          <a:p>
            <a:pPr>
              <a:spcBef>
                <a:spcPts val="100"/>
              </a:spcBef>
              <a:spcAft>
                <a:spcPts val="100"/>
              </a:spcAft>
              <a:defRPr sz="900" b="0">
                <a:solidFill>
                  <a:srgbClr val="333333"/>
                </a:solidFill>
                <a:latin typeface="Calibri"/>
              </a:defRPr>
            </a:pPr>
            <a:r>
              <a:rPr dirty="0"/>
              <a:t>Civilian populations in plant exclusion zones (49,000+ residents)</a:t>
            </a:r>
          </a:p>
          <a:p>
            <a:pPr>
              <a:spcBef>
                <a:spcPts val="100"/>
              </a:spcBef>
              <a:spcAft>
                <a:spcPts val="100"/>
              </a:spcAft>
              <a:defRPr sz="900" b="0">
                <a:solidFill>
                  <a:srgbClr val="333333"/>
                </a:solidFill>
                <a:latin typeface="Calibri"/>
              </a:defRPr>
            </a:pPr>
            <a:r>
              <a:rPr dirty="0"/>
              <a:t>Enterprise clients: utilities, oil &amp; gas, aviation, pharma (reusable architecture)</a:t>
            </a:r>
          </a:p>
        </p:txBody>
      </p:sp>
      <p:sp>
        <p:nvSpPr>
          <p:cNvPr id="10" name="Rectangle 9"/>
          <p:cNvSpPr/>
          <p:nvPr/>
        </p:nvSpPr>
        <p:spPr>
          <a:xfrm>
            <a:off x="6172200" y="3375660"/>
            <a:ext cx="5577840" cy="2743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HOW — 6-Agent Pipeline</a:t>
            </a:r>
          </a:p>
        </p:txBody>
      </p:sp>
      <p:sp>
        <p:nvSpPr>
          <p:cNvPr id="11" name="Rounded Rectangle 10"/>
          <p:cNvSpPr/>
          <p:nvPr/>
        </p:nvSpPr>
        <p:spPr>
          <a:xfrm>
            <a:off x="6172200" y="3649980"/>
            <a:ext cx="5577840"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Sensor → Risk → Decision → Dyatlov (adversarial) → Evacuation → Comms</a:t>
            </a:r>
          </a:p>
          <a:p>
            <a:pPr>
              <a:spcBef>
                <a:spcPts val="100"/>
              </a:spcBef>
              <a:spcAft>
                <a:spcPts val="100"/>
              </a:spcAft>
              <a:defRPr sz="900" b="0">
                <a:solidFill>
                  <a:srgbClr val="333333"/>
                </a:solidFill>
                <a:latin typeface="Calibri"/>
              </a:defRPr>
            </a:pPr>
            <a:r>
              <a:rPr dirty="0"/>
              <a:t>Guardrail-Union: Rules FIRST, AI SECOND, Final = UNION (AI adds, never removes)</a:t>
            </a:r>
          </a:p>
          <a:p>
            <a:pPr>
              <a:spcBef>
                <a:spcPts val="100"/>
              </a:spcBef>
              <a:spcAft>
                <a:spcPts val="100"/>
              </a:spcAft>
              <a:defRPr sz="900" b="0">
                <a:solidFill>
                  <a:srgbClr val="333333"/>
                </a:solidFill>
                <a:latin typeface="Calibri"/>
              </a:defRPr>
            </a:pPr>
            <a:r>
              <a:rPr dirty="0"/>
              <a:t>70% Azure OpenAI GPT-4o + 30% rule-based formula for risk scoring</a:t>
            </a:r>
          </a:p>
          <a:p>
            <a:pPr>
              <a:spcBef>
                <a:spcPts val="100"/>
              </a:spcBef>
              <a:spcAft>
                <a:spcPts val="100"/>
              </a:spcAft>
              <a:defRPr sz="900" b="0">
                <a:solidFill>
                  <a:srgbClr val="333333"/>
                </a:solidFill>
                <a:latin typeface="Calibri"/>
              </a:defRPr>
            </a:pPr>
            <a:r>
              <a:rPr dirty="0"/>
              <a:t>Hard guardrails non-negotiable — LLM advisory layer enhances safety floor</a:t>
            </a:r>
          </a:p>
          <a:p>
            <a:pPr>
              <a:spcBef>
                <a:spcPts val="100"/>
              </a:spcBef>
              <a:spcAft>
                <a:spcPts val="100"/>
              </a:spcAft>
              <a:defRPr sz="900" b="0">
                <a:solidFill>
                  <a:srgbClr val="333333"/>
                </a:solidFill>
                <a:latin typeface="Calibri"/>
              </a:defRPr>
            </a:pPr>
            <a:r>
              <a:rPr dirty="0"/>
              <a:t>Graceful degradation: works identically without API keys (100% rule-based)</a:t>
            </a:r>
          </a:p>
        </p:txBody>
      </p:sp>
      <p:sp>
        <p:nvSpPr>
          <p:cNvPr id="12" name="Rounded Rectangle 11"/>
          <p:cNvSpPr/>
          <p:nvPr/>
        </p:nvSpPr>
        <p:spPr>
          <a:xfrm>
            <a:off x="457200" y="5158740"/>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38 min Earlier</a:t>
            </a:r>
          </a:p>
          <a:p>
            <a:pPr algn="ctr">
              <a:spcBef>
                <a:spcPts val="100"/>
              </a:spcBef>
              <a:spcAft>
                <a:spcPts val="100"/>
              </a:spcAft>
              <a:defRPr sz="800" b="0">
                <a:solidFill>
                  <a:srgbClr val="333333"/>
                </a:solidFill>
                <a:latin typeface="Calibri"/>
              </a:defRPr>
            </a:pPr>
            <a:r>
              <a:t>Emergency Shutdown (vs. explosion at 01:23:40)</a:t>
            </a:r>
          </a:p>
        </p:txBody>
      </p:sp>
      <p:sp>
        <p:nvSpPr>
          <p:cNvPr id="13" name="Rounded Rectangle 12"/>
          <p:cNvSpPr/>
          <p:nvPr/>
        </p:nvSpPr>
        <p:spPr>
          <a:xfrm>
            <a:off x="3200400" y="5158740"/>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35 hrs Earlier</a:t>
            </a:r>
          </a:p>
          <a:p>
            <a:pPr algn="ctr">
              <a:spcBef>
                <a:spcPts val="100"/>
              </a:spcBef>
              <a:spcAft>
                <a:spcPts val="100"/>
              </a:spcAft>
              <a:defRPr sz="800" b="0">
                <a:solidFill>
                  <a:srgbClr val="333333"/>
                </a:solidFill>
                <a:latin typeface="Calibri"/>
              </a:defRPr>
            </a:pPr>
            <a:r>
              <a:t>Civilian Evacuation (vs. Soviet order Apr 27 14:00)</a:t>
            </a:r>
          </a:p>
        </p:txBody>
      </p:sp>
      <p:sp>
        <p:nvSpPr>
          <p:cNvPr id="14" name="Rounded Rectangle 13"/>
          <p:cNvSpPr/>
          <p:nvPr/>
        </p:nvSpPr>
        <p:spPr>
          <a:xfrm>
            <a:off x="5943600" y="5158740"/>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100%</a:t>
            </a:r>
          </a:p>
          <a:p>
            <a:pPr algn="ctr">
              <a:spcBef>
                <a:spcPts val="100"/>
              </a:spcBef>
              <a:spcAft>
                <a:spcPts val="100"/>
              </a:spcAft>
              <a:defRPr sz="800" b="0">
                <a:solidFill>
                  <a:srgbClr val="333333"/>
                </a:solidFill>
                <a:latin typeface="Calibri"/>
              </a:defRPr>
            </a:pPr>
            <a:r>
              <a:t>Safety Protocol Compliance (vs. 0% in 1986)</a:t>
            </a:r>
          </a:p>
        </p:txBody>
      </p:sp>
      <p:sp>
        <p:nvSpPr>
          <p:cNvPr id="15" name="Rounded Rectangle 14"/>
          <p:cNvSpPr/>
          <p:nvPr/>
        </p:nvSpPr>
        <p:spPr>
          <a:xfrm>
            <a:off x="8686800" y="5158740"/>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&lt;$0.10/run</a:t>
            </a:r>
          </a:p>
          <a:p>
            <a:pPr algn="ctr">
              <a:spcBef>
                <a:spcPts val="100"/>
              </a:spcBef>
              <a:spcAft>
                <a:spcPts val="100"/>
              </a:spcAft>
              <a:defRPr sz="800" b="0">
                <a:solidFill>
                  <a:srgbClr val="333333"/>
                </a:solidFill>
                <a:latin typeface="Calibri"/>
              </a:defRPr>
            </a:pPr>
            <a:r>
              <a:t>Cost Per Simulation on Azure OpenAI</a:t>
            </a:r>
          </a:p>
        </p:txBody>
      </p:sp>
      <p:sp>
        <p:nvSpPr>
          <p:cNvPr id="16" name="Rectangle 15"/>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8" name="TextBox 17"/>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2/20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"Not </a:t>
            </a:r>
            <a:r>
              <a:rPr lang="en-US" dirty="0"/>
              <a:t>just </a:t>
            </a:r>
            <a:r>
              <a:rPr dirty="0"/>
              <a:t>a Nuclear Simulator" </a:t>
            </a:r>
            <a:r>
              <a:rPr lang="en-US" dirty="0"/>
              <a:t>:</a:t>
            </a:r>
            <a:r>
              <a:rPr dirty="0"/>
              <a:t> Reusable Safety-Critical AI Architecture</a:t>
            </a:r>
          </a:p>
        </p:txBody>
      </p:sp>
      <p:sp>
        <p:nvSpPr>
          <p:cNvPr id="3" name="Rectangle 2"/>
          <p:cNvSpPr/>
          <p:nvPr/>
        </p:nvSpPr>
        <p:spPr>
          <a:xfrm>
            <a:off x="0" y="96012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089660"/>
            <a:ext cx="11277295" cy="91440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l">
              <a:spcBef>
                <a:spcPts val="100"/>
              </a:spcBef>
              <a:spcAft>
                <a:spcPts val="100"/>
              </a:spcAft>
              <a:defRPr sz="1100" b="1">
                <a:solidFill>
                  <a:srgbClr val="0C2340"/>
                </a:solidFill>
                <a:latin typeface="Calibri"/>
              </a:defRPr>
            </a:pPr>
            <a:r>
              <a:rPr dirty="0"/>
              <a:t>"PRIPYAT-1986 is not a nuclear simulator. It's a reusable safety-critical AI architecture that uses Chernobyl as its most dramatic training dataset. Connect it to your SCADA API, and it runs on your grid tomorrow. Connect it to your BSEE feed, and it monitors your wells. The architecture is the product. The disaster is just the proof."</a:t>
            </a:r>
          </a:p>
        </p:txBody>
      </p:sp>
      <p:graphicFrame>
        <p:nvGraphicFramePr>
          <p:cNvPr id="5" name="Table 4"/>
          <p:cNvGraphicFramePr>
            <a:graphicFrameLocks noGrp="1"/>
          </p:cNvGraphicFramePr>
          <p:nvPr/>
        </p:nvGraphicFramePr>
        <p:xfrm>
          <a:off x="457200" y="2141220"/>
          <a:ext cx="11277295" cy="228600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PRIPYAT-1986 Agent</a:t>
                      </a:r>
                    </a:p>
                  </a:txBody>
                  <a:tcPr>
                    <a:solidFill>
                      <a:srgbClr val="009B8D"/>
                    </a:solidFill>
                  </a:tcPr>
                </a:tc>
                <a:tc>
                  <a:txBody>
                    <a:bodyPr/>
                    <a:lstStyle/>
                    <a:p>
                      <a:pPr>
                        <a:defRPr sz="900" b="1">
                          <a:solidFill>
                            <a:srgbClr val="FFFFFF"/>
                          </a:solidFill>
                          <a:latin typeface="Calibri"/>
                        </a:defRPr>
                      </a:pPr>
                      <a:r>
                        <a:t>Oil &amp; Gas</a:t>
                      </a:r>
                    </a:p>
                  </a:txBody>
                  <a:tcPr>
                    <a:solidFill>
                      <a:srgbClr val="009B8D"/>
                    </a:solidFill>
                  </a:tcPr>
                </a:tc>
                <a:tc>
                  <a:txBody>
                    <a:bodyPr/>
                    <a:lstStyle/>
                    <a:p>
                      <a:pPr>
                        <a:defRPr sz="900" b="1">
                          <a:solidFill>
                            <a:srgbClr val="FFFFFF"/>
                          </a:solidFill>
                          <a:latin typeface="Calibri"/>
                        </a:defRPr>
                      </a:pPr>
                      <a:r>
                        <a:t>Aviation</a:t>
                      </a:r>
                    </a:p>
                  </a:txBody>
                  <a:tcPr>
                    <a:solidFill>
                      <a:srgbClr val="009B8D"/>
                    </a:solidFill>
                  </a:tcPr>
                </a:tc>
                <a:tc>
                  <a:txBody>
                    <a:bodyPr/>
                    <a:lstStyle/>
                    <a:p>
                      <a:pPr>
                        <a:defRPr sz="900" b="1">
                          <a:solidFill>
                            <a:srgbClr val="FFFFFF"/>
                          </a:solidFill>
                          <a:latin typeface="Calibri"/>
                        </a:defRPr>
                      </a:pPr>
                      <a:r>
                        <a:t>Pharmaceuticals</a:t>
                      </a:r>
                    </a:p>
                  </a:txBody>
                  <a:tcPr>
                    <a:solidFill>
                      <a:srgbClr val="009B8D"/>
                    </a:solidFill>
                  </a:tcPr>
                </a:tc>
                <a:tc>
                  <a:txBody>
                    <a:bodyPr/>
                    <a:lstStyle/>
                    <a:p>
                      <a:pPr>
                        <a:defRPr sz="900" b="1">
                          <a:solidFill>
                            <a:srgbClr val="FFFFFF"/>
                          </a:solidFill>
                          <a:latin typeface="Calibri"/>
                        </a:defRPr>
                      </a:pPr>
                      <a:r>
                        <a:t>Power Grid</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SensorAgent</a:t>
                      </a:r>
                      <a:br/>
                      <a:r>
                        <a:t>(threshold anomaly)</a:t>
                      </a:r>
                    </a:p>
                  </a:txBody>
                  <a:tcPr>
                    <a:solidFill>
                      <a:srgbClr val="FFFFFF"/>
                    </a:solidFill>
                  </a:tcPr>
                </a:tc>
                <a:tc>
                  <a:txBody>
                    <a:bodyPr/>
                    <a:lstStyle/>
                    <a:p>
                      <a:pPr>
                        <a:defRPr sz="800">
                          <a:solidFill>
                            <a:srgbClr val="333333"/>
                          </a:solidFill>
                          <a:latin typeface="Calibri"/>
                        </a:defRPr>
                      </a:pPr>
                      <a:r>
                        <a:t>SCADA well pressure</a:t>
                      </a:r>
                      <a:br/>
                      <a:r>
                        <a:t>monitor</a:t>
                      </a:r>
                    </a:p>
                  </a:txBody>
                  <a:tcPr>
                    <a:solidFill>
                      <a:srgbClr val="FFFFFF"/>
                    </a:solidFill>
                  </a:tcPr>
                </a:tc>
                <a:tc>
                  <a:txBody>
                    <a:bodyPr/>
                    <a:lstStyle/>
                    <a:p>
                      <a:pPr>
                        <a:defRPr sz="800">
                          <a:solidFill>
                            <a:srgbClr val="333333"/>
                          </a:solidFill>
                          <a:latin typeface="Calibri"/>
                        </a:defRPr>
                      </a:pPr>
                      <a:r>
                        <a:t>Flight parameter</a:t>
                      </a:r>
                      <a:br/>
                      <a:r>
                        <a:t>envelope checker</a:t>
                      </a:r>
                    </a:p>
                  </a:txBody>
                  <a:tcPr>
                    <a:solidFill>
                      <a:srgbClr val="FFFFFF"/>
                    </a:solidFill>
                  </a:tcPr>
                </a:tc>
                <a:tc>
                  <a:txBody>
                    <a:bodyPr/>
                    <a:lstStyle/>
                    <a:p>
                      <a:pPr>
                        <a:defRPr sz="800">
                          <a:solidFill>
                            <a:srgbClr val="333333"/>
                          </a:solidFill>
                          <a:latin typeface="Calibri"/>
                        </a:defRPr>
                      </a:pPr>
                      <a:r>
                        <a:t>Batch process</a:t>
                      </a:r>
                      <a:br/>
                      <a:r>
                        <a:t>temp/pH monitor</a:t>
                      </a:r>
                    </a:p>
                  </a:txBody>
                  <a:tcPr>
                    <a:solidFill>
                      <a:srgbClr val="FFFFFF"/>
                    </a:solidFill>
                  </a:tcPr>
                </a:tc>
                <a:tc>
                  <a:txBody>
                    <a:bodyPr/>
                    <a:lstStyle/>
                    <a:p>
                      <a:pPr>
                        <a:defRPr sz="800">
                          <a:solidFill>
                            <a:srgbClr val="333333"/>
                          </a:solidFill>
                          <a:latin typeface="Calibri"/>
                        </a:defRPr>
                      </a:pPr>
                      <a:r>
                        <a:t>PMU voltage/</a:t>
                      </a:r>
                      <a:br/>
                      <a:r>
                        <a:t>frequency monitor</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RiskAgent</a:t>
                      </a:r>
                      <a:br/>
                      <a:r>
                        <a:t>(rule + LLM blend)</a:t>
                      </a:r>
                    </a:p>
                  </a:txBody>
                  <a:tcPr>
                    <a:solidFill>
                      <a:srgbClr val="F2F2F2"/>
                    </a:solidFill>
                  </a:tcPr>
                </a:tc>
                <a:tc>
                  <a:txBody>
                    <a:bodyPr/>
                    <a:lstStyle/>
                    <a:p>
                      <a:pPr>
                        <a:defRPr sz="800">
                          <a:solidFill>
                            <a:srgbClr val="333333"/>
                          </a:solidFill>
                          <a:latin typeface="Calibri"/>
                        </a:defRPr>
                      </a:pPr>
                      <a:r>
                        <a:t>Well blowout</a:t>
                      </a:r>
                      <a:br/>
                      <a:r>
                        <a:t>probability scorer</a:t>
                      </a:r>
                    </a:p>
                  </a:txBody>
                  <a:tcPr>
                    <a:solidFill>
                      <a:srgbClr val="F2F2F2"/>
                    </a:solidFill>
                  </a:tcPr>
                </a:tc>
                <a:tc>
                  <a:txBody>
                    <a:bodyPr/>
                    <a:lstStyle/>
                    <a:p>
                      <a:pPr>
                        <a:defRPr sz="800">
                          <a:solidFill>
                            <a:srgbClr val="333333"/>
                          </a:solidFill>
                          <a:latin typeface="Calibri"/>
                        </a:defRPr>
                      </a:pPr>
                      <a:r>
                        <a:t>Bird strike / turbulence</a:t>
                      </a:r>
                      <a:br/>
                      <a:r>
                        <a:t>risk scorer</a:t>
                      </a:r>
                    </a:p>
                  </a:txBody>
                  <a:tcPr>
                    <a:solidFill>
                      <a:srgbClr val="F2F2F2"/>
                    </a:solidFill>
                  </a:tcPr>
                </a:tc>
                <a:tc>
                  <a:txBody>
                    <a:bodyPr/>
                    <a:lstStyle/>
                    <a:p>
                      <a:pPr>
                        <a:defRPr sz="800">
                          <a:solidFill>
                            <a:srgbClr val="333333"/>
                          </a:solidFill>
                          <a:latin typeface="Calibri"/>
                        </a:defRPr>
                      </a:pPr>
                      <a:r>
                        <a:t>Contamination /</a:t>
                      </a:r>
                      <a:br/>
                      <a:r>
                        <a:t>cross-reaction risk</a:t>
                      </a:r>
                    </a:p>
                  </a:txBody>
                  <a:tcPr>
                    <a:solidFill>
                      <a:srgbClr val="F2F2F2"/>
                    </a:solidFill>
                  </a:tcPr>
                </a:tc>
                <a:tc>
                  <a:txBody>
                    <a:bodyPr/>
                    <a:lstStyle/>
                    <a:p>
                      <a:pPr>
                        <a:defRPr sz="800">
                          <a:solidFill>
                            <a:srgbClr val="333333"/>
                          </a:solidFill>
                          <a:latin typeface="Calibri"/>
                        </a:defRPr>
                      </a:pPr>
                      <a:r>
                        <a:t>N-1 contingency</a:t>
                      </a:r>
                      <a:br/>
                      <a:r>
                        <a:t>analyser</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DecisionAgent</a:t>
                      </a:r>
                      <a:br/>
                      <a:r>
                        <a:t>(guardrails + AI)</a:t>
                      </a:r>
                    </a:p>
                  </a:txBody>
                  <a:tcPr>
                    <a:solidFill>
                      <a:srgbClr val="FFFFFF"/>
                    </a:solidFill>
                  </a:tcPr>
                </a:tc>
                <a:tc>
                  <a:txBody>
                    <a:bodyPr/>
                    <a:lstStyle/>
                    <a:p>
                      <a:pPr>
                        <a:defRPr sz="800">
                          <a:solidFill>
                            <a:srgbClr val="333333"/>
                          </a:solidFill>
                          <a:latin typeface="Calibri"/>
                        </a:defRPr>
                      </a:pPr>
                      <a:r>
                        <a:t>Emergency well</a:t>
                      </a:r>
                      <a:br/>
                      <a:r>
                        <a:t>shutdown</a:t>
                      </a:r>
                    </a:p>
                  </a:txBody>
                  <a:tcPr>
                    <a:solidFill>
                      <a:srgbClr val="FFFFFF"/>
                    </a:solidFill>
                  </a:tcPr>
                </a:tc>
                <a:tc>
                  <a:txBody>
                    <a:bodyPr/>
                    <a:lstStyle/>
                    <a:p>
                      <a:pPr>
                        <a:defRPr sz="800">
                          <a:solidFill>
                            <a:srgbClr val="333333"/>
                          </a:solidFill>
                          <a:latin typeface="Calibri"/>
                        </a:defRPr>
                      </a:pPr>
                      <a:r>
                        <a:t>Go-around /</a:t>
                      </a:r>
                      <a:br/>
                      <a:r>
                        <a:t>diversion decision</a:t>
                      </a:r>
                    </a:p>
                  </a:txBody>
                  <a:tcPr>
                    <a:solidFill>
                      <a:srgbClr val="FFFFFF"/>
                    </a:solidFill>
                  </a:tcPr>
                </a:tc>
                <a:tc>
                  <a:txBody>
                    <a:bodyPr/>
                    <a:lstStyle/>
                    <a:p>
                      <a:pPr>
                        <a:defRPr sz="800">
                          <a:solidFill>
                            <a:srgbClr val="333333"/>
                          </a:solidFill>
                          <a:latin typeface="Calibri"/>
                        </a:defRPr>
                      </a:pPr>
                      <a:r>
                        <a:t>Batch rejection /</a:t>
                      </a:r>
                      <a:br/>
                      <a:r>
                        <a:t>line lockdown</a:t>
                      </a:r>
                    </a:p>
                  </a:txBody>
                  <a:tcPr>
                    <a:solidFill>
                      <a:srgbClr val="FFFFFF"/>
                    </a:solidFill>
                  </a:tcPr>
                </a:tc>
                <a:tc>
                  <a:txBody>
                    <a:bodyPr/>
                    <a:lstStyle/>
                    <a:p>
                      <a:pPr>
                        <a:defRPr sz="800">
                          <a:solidFill>
                            <a:srgbClr val="333333"/>
                          </a:solidFill>
                          <a:latin typeface="Calibri"/>
                        </a:defRPr>
                      </a:pPr>
                      <a:r>
                        <a:t>Load shedding /</a:t>
                      </a:r>
                      <a:br/>
                      <a:r>
                        <a:t>islanding decision</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EvacuationAgent</a:t>
                      </a:r>
                      <a:br/>
                      <a:r>
                        <a:t>(logistics)</a:t>
                      </a:r>
                    </a:p>
                  </a:txBody>
                  <a:tcPr>
                    <a:solidFill>
                      <a:srgbClr val="F2F2F2"/>
                    </a:solidFill>
                  </a:tcPr>
                </a:tc>
                <a:tc>
                  <a:txBody>
                    <a:bodyPr/>
                    <a:lstStyle/>
                    <a:p>
                      <a:pPr>
                        <a:defRPr sz="800">
                          <a:solidFill>
                            <a:srgbClr val="333333"/>
                          </a:solidFill>
                          <a:latin typeface="Calibri"/>
                        </a:defRPr>
                      </a:pPr>
                      <a:r>
                        <a:t>Offshore rig</a:t>
                      </a:r>
                      <a:br/>
                      <a:r>
                        <a:t>evacuation planner</a:t>
                      </a:r>
                    </a:p>
                  </a:txBody>
                  <a:tcPr>
                    <a:solidFill>
                      <a:srgbClr val="F2F2F2"/>
                    </a:solidFill>
                  </a:tcPr>
                </a:tc>
                <a:tc>
                  <a:txBody>
                    <a:bodyPr/>
                    <a:lstStyle/>
                    <a:p>
                      <a:pPr>
                        <a:defRPr sz="800">
                          <a:solidFill>
                            <a:srgbClr val="333333"/>
                          </a:solidFill>
                          <a:latin typeface="Calibri"/>
                        </a:defRPr>
                      </a:pPr>
                      <a:r>
                        <a:t>Airport terminal</a:t>
                      </a:r>
                      <a:br/>
                      <a:r>
                        <a:t>evacuation</a:t>
                      </a:r>
                    </a:p>
                  </a:txBody>
                  <a:tcPr>
                    <a:solidFill>
                      <a:srgbClr val="F2F2F2"/>
                    </a:solidFill>
                  </a:tcPr>
                </a:tc>
                <a:tc>
                  <a:txBody>
                    <a:bodyPr/>
                    <a:lstStyle/>
                    <a:p>
                      <a:pPr>
                        <a:defRPr sz="800">
                          <a:solidFill>
                            <a:srgbClr val="333333"/>
                          </a:solidFill>
                          <a:latin typeface="Calibri"/>
                        </a:defRPr>
                      </a:pPr>
                      <a:r>
                        <a:t>Clean room lockdown</a:t>
                      </a:r>
                      <a:br/>
                      <a:r>
                        <a:t>+ personnel routing</a:t>
                      </a:r>
                    </a:p>
                  </a:txBody>
                  <a:tcPr>
                    <a:solidFill>
                      <a:srgbClr val="F2F2F2"/>
                    </a:solidFill>
                  </a:tcPr>
                </a:tc>
                <a:tc>
                  <a:txBody>
                    <a:bodyPr/>
                    <a:lstStyle/>
                    <a:p>
                      <a:pPr>
                        <a:defRPr sz="800">
                          <a:solidFill>
                            <a:srgbClr val="333333"/>
                          </a:solidFill>
                          <a:latin typeface="Calibri"/>
                        </a:defRPr>
                      </a:pPr>
                      <a:r>
                        <a:t>Rolling blackout</a:t>
                      </a:r>
                      <a:br/>
                      <a:r>
                        <a:t>zone planner</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CommsAgent</a:t>
                      </a:r>
                      <a:br/>
                      <a:r>
                        <a:t>(regulatory)</a:t>
                      </a:r>
                    </a:p>
                  </a:txBody>
                  <a:tcPr>
                    <a:solidFill>
                      <a:srgbClr val="FFFFFF"/>
                    </a:solidFill>
                  </a:tcPr>
                </a:tc>
                <a:tc>
                  <a:txBody>
                    <a:bodyPr/>
                    <a:lstStyle/>
                    <a:p>
                      <a:pPr>
                        <a:defRPr sz="800">
                          <a:solidFill>
                            <a:srgbClr val="333333"/>
                          </a:solidFill>
                          <a:latin typeface="Calibri"/>
                        </a:defRPr>
                      </a:pPr>
                      <a:r>
                        <a:t>BSEE incident report</a:t>
                      </a:r>
                      <a:br/>
                      <a:r>
                        <a:t>+ coast guard</a:t>
                      </a:r>
                    </a:p>
                  </a:txBody>
                  <a:tcPr>
                    <a:solidFill>
                      <a:srgbClr val="FFFFFF"/>
                    </a:solidFill>
                  </a:tcPr>
                </a:tc>
                <a:tc>
                  <a:txBody>
                    <a:bodyPr/>
                    <a:lstStyle/>
                    <a:p>
                      <a:pPr>
                        <a:defRPr sz="800">
                          <a:solidFill>
                            <a:srgbClr val="333333"/>
                          </a:solidFill>
                          <a:latin typeface="Calibri"/>
                        </a:defRPr>
                      </a:pPr>
                      <a:r>
                        <a:t>ATC alert +</a:t>
                      </a:r>
                      <a:br/>
                      <a:r>
                        <a:t>NTSB notification</a:t>
                      </a:r>
                    </a:p>
                  </a:txBody>
                  <a:tcPr>
                    <a:solidFill>
                      <a:srgbClr val="FFFFFF"/>
                    </a:solidFill>
                  </a:tcPr>
                </a:tc>
                <a:tc>
                  <a:txBody>
                    <a:bodyPr/>
                    <a:lstStyle/>
                    <a:p>
                      <a:pPr>
                        <a:defRPr sz="800">
                          <a:solidFill>
                            <a:srgbClr val="333333"/>
                          </a:solidFill>
                          <a:latin typeface="Calibri"/>
                        </a:defRPr>
                      </a:pPr>
                      <a:r>
                        <a:t>FDA deviation report</a:t>
                      </a:r>
                      <a:br/>
                      <a:r>
                        <a:t>+ recall notice</a:t>
                      </a:r>
                    </a:p>
                  </a:txBody>
                  <a:tcPr>
                    <a:solidFill>
                      <a:srgbClr val="FFFFFF"/>
                    </a:solidFill>
                  </a:tcPr>
                </a:tc>
                <a:tc>
                  <a:txBody>
                    <a:bodyPr/>
                    <a:lstStyle/>
                    <a:p>
                      <a:pPr>
                        <a:defRPr sz="800">
                          <a:solidFill>
                            <a:srgbClr val="333333"/>
                          </a:solidFill>
                          <a:latin typeface="Calibri"/>
                        </a:defRPr>
                      </a:pPr>
                      <a:r>
                        <a:t>NERC event report</a:t>
                      </a:r>
                      <a:br/>
                      <a:r>
                        <a:t>+ ISO notification</a:t>
                      </a:r>
                    </a:p>
                  </a:txBody>
                  <a:tcPr>
                    <a:solidFill>
                      <a:srgbClr val="FFFFFF"/>
                    </a:solidFill>
                  </a:tcPr>
                </a:tc>
                <a:extLst>
                  <a:ext uri="{0D108BD9-81ED-4DB2-BD59-A6C34878D82A}">
                    <a16:rowId xmlns:a16="http://schemas.microsoft.com/office/drawing/2014/main" val="10005"/>
                  </a:ext>
                </a:extLst>
              </a:tr>
              <a:tr h="274320">
                <a:tc>
                  <a:txBody>
                    <a:bodyPr/>
                    <a:lstStyle/>
                    <a:p>
                      <a:pPr>
                        <a:defRPr sz="800">
                          <a:solidFill>
                            <a:srgbClr val="333333"/>
                          </a:solidFill>
                          <a:latin typeface="Calibri"/>
                        </a:defRPr>
                      </a:pPr>
                      <a:r>
                        <a:t>DyatlovAgent</a:t>
                      </a:r>
                      <a:br/>
                      <a:r>
                        <a:t>(adversarial pressure)</a:t>
                      </a:r>
                    </a:p>
                  </a:txBody>
                  <a:tcPr>
                    <a:solidFill>
                      <a:srgbClr val="F2F2F2"/>
                    </a:solidFill>
                  </a:tcPr>
                </a:tc>
                <a:tc>
                  <a:txBody>
                    <a:bodyPr/>
                    <a:lstStyle/>
                    <a:p>
                      <a:pPr>
                        <a:defRPr sz="800">
                          <a:solidFill>
                            <a:srgbClr val="333333"/>
                          </a:solidFill>
                          <a:latin typeface="Calibri"/>
                        </a:defRPr>
                      </a:pPr>
                      <a:r>
                        <a:t>Production manager</a:t>
                      </a:r>
                      <a:br/>
                      <a:r>
                        <a:t>override pressure</a:t>
                      </a:r>
                    </a:p>
                  </a:txBody>
                  <a:tcPr>
                    <a:solidFill>
                      <a:srgbClr val="F2F2F2"/>
                    </a:solidFill>
                  </a:tcPr>
                </a:tc>
                <a:tc>
                  <a:txBody>
                    <a:bodyPr/>
                    <a:lstStyle/>
                    <a:p>
                      <a:pPr>
                        <a:defRPr sz="800">
                          <a:solidFill>
                            <a:srgbClr val="333333"/>
                          </a:solidFill>
                          <a:latin typeface="Calibri"/>
                        </a:defRPr>
                      </a:pPr>
                      <a:r>
                        <a:t>Captain authority</a:t>
                      </a:r>
                      <a:br/>
                      <a:r>
                        <a:t>gradient</a:t>
                      </a:r>
                    </a:p>
                  </a:txBody>
                  <a:tcPr>
                    <a:solidFill>
                      <a:srgbClr val="F2F2F2"/>
                    </a:solidFill>
                  </a:tcPr>
                </a:tc>
                <a:tc>
                  <a:txBody>
                    <a:bodyPr/>
                    <a:lstStyle/>
                    <a:p>
                      <a:pPr>
                        <a:defRPr sz="800">
                          <a:solidFill>
                            <a:srgbClr val="333333"/>
                          </a:solidFill>
                          <a:latin typeface="Calibri"/>
                        </a:defRPr>
                      </a:pPr>
                      <a:r>
                        <a:t>Manufacturing quota</a:t>
                      </a:r>
                      <a:br/>
                      <a:r>
                        <a:t>pressure</a:t>
                      </a:r>
                    </a:p>
                  </a:txBody>
                  <a:tcPr>
                    <a:solidFill>
                      <a:srgbClr val="F2F2F2"/>
                    </a:solidFill>
                  </a:tcPr>
                </a:tc>
                <a:tc>
                  <a:txBody>
                    <a:bodyPr/>
                    <a:lstStyle/>
                    <a:p>
                      <a:pPr>
                        <a:defRPr sz="800">
                          <a:solidFill>
                            <a:srgbClr val="333333"/>
                          </a:solidFill>
                          <a:latin typeface="Calibri"/>
                        </a:defRPr>
                      </a:pPr>
                      <a:r>
                        <a:t>Grid dispatcher</a:t>
                      </a:r>
                      <a:br/>
                      <a:r>
                        <a:t>congestion pressure</a:t>
                      </a:r>
                    </a:p>
                  </a:txBody>
                  <a:tcPr>
                    <a:solidFill>
                      <a:srgbClr val="F2F2F2"/>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4427220"/>
            <a:ext cx="11277295" cy="274320"/>
          </a:xfrm>
          <a:prstGeom prst="rect">
            <a:avLst/>
          </a:prstGeom>
          <a:noFill/>
        </p:spPr>
        <p:txBody>
          <a:bodyPr wrap="square">
            <a:spAutoFit/>
          </a:bodyPr>
          <a:lstStyle/>
          <a:p>
            <a:pPr algn="l">
              <a:spcBef>
                <a:spcPts val="100"/>
              </a:spcBef>
              <a:spcAft>
                <a:spcPts val="100"/>
              </a:spcAft>
              <a:defRPr sz="1200" b="1">
                <a:solidFill>
                  <a:srgbClr val="0C2340"/>
                </a:solidFill>
                <a:latin typeface="Calibri"/>
              </a:defRPr>
            </a:pPr>
            <a:r>
              <a:t>Customization Points — To Adapt for a New Industry:</a:t>
            </a:r>
          </a:p>
        </p:txBody>
      </p:sp>
      <p:graphicFrame>
        <p:nvGraphicFramePr>
          <p:cNvPr id="7" name="Table 6"/>
          <p:cNvGraphicFramePr>
            <a:graphicFrameLocks noGrp="1"/>
          </p:cNvGraphicFramePr>
          <p:nvPr>
            <p:extLst>
              <p:ext uri="{D42A27DB-BD31-4B8C-83A1-F6EECF244321}">
                <p14:modId xmlns:p14="http://schemas.microsoft.com/office/powerpoint/2010/main" val="2722604000"/>
              </p:ext>
            </p:extLst>
          </p:nvPr>
        </p:nvGraphicFramePr>
        <p:xfrm>
          <a:off x="457200" y="4701540"/>
          <a:ext cx="11277295" cy="1295400"/>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9">
                  <a:extLst>
                    <a:ext uri="{9D8B030D-6E8A-4147-A177-3AD203B41FA5}">
                      <a16:colId xmlns:a16="http://schemas.microsoft.com/office/drawing/2014/main" val="20002"/>
                    </a:ext>
                  </a:extLst>
                </a:gridCol>
              </a:tblGrid>
              <a:tr h="200842">
                <a:tc>
                  <a:txBody>
                    <a:bodyPr/>
                    <a:lstStyle/>
                    <a:p>
                      <a:pPr>
                        <a:defRPr sz="900" b="1">
                          <a:solidFill>
                            <a:srgbClr val="FFFFFF"/>
                          </a:solidFill>
                          <a:latin typeface="Calibri"/>
                        </a:defRPr>
                      </a:pPr>
                      <a:r>
                        <a:t>Module to Change</a:t>
                      </a:r>
                    </a:p>
                  </a:txBody>
                  <a:tcPr>
                    <a:solidFill>
                      <a:srgbClr val="009B8D"/>
                    </a:solidFill>
                  </a:tcPr>
                </a:tc>
                <a:tc>
                  <a:txBody>
                    <a:bodyPr/>
                    <a:lstStyle/>
                    <a:p>
                      <a:pPr>
                        <a:defRPr sz="900" b="1">
                          <a:solidFill>
                            <a:srgbClr val="FFFFFF"/>
                          </a:solidFill>
                          <a:latin typeface="Calibri"/>
                        </a:defRPr>
                      </a:pPr>
                      <a:r>
                        <a:t>What Changes</a:t>
                      </a:r>
                    </a:p>
                  </a:txBody>
                  <a:tcPr>
                    <a:solidFill>
                      <a:srgbClr val="009B8D"/>
                    </a:solidFill>
                  </a:tcPr>
                </a:tc>
                <a:tc>
                  <a:txBody>
                    <a:bodyPr/>
                    <a:lstStyle/>
                    <a:p>
                      <a:pPr>
                        <a:defRPr sz="900" b="1">
                          <a:solidFill>
                            <a:srgbClr val="FFFFFF"/>
                          </a:solidFill>
                          <a:latin typeface="Calibri"/>
                        </a:defRPr>
                      </a:pPr>
                      <a:r>
                        <a:t>What Stays (Reusable As-Is)</a:t>
                      </a:r>
                    </a:p>
                  </a:txBody>
                  <a:tcPr>
                    <a:solidFill>
                      <a:srgbClr val="009B8D"/>
                    </a:solidFill>
                  </a:tcPr>
                </a:tc>
                <a:extLst>
                  <a:ext uri="{0D108BD9-81ED-4DB2-BD59-A6C34878D82A}">
                    <a16:rowId xmlns:a16="http://schemas.microsoft.com/office/drawing/2014/main" val="10000"/>
                  </a:ext>
                </a:extLst>
              </a:tr>
              <a:tr h="200842">
                <a:tc>
                  <a:txBody>
                    <a:bodyPr/>
                    <a:lstStyle/>
                    <a:p>
                      <a:pPr>
                        <a:defRPr sz="800">
                          <a:solidFill>
                            <a:srgbClr val="333333"/>
                          </a:solidFill>
                          <a:latin typeface="Calibri"/>
                        </a:defRPr>
                      </a:pPr>
                      <a:r>
                        <a:t>timeline_data.py</a:t>
                      </a:r>
                    </a:p>
                  </a:txBody>
                  <a:tcPr>
                    <a:solidFill>
                      <a:srgbClr val="FFFFFF"/>
                    </a:solidFill>
                  </a:tcPr>
                </a:tc>
                <a:tc>
                  <a:txBody>
                    <a:bodyPr/>
                    <a:lstStyle/>
                    <a:p>
                      <a:pPr>
                        <a:defRPr sz="800">
                          <a:solidFill>
                            <a:srgbClr val="333333"/>
                          </a:solidFill>
                          <a:latin typeface="Calibri"/>
                        </a:defRPr>
                      </a:pPr>
                      <a:r>
                        <a:t>Replace ReactorState → domain dataclass (WellState, FlightState, etc.)</a:t>
                      </a:r>
                    </a:p>
                  </a:txBody>
                  <a:tcPr>
                    <a:solidFill>
                      <a:srgbClr val="FFFFFF"/>
                    </a:solidFill>
                  </a:tcPr>
                </a:tc>
                <a:tc>
                  <a:txBody>
                    <a:bodyPr/>
                    <a:lstStyle/>
                    <a:p>
                      <a:pPr>
                        <a:defRPr sz="800">
                          <a:solidFill>
                            <a:srgbClr val="333333"/>
                          </a:solidFill>
                          <a:latin typeface="Calibri"/>
                        </a:defRPr>
                      </a:pPr>
                      <a:r>
                        <a:t>Data flow pattern, pipeline structure</a:t>
                      </a:r>
                    </a:p>
                  </a:txBody>
                  <a:tcPr>
                    <a:solidFill>
                      <a:srgbClr val="FFFFFF"/>
                    </a:solidFill>
                  </a:tcPr>
                </a:tc>
                <a:extLst>
                  <a:ext uri="{0D108BD9-81ED-4DB2-BD59-A6C34878D82A}">
                    <a16:rowId xmlns:a16="http://schemas.microsoft.com/office/drawing/2014/main" val="10001"/>
                  </a:ext>
                </a:extLst>
              </a:tr>
              <a:tr h="200842">
                <a:tc>
                  <a:txBody>
                    <a:bodyPr/>
                    <a:lstStyle/>
                    <a:p>
                      <a:pPr>
                        <a:defRPr sz="800">
                          <a:solidFill>
                            <a:srgbClr val="333333"/>
                          </a:solidFill>
                          <a:latin typeface="Calibri"/>
                        </a:defRPr>
                      </a:pPr>
                      <a:r>
                        <a:t>config.py THRESHOLDS</a:t>
                      </a:r>
                    </a:p>
                  </a:txBody>
                  <a:tcPr>
                    <a:solidFill>
                      <a:srgbClr val="F2F2F2"/>
                    </a:solidFill>
                  </a:tcPr>
                </a:tc>
                <a:tc>
                  <a:txBody>
                    <a:bodyPr/>
                    <a:lstStyle/>
                    <a:p>
                      <a:pPr>
                        <a:defRPr sz="800">
                          <a:solidFill>
                            <a:srgbClr val="333333"/>
                          </a:solidFill>
                          <a:latin typeface="Calibri"/>
                        </a:defRPr>
                      </a:pPr>
                      <a:r>
                        <a:t>Replace nuclear thresholds → domain values (PSI, altitude, pH)</a:t>
                      </a:r>
                    </a:p>
                  </a:txBody>
                  <a:tcPr>
                    <a:solidFill>
                      <a:srgbClr val="F2F2F2"/>
                    </a:solidFill>
                  </a:tcPr>
                </a:tc>
                <a:tc>
                  <a:txBody>
                    <a:bodyPr/>
                    <a:lstStyle/>
                    <a:p>
                      <a:pPr>
                        <a:defRPr sz="800">
                          <a:solidFill>
                            <a:srgbClr val="333333"/>
                          </a:solidFill>
                          <a:latin typeface="Calibri"/>
                        </a:defRPr>
                      </a:pPr>
                      <a:r>
                        <a:t>Config structure, risk level definitions</a:t>
                      </a:r>
                    </a:p>
                  </a:txBody>
                  <a:tcPr>
                    <a:solidFill>
                      <a:srgbClr val="F2F2F2"/>
                    </a:solidFill>
                  </a:tcPr>
                </a:tc>
                <a:extLst>
                  <a:ext uri="{0D108BD9-81ED-4DB2-BD59-A6C34878D82A}">
                    <a16:rowId xmlns:a16="http://schemas.microsoft.com/office/drawing/2014/main" val="10002"/>
                  </a:ext>
                </a:extLst>
              </a:tr>
              <a:tr h="200842">
                <a:tc>
                  <a:txBody>
                    <a:bodyPr/>
                    <a:lstStyle/>
                    <a:p>
                      <a:pPr>
                        <a:defRPr sz="800">
                          <a:solidFill>
                            <a:srgbClr val="333333"/>
                          </a:solidFill>
                          <a:latin typeface="Calibri"/>
                        </a:defRPr>
                      </a:pPr>
                      <a:r>
                        <a:t>llm_client.py prompts</a:t>
                      </a:r>
                    </a:p>
                  </a:txBody>
                  <a:tcPr>
                    <a:solidFill>
                      <a:srgbClr val="FFFFFF"/>
                    </a:solidFill>
                  </a:tcPr>
                </a:tc>
                <a:tc>
                  <a:txBody>
                    <a:bodyPr/>
                    <a:lstStyle/>
                    <a:p>
                      <a:pPr>
                        <a:defRPr sz="800">
                          <a:solidFill>
                            <a:srgbClr val="333333"/>
                          </a:solidFill>
                          <a:latin typeface="Calibri"/>
                        </a:defRPr>
                      </a:pPr>
                      <a:r>
                        <a:t>Replace nuclear expert persona → domain expert</a:t>
                      </a:r>
                    </a:p>
                  </a:txBody>
                  <a:tcPr>
                    <a:solidFill>
                      <a:srgbClr val="FFFFFF"/>
                    </a:solidFill>
                  </a:tcPr>
                </a:tc>
                <a:tc>
                  <a:txBody>
                    <a:bodyPr/>
                    <a:lstStyle/>
                    <a:p>
                      <a:pPr>
                        <a:defRPr sz="800">
                          <a:solidFill>
                            <a:srgbClr val="333333"/>
                          </a:solidFill>
                          <a:latin typeface="Calibri"/>
                        </a:defRPr>
                      </a:pPr>
                      <a:r>
                        <a:t>JSON schema pattern, fallback logic, timeout handling</a:t>
                      </a:r>
                    </a:p>
                  </a:txBody>
                  <a:tcPr>
                    <a:solidFill>
                      <a:srgbClr val="FFFFFF"/>
                    </a:solidFill>
                  </a:tcPr>
                </a:tc>
                <a:extLst>
                  <a:ext uri="{0D108BD9-81ED-4DB2-BD59-A6C34878D82A}">
                    <a16:rowId xmlns:a16="http://schemas.microsoft.com/office/drawing/2014/main" val="10003"/>
                  </a:ext>
                </a:extLst>
              </a:tr>
              <a:tr h="200842">
                <a:tc>
                  <a:txBody>
                    <a:bodyPr/>
                    <a:lstStyle/>
                    <a:p>
                      <a:pPr>
                        <a:defRPr sz="800">
                          <a:solidFill>
                            <a:srgbClr val="333333"/>
                          </a:solidFill>
                          <a:latin typeface="Calibri"/>
                        </a:defRPr>
                      </a:pPr>
                      <a:r>
                        <a:t>agents.py checks/actions</a:t>
                      </a:r>
                    </a:p>
                  </a:txBody>
                  <a:tcPr>
                    <a:solidFill>
                      <a:srgbClr val="F2F2F2"/>
                    </a:solidFill>
                  </a:tcPr>
                </a:tc>
                <a:tc>
                  <a:txBody>
                    <a:bodyPr/>
                    <a:lstStyle/>
                    <a:p>
                      <a:pPr>
                        <a:defRPr sz="800">
                          <a:solidFill>
                            <a:srgbClr val="333333"/>
                          </a:solidFill>
                          <a:latin typeface="Calibri"/>
                        </a:defRPr>
                      </a:pPr>
                      <a:r>
                        <a:t>Replace nuclear checks → domain checks; SCRAM → SHUTDOWN</a:t>
                      </a:r>
                    </a:p>
                  </a:txBody>
                  <a:tcPr>
                    <a:solidFill>
                      <a:srgbClr val="F2F2F2"/>
                    </a:solidFill>
                  </a:tcPr>
                </a:tc>
                <a:tc>
                  <a:txBody>
                    <a:bodyPr/>
                    <a:lstStyle/>
                    <a:p>
                      <a:pPr>
                        <a:defRPr sz="800">
                          <a:solidFill>
                            <a:srgbClr val="333333"/>
                          </a:solidFill>
                          <a:latin typeface="Calibri"/>
                        </a:defRPr>
                      </a:pPr>
                      <a:r>
                        <a:rPr dirty="0"/>
                        <a:t>Agent interface, message bus, guardrail-union pattern</a:t>
                      </a:r>
                    </a:p>
                  </a:txBody>
                  <a:tcPr>
                    <a:solidFill>
                      <a:srgbClr val="F2F2F2"/>
                    </a:solidFill>
                  </a:tcPr>
                </a:tc>
                <a:extLst>
                  <a:ext uri="{0D108BD9-81ED-4DB2-BD59-A6C34878D82A}">
                    <a16:rowId xmlns:a16="http://schemas.microsoft.com/office/drawing/2014/main" val="10004"/>
                  </a:ext>
                </a:extLst>
              </a:tr>
              <a:tr h="200842">
                <a:tc>
                  <a:txBody>
                    <a:bodyPr/>
                    <a:lstStyle/>
                    <a:p>
                      <a:pPr>
                        <a:defRPr sz="800">
                          <a:solidFill>
                            <a:srgbClr val="333333"/>
                          </a:solidFill>
                          <a:latin typeface="Calibri"/>
                        </a:defRPr>
                      </a:pPr>
                      <a:r>
                        <a:t>static/* dashboard</a:t>
                      </a:r>
                    </a:p>
                  </a:txBody>
                  <a:tcPr>
                    <a:solidFill>
                      <a:srgbClr val="FFFFFF"/>
                    </a:solidFill>
                  </a:tcPr>
                </a:tc>
                <a:tc>
                  <a:txBody>
                    <a:bodyPr/>
                    <a:lstStyle/>
                    <a:p>
                      <a:pPr>
                        <a:defRPr sz="800">
                          <a:solidFill>
                            <a:srgbClr val="333333"/>
                          </a:solidFill>
                          <a:latin typeface="Calibri"/>
                        </a:defRPr>
                      </a:pPr>
                      <a:r>
                        <a:t>Replace chart labels and units</a:t>
                      </a:r>
                    </a:p>
                  </a:txBody>
                  <a:tcPr>
                    <a:solidFill>
                      <a:srgbClr val="FFFFFF"/>
                    </a:solidFill>
                  </a:tcPr>
                </a:tc>
                <a:tc>
                  <a:txBody>
                    <a:bodyPr/>
                    <a:lstStyle/>
                    <a:p>
                      <a:pPr>
                        <a:defRPr sz="800">
                          <a:solidFill>
                            <a:srgbClr val="333333"/>
                          </a:solidFill>
                          <a:latin typeface="Calibri"/>
                        </a:defRPr>
                      </a:pPr>
                      <a:r>
                        <a:rPr dirty="0"/>
                        <a:t>Dashboard architecture, WebSocket streaming, Plotly.js</a:t>
                      </a:r>
                    </a:p>
                  </a:txBody>
                  <a:tcPr>
                    <a:solidFill>
                      <a:srgbClr val="FFFFFF"/>
                    </a:solidFill>
                  </a:tcPr>
                </a:tc>
                <a:extLst>
                  <a:ext uri="{0D108BD9-81ED-4DB2-BD59-A6C34878D82A}">
                    <a16:rowId xmlns:a16="http://schemas.microsoft.com/office/drawing/2014/main" val="10005"/>
                  </a:ext>
                </a:extLst>
              </a:tr>
            </a:tbl>
          </a:graphicData>
        </a:graphic>
      </p:graphicFrame>
      <p:sp>
        <p:nvSpPr>
          <p:cNvPr id="8" name="Rounded Rectangle 7"/>
          <p:cNvSpPr/>
          <p:nvPr/>
        </p:nvSpPr>
        <p:spPr>
          <a:xfrm>
            <a:off x="457200" y="6052625"/>
            <a:ext cx="11277295" cy="502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000" b="1">
                <a:solidFill>
                  <a:srgbClr val="0C2340"/>
                </a:solidFill>
                <a:latin typeface="Calibri"/>
              </a:defRPr>
            </a:pPr>
            <a:r>
              <a:rPr dirty="0"/>
              <a:t>Everything else transfers as-is: Orchestrator, Message Bus, LLM Client, Guardrail-Union Engine, Dual Timeline Engine, Dashboard Framework, Evaluation Pipeline, </a:t>
            </a:r>
            <a:r>
              <a:rPr dirty="0" err="1"/>
              <a:t>IaC</a:t>
            </a:r>
            <a:r>
              <a:rPr dirty="0"/>
              <a:t> templates, Security model.</a:t>
            </a:r>
          </a:p>
        </p:txBody>
      </p:sp>
      <p:sp>
        <p:nvSpPr>
          <p:cNvPr id="9" name="Rectangle 8"/>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99088"/>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rPr dirty="0"/>
              <a:t>Company Confidential © Capgemini 2026. All rights reserved.</a:t>
            </a:r>
          </a:p>
        </p:txBody>
      </p:sp>
      <p:sp>
        <p:nvSpPr>
          <p:cNvPr id="11" name="TextBox 10"/>
          <p:cNvSpPr txBox="1"/>
          <p:nvPr/>
        </p:nvSpPr>
        <p:spPr>
          <a:xfrm>
            <a:off x="9448495" y="6585263"/>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rPr dirty="0" err="1"/>
              <a:t>WattAgents</a:t>
            </a:r>
            <a:r>
              <a:rPr dirty="0"/>
              <a:t> — PRIPYAT-1986 | 3/20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Use Case: Real-time Resilience — Utilities Sector</a:t>
            </a:r>
          </a:p>
          <a:p>
            <a:pPr algn="l">
              <a:spcBef>
                <a:spcPts val="100"/>
              </a:spcBef>
              <a:spcAft>
                <a:spcPts val="100"/>
              </a:spcAft>
              <a:defRPr sz="1300" b="0">
                <a:solidFill>
                  <a:srgbClr val="88BBDD"/>
                </a:solidFill>
                <a:latin typeface="Calibri"/>
              </a:defRPr>
            </a:pPr>
            <a:r>
              <a:t>Preventing Catastrophic Failure with Agentic AI Safety Co-Pilot</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72540"/>
            <a:ext cx="36576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PROBLEM</a:t>
            </a:r>
          </a:p>
        </p:txBody>
      </p:sp>
      <p:sp>
        <p:nvSpPr>
          <p:cNvPr id="5" name="Rounded Rectangle 4"/>
          <p:cNvSpPr/>
          <p:nvPr/>
        </p:nvSpPr>
        <p:spPr>
          <a:xfrm>
            <a:off x="457200" y="1546860"/>
            <a:ext cx="3657600" cy="210312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Operators suffer confirmation bias under pressure ("Dyatlov Effect")</a:t>
            </a:r>
          </a:p>
          <a:p>
            <a:pPr>
              <a:spcBef>
                <a:spcPts val="100"/>
              </a:spcBef>
              <a:spcAft>
                <a:spcPts val="100"/>
              </a:spcAft>
              <a:defRPr sz="900" b="0">
                <a:solidFill>
                  <a:srgbClr val="333333"/>
                </a:solidFill>
                <a:latin typeface="Calibri"/>
              </a:defRPr>
            </a:pPr>
            <a:r>
              <a:rPr dirty="0"/>
              <a:t>No compound-risk detection across simultaneous failure modes</a:t>
            </a:r>
          </a:p>
          <a:p>
            <a:pPr>
              <a:spcBef>
                <a:spcPts val="100"/>
              </a:spcBef>
              <a:spcAft>
                <a:spcPts val="100"/>
              </a:spcAft>
              <a:defRPr sz="900" b="0">
                <a:solidFill>
                  <a:srgbClr val="333333"/>
                </a:solidFill>
                <a:latin typeface="Calibri"/>
              </a:defRPr>
            </a:pPr>
            <a:r>
              <a:rPr dirty="0"/>
              <a:t>ECCS manually disabled, only 6-8 control rods at explosion (need 30)</a:t>
            </a:r>
          </a:p>
          <a:p>
            <a:pPr>
              <a:spcBef>
                <a:spcPts val="100"/>
              </a:spcBef>
              <a:spcAft>
                <a:spcPts val="100"/>
              </a:spcAft>
              <a:defRPr sz="900" b="0">
                <a:solidFill>
                  <a:srgbClr val="333333"/>
                </a:solidFill>
                <a:latin typeface="Calibri"/>
              </a:defRPr>
            </a:pPr>
            <a:r>
              <a:rPr dirty="0"/>
              <a:t>Xenon poisoning + rod withdrawal + ECCS bypass = invisible compound risk</a:t>
            </a:r>
          </a:p>
          <a:p>
            <a:pPr>
              <a:spcBef>
                <a:spcPts val="100"/>
              </a:spcBef>
              <a:spcAft>
                <a:spcPts val="100"/>
              </a:spcAft>
              <a:defRPr sz="900" b="0">
                <a:solidFill>
                  <a:srgbClr val="333333"/>
                </a:solidFill>
                <a:latin typeface="Calibri"/>
              </a:defRPr>
            </a:pPr>
            <a:r>
              <a:rPr dirty="0"/>
              <a:t>35+ hour evacuation delay due to chain-of-command paralysis</a:t>
            </a:r>
          </a:p>
          <a:p>
            <a:pPr>
              <a:spcBef>
                <a:spcPts val="100"/>
              </a:spcBef>
              <a:spcAft>
                <a:spcPts val="100"/>
              </a:spcAft>
              <a:defRPr sz="900" b="0">
                <a:solidFill>
                  <a:srgbClr val="333333"/>
                </a:solidFill>
                <a:latin typeface="Calibri"/>
              </a:defRPr>
            </a:pPr>
            <a:r>
              <a:rPr dirty="0"/>
              <a:t>Single threshold alarms miss converging multi-dimensional failures</a:t>
            </a:r>
          </a:p>
        </p:txBody>
      </p:sp>
      <p:sp>
        <p:nvSpPr>
          <p:cNvPr id="6" name="Rectangle 5"/>
          <p:cNvSpPr/>
          <p:nvPr/>
        </p:nvSpPr>
        <p:spPr>
          <a:xfrm>
            <a:off x="4251960" y="1272540"/>
            <a:ext cx="36576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SOLUTION — 6-Agent AI Pipeline</a:t>
            </a:r>
          </a:p>
        </p:txBody>
      </p:sp>
      <p:sp>
        <p:nvSpPr>
          <p:cNvPr id="7" name="Rounded Rectangle 6"/>
          <p:cNvSpPr/>
          <p:nvPr/>
        </p:nvSpPr>
        <p:spPr>
          <a:xfrm>
            <a:off x="4251960" y="1546860"/>
            <a:ext cx="3657600" cy="21031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err="1"/>
              <a:t>SensorAgent</a:t>
            </a:r>
            <a:r>
              <a:rPr dirty="0"/>
              <a:t> monitors 6 dimensions against RBMK-1000 limits continuously</a:t>
            </a:r>
          </a:p>
          <a:p>
            <a:pPr>
              <a:spcBef>
                <a:spcPts val="100"/>
              </a:spcBef>
              <a:spcAft>
                <a:spcPts val="100"/>
              </a:spcAft>
              <a:defRPr sz="900" b="0">
                <a:solidFill>
                  <a:srgbClr val="333333"/>
                </a:solidFill>
                <a:latin typeface="Calibri"/>
              </a:defRPr>
            </a:pPr>
            <a:r>
              <a:rPr dirty="0" err="1"/>
              <a:t>RiskAgent</a:t>
            </a:r>
            <a:r>
              <a:rPr dirty="0"/>
              <a:t> blends LLM reasoning (70%) + deterministic rules (30%)</a:t>
            </a:r>
          </a:p>
          <a:p>
            <a:pPr>
              <a:spcBef>
                <a:spcPts val="100"/>
              </a:spcBef>
              <a:spcAft>
                <a:spcPts val="100"/>
              </a:spcAft>
              <a:defRPr sz="900" b="0">
                <a:solidFill>
                  <a:srgbClr val="333333"/>
                </a:solidFill>
                <a:latin typeface="Calibri"/>
              </a:defRPr>
            </a:pPr>
            <a:r>
              <a:rPr dirty="0" err="1"/>
              <a:t>DecisionAgent</a:t>
            </a:r>
            <a:r>
              <a:rPr dirty="0"/>
              <a:t> applies guardrail-union: rules FIRST, AI adds, never removes</a:t>
            </a:r>
          </a:p>
          <a:p>
            <a:pPr>
              <a:spcBef>
                <a:spcPts val="100"/>
              </a:spcBef>
              <a:spcAft>
                <a:spcPts val="100"/>
              </a:spcAft>
              <a:defRPr sz="900" b="0">
                <a:solidFill>
                  <a:srgbClr val="333333"/>
                </a:solidFill>
                <a:latin typeface="Calibri"/>
              </a:defRPr>
            </a:pPr>
            <a:r>
              <a:rPr dirty="0" err="1"/>
              <a:t>DyatlovAgent</a:t>
            </a:r>
            <a:r>
              <a:rPr dirty="0"/>
              <a:t> </a:t>
            </a:r>
            <a:r>
              <a:rPr dirty="0" err="1"/>
              <a:t>adversarially</a:t>
            </a:r>
            <a:r>
              <a:rPr dirty="0"/>
              <a:t> tests decisions (historically accurate pushback)</a:t>
            </a:r>
          </a:p>
          <a:p>
            <a:pPr>
              <a:spcBef>
                <a:spcPts val="100"/>
              </a:spcBef>
              <a:spcAft>
                <a:spcPts val="100"/>
              </a:spcAft>
              <a:defRPr sz="900" b="0">
                <a:solidFill>
                  <a:srgbClr val="333333"/>
                </a:solidFill>
                <a:latin typeface="Calibri"/>
              </a:defRPr>
            </a:pPr>
            <a:r>
              <a:rPr dirty="0" err="1"/>
              <a:t>EvacuationAgent</a:t>
            </a:r>
            <a:r>
              <a:rPr dirty="0"/>
              <a:t> plans logistics: 49,000 people, 1,200 buses, 3 routes</a:t>
            </a:r>
          </a:p>
          <a:p>
            <a:pPr>
              <a:spcBef>
                <a:spcPts val="100"/>
              </a:spcBef>
              <a:spcAft>
                <a:spcPts val="100"/>
              </a:spcAft>
              <a:defRPr sz="900" b="0">
                <a:solidFill>
                  <a:srgbClr val="333333"/>
                </a:solidFill>
                <a:latin typeface="Calibri"/>
              </a:defRPr>
            </a:pPr>
            <a:r>
              <a:rPr dirty="0" err="1"/>
              <a:t>CommsAgent</a:t>
            </a:r>
            <a:r>
              <a:rPr dirty="0"/>
              <a:t> broadcasts + Gaussian plume radiation modeling (5-300km)</a:t>
            </a:r>
          </a:p>
        </p:txBody>
      </p:sp>
      <p:sp>
        <p:nvSpPr>
          <p:cNvPr id="8" name="Rectangle 7"/>
          <p:cNvSpPr/>
          <p:nvPr/>
        </p:nvSpPr>
        <p:spPr>
          <a:xfrm>
            <a:off x="8046720" y="1272540"/>
            <a:ext cx="3657600" cy="27432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IMPACT — Measurable KPIs</a:t>
            </a:r>
          </a:p>
        </p:txBody>
      </p:sp>
      <p:sp>
        <p:nvSpPr>
          <p:cNvPr id="9" name="Rounded Rectangle 8"/>
          <p:cNvSpPr/>
          <p:nvPr/>
        </p:nvSpPr>
        <p:spPr>
          <a:xfrm>
            <a:off x="8046720" y="1546860"/>
            <a:ext cx="3657600" cy="2103120"/>
          </a:xfrm>
          <a:prstGeom prst="roundRect">
            <a:avLst/>
          </a:prstGeom>
          <a:solidFill>
            <a:srgbClr val="E8F5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AI issues AZ-5 SCRAM at 00:45 — 38 min before the actual explosion</a:t>
            </a:r>
          </a:p>
          <a:p>
            <a:pPr>
              <a:spcBef>
                <a:spcPts val="100"/>
              </a:spcBef>
              <a:spcAft>
                <a:spcPts val="100"/>
              </a:spcAft>
              <a:defRPr sz="900" b="0">
                <a:solidFill>
                  <a:srgbClr val="333333"/>
                </a:solidFill>
                <a:latin typeface="Calibri"/>
              </a:defRPr>
            </a:pPr>
            <a:r>
              <a:rPr dirty="0"/>
              <a:t>Evacuation ordered at 01:30 — 35 </a:t>
            </a:r>
            <a:r>
              <a:rPr dirty="0" err="1"/>
              <a:t>hrs</a:t>
            </a:r>
            <a:r>
              <a:rPr dirty="0"/>
              <a:t> before Soviet government</a:t>
            </a:r>
          </a:p>
          <a:p>
            <a:pPr>
              <a:spcBef>
                <a:spcPts val="100"/>
              </a:spcBef>
              <a:spcAft>
                <a:spcPts val="100"/>
              </a:spcAft>
              <a:defRPr sz="900" b="0">
                <a:solidFill>
                  <a:srgbClr val="333333"/>
                </a:solidFill>
                <a:latin typeface="Calibri"/>
              </a:defRPr>
            </a:pPr>
            <a:r>
              <a:rPr dirty="0"/>
              <a:t>100% safety protocol compliance (vs. 0% historically)</a:t>
            </a:r>
          </a:p>
          <a:p>
            <a:pPr>
              <a:spcBef>
                <a:spcPts val="100"/>
              </a:spcBef>
              <a:spcAft>
                <a:spcPts val="100"/>
              </a:spcAft>
              <a:defRPr sz="900" b="0">
                <a:solidFill>
                  <a:srgbClr val="333333"/>
                </a:solidFill>
                <a:latin typeface="Calibri"/>
              </a:defRPr>
            </a:pPr>
            <a:r>
              <a:rPr dirty="0"/>
              <a:t>Compound risk score detects invisible multi-dimensional failure</a:t>
            </a:r>
          </a:p>
          <a:p>
            <a:pPr>
              <a:spcBef>
                <a:spcPts val="100"/>
              </a:spcBef>
              <a:spcAft>
                <a:spcPts val="100"/>
              </a:spcAft>
              <a:defRPr sz="900" b="0">
                <a:solidFill>
                  <a:srgbClr val="333333"/>
                </a:solidFill>
                <a:latin typeface="Calibri"/>
              </a:defRPr>
            </a:pPr>
            <a:r>
              <a:rPr dirty="0"/>
              <a:t>Cost: &lt;$0.10 per full simulation run on Azure OpenAI</a:t>
            </a:r>
          </a:p>
          <a:p>
            <a:pPr>
              <a:spcBef>
                <a:spcPts val="100"/>
              </a:spcBef>
              <a:spcAft>
                <a:spcPts val="100"/>
              </a:spcAft>
              <a:defRPr sz="900" b="0">
                <a:solidFill>
                  <a:srgbClr val="333333"/>
                </a:solidFill>
                <a:latin typeface="Calibri"/>
              </a:defRPr>
            </a:pPr>
            <a:r>
              <a:rPr dirty="0"/>
              <a:t>Architecture reusable across oil &amp; gas, aviation, pharma, power grid</a:t>
            </a:r>
          </a:p>
        </p:txBody>
      </p:sp>
      <p:sp>
        <p:nvSpPr>
          <p:cNvPr id="10" name="Rounded Rectangle 9"/>
          <p:cNvSpPr/>
          <p:nvPr/>
        </p:nvSpPr>
        <p:spPr>
          <a:xfrm>
            <a:off x="457200" y="3787140"/>
            <a:ext cx="11277295" cy="50292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000" b="1">
                <a:solidFill>
                  <a:srgbClr val="0C2340"/>
                </a:solidFill>
                <a:latin typeface="Calibri"/>
              </a:defRPr>
            </a:pPr>
            <a:r>
              <a:t>Hackathon Alignment: Maps directly to Utilities Sector — Real-time Resilience Approach (Operations Assistant). Control-room supervision, real-time risk detection, rapid response. Same pattern as MISO + Microsoft Azure AI grid platform deployed January 2026 for 45 million people across 15 states.</a:t>
            </a:r>
          </a:p>
        </p:txBody>
      </p:sp>
      <p:sp>
        <p:nvSpPr>
          <p:cNvPr id="11" name="TextBox 10"/>
          <p:cNvSpPr txBox="1"/>
          <p:nvPr/>
        </p:nvSpPr>
        <p:spPr>
          <a:xfrm>
            <a:off x="457200" y="4427220"/>
            <a:ext cx="11277295" cy="27432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AI Counterfactual Decisions — What Our System Would Have Done:</a:t>
            </a:r>
          </a:p>
        </p:txBody>
      </p:sp>
      <p:graphicFrame>
        <p:nvGraphicFramePr>
          <p:cNvPr id="12" name="Table 11"/>
          <p:cNvGraphicFramePr>
            <a:graphicFrameLocks noGrp="1"/>
          </p:cNvGraphicFramePr>
          <p:nvPr/>
        </p:nvGraphicFramePr>
        <p:xfrm>
          <a:off x="457200" y="4701540"/>
          <a:ext cx="11277295" cy="1645920"/>
        </p:xfrm>
        <a:graphic>
          <a:graphicData uri="http://schemas.openxmlformats.org/drawingml/2006/table">
            <a:tbl>
              <a:tblPr firstRow="1" bandRow="1">
                <a:tableStyleId>{5C22544A-7EE6-4342-B048-85BDC9FD1C3A}</a:tableStyleId>
              </a:tblPr>
              <a:tblGrid>
                <a:gridCol w="2819323">
                  <a:extLst>
                    <a:ext uri="{9D8B030D-6E8A-4147-A177-3AD203B41FA5}">
                      <a16:colId xmlns:a16="http://schemas.microsoft.com/office/drawing/2014/main" val="20000"/>
                    </a:ext>
                  </a:extLst>
                </a:gridCol>
                <a:gridCol w="2819323">
                  <a:extLst>
                    <a:ext uri="{9D8B030D-6E8A-4147-A177-3AD203B41FA5}">
                      <a16:colId xmlns:a16="http://schemas.microsoft.com/office/drawing/2014/main" val="20001"/>
                    </a:ext>
                  </a:extLst>
                </a:gridCol>
                <a:gridCol w="2819323">
                  <a:extLst>
                    <a:ext uri="{9D8B030D-6E8A-4147-A177-3AD203B41FA5}">
                      <a16:colId xmlns:a16="http://schemas.microsoft.com/office/drawing/2014/main" val="20002"/>
                    </a:ext>
                  </a:extLst>
                </a:gridCol>
                <a:gridCol w="2819326">
                  <a:extLst>
                    <a:ext uri="{9D8B030D-6E8A-4147-A177-3AD203B41FA5}">
                      <a16:colId xmlns:a16="http://schemas.microsoft.com/office/drawing/2014/main" val="20003"/>
                    </a:ext>
                  </a:extLst>
                </a:gridCol>
              </a:tblGrid>
              <a:tr h="274320">
                <a:tc>
                  <a:txBody>
                    <a:bodyPr/>
                    <a:lstStyle/>
                    <a:p>
                      <a:pPr>
                        <a:defRPr sz="900" b="1">
                          <a:solidFill>
                            <a:srgbClr val="FFFFFF"/>
                          </a:solidFill>
                          <a:latin typeface="Calibri"/>
                        </a:defRPr>
                      </a:pPr>
                      <a:r>
                        <a:t>Time</a:t>
                      </a:r>
                    </a:p>
                  </a:txBody>
                  <a:tcPr>
                    <a:solidFill>
                      <a:srgbClr val="009B8D"/>
                    </a:solidFill>
                  </a:tcPr>
                </a:tc>
                <a:tc>
                  <a:txBody>
                    <a:bodyPr/>
                    <a:lstStyle/>
                    <a:p>
                      <a:pPr>
                        <a:defRPr sz="900" b="1">
                          <a:solidFill>
                            <a:srgbClr val="FFFFFF"/>
                          </a:solidFill>
                          <a:latin typeface="Calibri"/>
                        </a:defRPr>
                      </a:pPr>
                      <a:r>
                        <a:t>Historical (Human)</a:t>
                      </a:r>
                    </a:p>
                  </a:txBody>
                  <a:tcPr>
                    <a:solidFill>
                      <a:srgbClr val="009B8D"/>
                    </a:solidFill>
                  </a:tcPr>
                </a:tc>
                <a:tc>
                  <a:txBody>
                    <a:bodyPr/>
                    <a:lstStyle/>
                    <a:p>
                      <a:pPr>
                        <a:defRPr sz="900" b="1">
                          <a:solidFill>
                            <a:srgbClr val="FFFFFF"/>
                          </a:solidFill>
                          <a:latin typeface="Calibri"/>
                        </a:defRPr>
                      </a:pPr>
                      <a:r>
                        <a:t>AI Decision</a:t>
                      </a:r>
                    </a:p>
                  </a:txBody>
                  <a:tcPr>
                    <a:solidFill>
                      <a:srgbClr val="009B8D"/>
                    </a:solidFill>
                  </a:tcPr>
                </a:tc>
                <a:tc>
                  <a:txBody>
                    <a:bodyPr/>
                    <a:lstStyle/>
                    <a:p>
                      <a:pPr>
                        <a:defRPr sz="900" b="1">
                          <a:solidFill>
                            <a:srgbClr val="FFFFFF"/>
                          </a:solidFill>
                          <a:latin typeface="Calibri"/>
                        </a:defRPr>
                      </a:pPr>
                      <a:r>
                        <a:t>Lead Time</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00:28</a:t>
                      </a:r>
                    </a:p>
                  </a:txBody>
                  <a:tcPr>
                    <a:solidFill>
                      <a:srgbClr val="FFFFFF"/>
                    </a:solidFill>
                  </a:tcPr>
                </a:tc>
                <a:tc>
                  <a:txBody>
                    <a:bodyPr/>
                    <a:lstStyle/>
                    <a:p>
                      <a:pPr>
                        <a:defRPr sz="800">
                          <a:solidFill>
                            <a:srgbClr val="333333"/>
                          </a:solidFill>
                          <a:latin typeface="Calibri"/>
                        </a:defRPr>
                      </a:pPr>
                      <a:r>
                        <a:t>Continued despite 30 MW + ECCS disabled</a:t>
                      </a:r>
                    </a:p>
                  </a:txBody>
                  <a:tcPr>
                    <a:solidFill>
                      <a:srgbClr val="FFFFFF"/>
                    </a:solidFill>
                  </a:tcPr>
                </a:tc>
                <a:tc>
                  <a:txBody>
                    <a:bodyPr/>
                    <a:lstStyle/>
                    <a:p>
                      <a:pPr>
                        <a:defRPr sz="800">
                          <a:solidFill>
                            <a:srgbClr val="333333"/>
                          </a:solidFill>
                          <a:latin typeface="Calibri"/>
                        </a:defRPr>
                      </a:pPr>
                      <a:r>
                        <a:t>SCRAM — xenon poisoning detected</a:t>
                      </a:r>
                    </a:p>
                  </a:txBody>
                  <a:tcPr>
                    <a:solidFill>
                      <a:srgbClr val="FFFFFF"/>
                    </a:solidFill>
                  </a:tcPr>
                </a:tc>
                <a:tc>
                  <a:txBody>
                    <a:bodyPr/>
                    <a:lstStyle/>
                    <a:p>
                      <a:pPr>
                        <a:defRPr sz="800">
                          <a:solidFill>
                            <a:srgbClr val="333333"/>
                          </a:solidFill>
                          <a:latin typeface="Calibri"/>
                        </a:defRPr>
                      </a:pPr>
                      <a:r>
                        <a:t>55 min before explosion</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00:43</a:t>
                      </a:r>
                    </a:p>
                  </a:txBody>
                  <a:tcPr>
                    <a:solidFill>
                      <a:srgbClr val="F2F2F2"/>
                    </a:solidFill>
                  </a:tcPr>
                </a:tc>
                <a:tc>
                  <a:txBody>
                    <a:bodyPr/>
                    <a:lstStyle/>
                    <a:p>
                      <a:pPr>
                        <a:defRPr sz="800">
                          <a:solidFill>
                            <a:srgbClr val="333333"/>
                          </a:solidFill>
                          <a:latin typeface="Calibri"/>
                        </a:defRPr>
                      </a:pPr>
                      <a:r>
                        <a:t>Increased power with 6-8 rods</a:t>
                      </a:r>
                    </a:p>
                  </a:txBody>
                  <a:tcPr>
                    <a:solidFill>
                      <a:srgbClr val="F2F2F2"/>
                    </a:solidFill>
                  </a:tcPr>
                </a:tc>
                <a:tc>
                  <a:txBody>
                    <a:bodyPr/>
                    <a:lstStyle/>
                    <a:p>
                      <a:pPr>
                        <a:defRPr sz="800">
                          <a:solidFill>
                            <a:srgbClr val="333333"/>
                          </a:solidFill>
                          <a:latin typeface="Calibri"/>
                        </a:defRPr>
                      </a:pPr>
                      <a:r>
                        <a:t>REJECT power increase — rods below safe minimum</a:t>
                      </a:r>
                    </a:p>
                  </a:txBody>
                  <a:tcPr>
                    <a:solidFill>
                      <a:srgbClr val="F2F2F2"/>
                    </a:solidFill>
                  </a:tcPr>
                </a:tc>
                <a:tc>
                  <a:txBody>
                    <a:bodyPr/>
                    <a:lstStyle/>
                    <a:p>
                      <a:pPr>
                        <a:defRPr sz="800">
                          <a:solidFill>
                            <a:srgbClr val="333333"/>
                          </a:solidFill>
                          <a:latin typeface="Calibri"/>
                        </a:defRPr>
                      </a:pPr>
                      <a:r>
                        <a:t>41 min</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01:00</a:t>
                      </a:r>
                    </a:p>
                  </a:txBody>
                  <a:tcPr>
                    <a:solidFill>
                      <a:srgbClr val="FFFFFF"/>
                    </a:solidFill>
                  </a:tcPr>
                </a:tc>
                <a:tc>
                  <a:txBody>
                    <a:bodyPr/>
                    <a:lstStyle/>
                    <a:p>
                      <a:pPr>
                        <a:defRPr sz="800">
                          <a:solidFill>
                            <a:srgbClr val="333333"/>
                          </a:solidFill>
                          <a:latin typeface="Calibri"/>
                        </a:defRPr>
                      </a:pPr>
                      <a:r>
                        <a:t>Proceeded with test, no conditions met</a:t>
                      </a:r>
                    </a:p>
                  </a:txBody>
                  <a:tcPr>
                    <a:solidFill>
                      <a:srgbClr val="FFFFFF"/>
                    </a:solidFill>
                  </a:tcPr>
                </a:tc>
                <a:tc>
                  <a:txBody>
                    <a:bodyPr/>
                    <a:lstStyle/>
                    <a:p>
                      <a:pPr>
                        <a:defRPr sz="800">
                          <a:solidFill>
                            <a:srgbClr val="333333"/>
                          </a:solidFill>
                          <a:latin typeface="Calibri"/>
                        </a:defRPr>
                      </a:pPr>
                      <a:r>
                        <a:t>ABORT TEST — unsafe test conditions</a:t>
                      </a:r>
                    </a:p>
                  </a:txBody>
                  <a:tcPr>
                    <a:solidFill>
                      <a:srgbClr val="FFFFFF"/>
                    </a:solidFill>
                  </a:tcPr>
                </a:tc>
                <a:tc>
                  <a:txBody>
                    <a:bodyPr/>
                    <a:lstStyle/>
                    <a:p>
                      <a:pPr>
                        <a:defRPr sz="800">
                          <a:solidFill>
                            <a:srgbClr val="333333"/>
                          </a:solidFill>
                          <a:latin typeface="Calibri"/>
                        </a:defRPr>
                      </a:pPr>
                      <a:r>
                        <a:t>24 min</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01:19</a:t>
                      </a:r>
                    </a:p>
                  </a:txBody>
                  <a:tcPr>
                    <a:solidFill>
                      <a:srgbClr val="F2F2F2"/>
                    </a:solidFill>
                  </a:tcPr>
                </a:tc>
                <a:tc>
                  <a:txBody>
                    <a:bodyPr/>
                    <a:lstStyle/>
                    <a:p>
                      <a:pPr>
                        <a:defRPr sz="800">
                          <a:solidFill>
                            <a:srgbClr val="333333"/>
                          </a:solidFill>
                          <a:latin typeface="Calibri"/>
                        </a:defRPr>
                      </a:pPr>
                      <a:r>
                        <a:t>Pressed AZ-5 at 01:23:40 (too late)</a:t>
                      </a:r>
                    </a:p>
                  </a:txBody>
                  <a:tcPr>
                    <a:solidFill>
                      <a:srgbClr val="F2F2F2"/>
                    </a:solidFill>
                  </a:tcPr>
                </a:tc>
                <a:tc>
                  <a:txBody>
                    <a:bodyPr/>
                    <a:lstStyle/>
                    <a:p>
                      <a:pPr>
                        <a:defRPr sz="800">
                          <a:solidFill>
                            <a:srgbClr val="333333"/>
                          </a:solidFill>
                          <a:latin typeface="Calibri"/>
                        </a:defRPr>
                      </a:pPr>
                      <a:r>
                        <a:t>AZ-5 triggered when rods dropped below 15</a:t>
                      </a:r>
                    </a:p>
                  </a:txBody>
                  <a:tcPr>
                    <a:solidFill>
                      <a:srgbClr val="F2F2F2"/>
                    </a:solidFill>
                  </a:tcPr>
                </a:tc>
                <a:tc>
                  <a:txBody>
                    <a:bodyPr/>
                    <a:lstStyle/>
                    <a:p>
                      <a:pPr>
                        <a:defRPr sz="800">
                          <a:solidFill>
                            <a:srgbClr val="333333"/>
                          </a:solidFill>
                          <a:latin typeface="Calibri"/>
                        </a:defRPr>
                      </a:pPr>
                      <a:r>
                        <a:t>4 min 40s</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01:30</a:t>
                      </a:r>
                    </a:p>
                  </a:txBody>
                  <a:tcPr>
                    <a:solidFill>
                      <a:srgbClr val="FFFFFF"/>
                    </a:solidFill>
                  </a:tcPr>
                </a:tc>
                <a:tc>
                  <a:txBody>
                    <a:bodyPr/>
                    <a:lstStyle/>
                    <a:p>
                      <a:pPr>
                        <a:defRPr sz="800">
                          <a:solidFill>
                            <a:srgbClr val="333333"/>
                          </a:solidFill>
                          <a:latin typeface="Calibri"/>
                        </a:defRPr>
                      </a:pPr>
                      <a:r>
                        <a:t>Delayed evacuation until Apr 27 14:00</a:t>
                      </a:r>
                    </a:p>
                  </a:txBody>
                  <a:tcPr>
                    <a:solidFill>
                      <a:srgbClr val="FFFFFF"/>
                    </a:solidFill>
                  </a:tcPr>
                </a:tc>
                <a:tc>
                  <a:txBody>
                    <a:bodyPr/>
                    <a:lstStyle/>
                    <a:p>
                      <a:pPr>
                        <a:defRPr sz="800">
                          <a:solidFill>
                            <a:srgbClr val="333333"/>
                          </a:solidFill>
                          <a:latin typeface="Calibri"/>
                        </a:defRPr>
                      </a:pPr>
                      <a:r>
                        <a:t>IMMEDIATE EVACUATION — radiation confirms breach</a:t>
                      </a:r>
                    </a:p>
                  </a:txBody>
                  <a:tcPr>
                    <a:solidFill>
                      <a:srgbClr val="FFFFFF"/>
                    </a:solidFill>
                  </a:tcPr>
                </a:tc>
                <a:tc>
                  <a:txBody>
                    <a:bodyPr/>
                    <a:lstStyle/>
                    <a:p>
                      <a:pPr>
                        <a:defRPr sz="800">
                          <a:solidFill>
                            <a:srgbClr val="333333"/>
                          </a:solidFill>
                          <a:latin typeface="Calibri"/>
                        </a:defRPr>
                      </a:pPr>
                      <a:r>
                        <a:t>35+ hours</a:t>
                      </a:r>
                    </a:p>
                  </a:txBody>
                  <a:tcPr>
                    <a:solidFill>
                      <a:srgbClr val="FFFFFF"/>
                    </a:solidFill>
                  </a:tcPr>
                </a:tc>
                <a:extLst>
                  <a:ext uri="{0D108BD9-81ED-4DB2-BD59-A6C34878D82A}">
                    <a16:rowId xmlns:a16="http://schemas.microsoft.com/office/drawing/2014/main" val="10005"/>
                  </a:ext>
                </a:extLst>
              </a:tr>
            </a:tbl>
          </a:graphicData>
        </a:graphic>
      </p:graphicFrame>
      <p:sp>
        <p:nvSpPr>
          <p:cNvPr id="13" name="Rectangle 12"/>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5" name="TextBox 14"/>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4/20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Chernobyl Timeline </a:t>
            </a:r>
            <a:r>
              <a:rPr lang="en-US" dirty="0"/>
              <a:t>:</a:t>
            </a:r>
            <a:r>
              <a:rPr dirty="0"/>
              <a:t> 20 INSAG-7 Events &amp; Dual Timeline Engine</a:t>
            </a:r>
          </a:p>
        </p:txBody>
      </p:sp>
      <p:sp>
        <p:nvSpPr>
          <p:cNvPr id="3" name="Rectangle 2"/>
          <p:cNvSpPr/>
          <p:nvPr/>
        </p:nvSpPr>
        <p:spPr>
          <a:xfrm>
            <a:off x="0" y="96012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457200" y="1089660"/>
          <a:ext cx="11277295" cy="256032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Phase</a:t>
                      </a:r>
                    </a:p>
                  </a:txBody>
                  <a:tcPr>
                    <a:solidFill>
                      <a:srgbClr val="009B8D"/>
                    </a:solidFill>
                  </a:tcPr>
                </a:tc>
                <a:tc>
                  <a:txBody>
                    <a:bodyPr/>
                    <a:lstStyle/>
                    <a:p>
                      <a:pPr>
                        <a:defRPr sz="900" b="1">
                          <a:solidFill>
                            <a:srgbClr val="FFFFFF"/>
                          </a:solidFill>
                          <a:latin typeface="Calibri"/>
                        </a:defRPr>
                      </a:pPr>
                      <a:r>
                        <a:t>Time Range</a:t>
                      </a:r>
                    </a:p>
                  </a:txBody>
                  <a:tcPr>
                    <a:solidFill>
                      <a:srgbClr val="009B8D"/>
                    </a:solidFill>
                  </a:tcPr>
                </a:tc>
                <a:tc>
                  <a:txBody>
                    <a:bodyPr/>
                    <a:lstStyle/>
                    <a:p>
                      <a:pPr>
                        <a:defRPr sz="900" b="1">
                          <a:solidFill>
                            <a:srgbClr val="FFFFFF"/>
                          </a:solidFill>
                          <a:latin typeface="Calibri"/>
                        </a:defRPr>
                      </a:pPr>
                      <a:r>
                        <a:t>Key Events</a:t>
                      </a:r>
                    </a:p>
                  </a:txBody>
                  <a:tcPr>
                    <a:solidFill>
                      <a:srgbClr val="009B8D"/>
                    </a:solidFill>
                  </a:tcPr>
                </a:tc>
                <a:tc>
                  <a:txBody>
                    <a:bodyPr/>
                    <a:lstStyle/>
                    <a:p>
                      <a:pPr>
                        <a:defRPr sz="900" b="1">
                          <a:solidFill>
                            <a:srgbClr val="FFFFFF"/>
                          </a:solidFill>
                          <a:latin typeface="Calibri"/>
                        </a:defRPr>
                      </a:pPr>
                      <a:r>
                        <a:t>Reactor State</a:t>
                      </a:r>
                    </a:p>
                  </a:txBody>
                  <a:tcPr>
                    <a:solidFill>
                      <a:srgbClr val="009B8D"/>
                    </a:solidFill>
                  </a:tcPr>
                </a:tc>
                <a:tc>
                  <a:txBody>
                    <a:bodyPr/>
                    <a:lstStyle/>
                    <a:p>
                      <a:pPr>
                        <a:defRPr sz="900" b="1">
                          <a:solidFill>
                            <a:srgbClr val="FFFFFF"/>
                          </a:solidFill>
                          <a:latin typeface="Calibri"/>
                        </a:defRPr>
                      </a:pPr>
                      <a:r>
                        <a:t>AI Response</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1: Test Prep</a:t>
                      </a:r>
                      <a:br/>
                      <a:r>
                        <a:t>(6 events)</a:t>
                      </a:r>
                    </a:p>
                  </a:txBody>
                  <a:tcPr>
                    <a:solidFill>
                      <a:srgbClr val="FFFFFF"/>
                    </a:solidFill>
                  </a:tcPr>
                </a:tc>
                <a:tc>
                  <a:txBody>
                    <a:bodyPr/>
                    <a:lstStyle/>
                    <a:p>
                      <a:pPr>
                        <a:defRPr sz="800">
                          <a:solidFill>
                            <a:srgbClr val="333333"/>
                          </a:solidFill>
                          <a:latin typeface="Calibri"/>
                        </a:defRPr>
                      </a:pPr>
                      <a:r>
                        <a:t>Apr 25</a:t>
                      </a:r>
                      <a:br/>
                      <a:r>
                        <a:t>13:00–23:10</a:t>
                      </a:r>
                    </a:p>
                  </a:txBody>
                  <a:tcPr>
                    <a:solidFill>
                      <a:srgbClr val="FFFFFF"/>
                    </a:solidFill>
                  </a:tcPr>
                </a:tc>
                <a:tc>
                  <a:txBody>
                    <a:bodyPr/>
                    <a:lstStyle/>
                    <a:p>
                      <a:pPr>
                        <a:defRPr sz="800">
                          <a:solidFill>
                            <a:srgbClr val="333333"/>
                          </a:solidFill>
                          <a:latin typeface="Calibri"/>
                        </a:defRPr>
                      </a:pPr>
                      <a:r>
                        <a:t>Power reduction begun, Kiev grid delay</a:t>
                      </a:r>
                      <a:br/>
                      <a:r>
                        <a:t>(9 hrs), shift change, xenon buildup</a:t>
                      </a:r>
                    </a:p>
                  </a:txBody>
                  <a:tcPr>
                    <a:solidFill>
                      <a:srgbClr val="FFFFFF"/>
                    </a:solidFill>
                  </a:tcPr>
                </a:tc>
                <a:tc>
                  <a:txBody>
                    <a:bodyPr/>
                    <a:lstStyle/>
                    <a:p>
                      <a:pPr>
                        <a:defRPr sz="800">
                          <a:solidFill>
                            <a:srgbClr val="333333"/>
                          </a:solidFill>
                          <a:latin typeface="Calibri"/>
                        </a:defRPr>
                      </a:pPr>
                      <a:r>
                        <a:t>Power: 3200→1600 MW</a:t>
                      </a:r>
                      <a:br/>
                      <a:r>
                        <a:t>Rods: 211→143</a:t>
                      </a:r>
                      <a:br/>
                      <a:r>
                        <a:t>ECCS: Active</a:t>
                      </a:r>
                    </a:p>
                  </a:txBody>
                  <a:tcPr>
                    <a:solidFill>
                      <a:srgbClr val="FFFFFF"/>
                    </a:solidFill>
                  </a:tcPr>
                </a:tc>
                <a:tc>
                  <a:txBody>
                    <a:bodyPr/>
                    <a:lstStyle/>
                    <a:p>
                      <a:pPr>
                        <a:defRPr sz="800">
                          <a:solidFill>
                            <a:srgbClr val="333333"/>
                          </a:solidFill>
                          <a:latin typeface="Calibri"/>
                        </a:defRPr>
                      </a:pPr>
                      <a:r>
                        <a:t>MONITORING</a:t>
                      </a:r>
                      <a:br/>
                      <a:r>
                        <a:t>(risk &lt; 30)</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2: Power Drop</a:t>
                      </a:r>
                      <a:br/>
                      <a:r>
                        <a:t>(2 events)</a:t>
                      </a:r>
                    </a:p>
                  </a:txBody>
                  <a:tcPr>
                    <a:solidFill>
                      <a:srgbClr val="F2F2F2"/>
                    </a:solidFill>
                  </a:tcPr>
                </a:tc>
                <a:tc>
                  <a:txBody>
                    <a:bodyPr/>
                    <a:lstStyle/>
                    <a:p>
                      <a:pPr>
                        <a:defRPr sz="800">
                          <a:solidFill>
                            <a:srgbClr val="333333"/>
                          </a:solidFill>
                          <a:latin typeface="Calibri"/>
                        </a:defRPr>
                      </a:pPr>
                      <a:r>
                        <a:t>Apr 26</a:t>
                      </a:r>
                      <a:br/>
                      <a:r>
                        <a:t>00:05–00:28</a:t>
                      </a:r>
                    </a:p>
                  </a:txBody>
                  <a:tcPr>
                    <a:solidFill>
                      <a:srgbClr val="F2F2F2"/>
                    </a:solidFill>
                  </a:tcPr>
                </a:tc>
                <a:tc>
                  <a:txBody>
                    <a:bodyPr/>
                    <a:lstStyle/>
                    <a:p>
                      <a:pPr>
                        <a:defRPr sz="800">
                          <a:solidFill>
                            <a:srgbClr val="333333"/>
                          </a:solidFill>
                          <a:latin typeface="Calibri"/>
                        </a:defRPr>
                      </a:pPr>
                      <a:r>
                        <a:t>Power crashes to 30 MW (operator error)</a:t>
                      </a:r>
                      <a:br/>
                      <a:r>
                        <a:t>ECCS manually disabled</a:t>
                      </a:r>
                    </a:p>
                  </a:txBody>
                  <a:tcPr>
                    <a:solidFill>
                      <a:srgbClr val="F2F2F2"/>
                    </a:solidFill>
                  </a:tcPr>
                </a:tc>
                <a:tc>
                  <a:txBody>
                    <a:bodyPr/>
                    <a:lstStyle/>
                    <a:p>
                      <a:pPr>
                        <a:defRPr sz="800">
                          <a:solidFill>
                            <a:srgbClr val="333333"/>
                          </a:solidFill>
                          <a:latin typeface="Calibri"/>
                        </a:defRPr>
                      </a:pPr>
                      <a:r>
                        <a:t>Power: 30 MW (critical!)</a:t>
                      </a:r>
                      <a:br/>
                      <a:r>
                        <a:t>Rods: 143</a:t>
                      </a:r>
                      <a:br/>
                      <a:r>
                        <a:t>ECCS: DISABLED</a:t>
                      </a:r>
                    </a:p>
                  </a:txBody>
                  <a:tcPr>
                    <a:solidFill>
                      <a:srgbClr val="F2F2F2"/>
                    </a:solidFill>
                  </a:tcPr>
                </a:tc>
                <a:tc>
                  <a:txBody>
                    <a:bodyPr/>
                    <a:lstStyle/>
                    <a:p>
                      <a:pPr>
                        <a:defRPr sz="800">
                          <a:solidFill>
                            <a:srgbClr val="333333"/>
                          </a:solidFill>
                          <a:latin typeface="Calibri"/>
                        </a:defRPr>
                      </a:pPr>
                      <a:r>
                        <a:t>SCRAM ORDERED</a:t>
                      </a:r>
                      <a:br/>
                      <a:r>
                        <a:t>Risk = 92</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3: Dangerous</a:t>
                      </a:r>
                      <a:br/>
                      <a:r>
                        <a:t>Recovery (3)</a:t>
                      </a:r>
                    </a:p>
                  </a:txBody>
                  <a:tcPr>
                    <a:solidFill>
                      <a:srgbClr val="FFFFFF"/>
                    </a:solidFill>
                  </a:tcPr>
                </a:tc>
                <a:tc>
                  <a:txBody>
                    <a:bodyPr/>
                    <a:lstStyle/>
                    <a:p>
                      <a:pPr>
                        <a:defRPr sz="800">
                          <a:solidFill>
                            <a:srgbClr val="333333"/>
                          </a:solidFill>
                          <a:latin typeface="Calibri"/>
                        </a:defRPr>
                      </a:pPr>
                      <a:r>
                        <a:t>Apr 26</a:t>
                      </a:r>
                      <a:br/>
                      <a:r>
                        <a:t>00:32–01:00</a:t>
                      </a:r>
                    </a:p>
                  </a:txBody>
                  <a:tcPr>
                    <a:solidFill>
                      <a:srgbClr val="FFFFFF"/>
                    </a:solidFill>
                  </a:tcPr>
                </a:tc>
                <a:tc>
                  <a:txBody>
                    <a:bodyPr/>
                    <a:lstStyle/>
                    <a:p>
                      <a:pPr>
                        <a:defRPr sz="800">
                          <a:solidFill>
                            <a:srgbClr val="333333"/>
                          </a:solidFill>
                          <a:latin typeface="Calibri"/>
                        </a:defRPr>
                      </a:pPr>
                      <a:r>
                        <a:t>Rods withdrawn to 30 (min safe)</a:t>
                      </a:r>
                      <a:br/>
                      <a:r>
                        <a:t>Power forced to 200 MW</a:t>
                      </a:r>
                    </a:p>
                  </a:txBody>
                  <a:tcPr>
                    <a:solidFill>
                      <a:srgbClr val="FFFFFF"/>
                    </a:solidFill>
                  </a:tcPr>
                </a:tc>
                <a:tc>
                  <a:txBody>
                    <a:bodyPr/>
                    <a:lstStyle/>
                    <a:p>
                      <a:pPr>
                        <a:defRPr sz="800">
                          <a:solidFill>
                            <a:srgbClr val="333333"/>
                          </a:solidFill>
                          <a:latin typeface="Calibri"/>
                        </a:defRPr>
                      </a:pPr>
                      <a:r>
                        <a:t>Power: 200 MW</a:t>
                      </a:r>
                      <a:br/>
                      <a:r>
                        <a:t>Rods: 30 (minimum!)</a:t>
                      </a:r>
                      <a:br/>
                      <a:r>
                        <a:t>ECCS: Still off</a:t>
                      </a:r>
                    </a:p>
                  </a:txBody>
                  <a:tcPr>
                    <a:solidFill>
                      <a:srgbClr val="FFFFFF"/>
                    </a:solidFill>
                  </a:tcPr>
                </a:tc>
                <a:tc>
                  <a:txBody>
                    <a:bodyPr/>
                    <a:lstStyle/>
                    <a:p>
                      <a:pPr>
                        <a:defRPr sz="800">
                          <a:solidFill>
                            <a:srgbClr val="333333"/>
                          </a:solidFill>
                          <a:latin typeface="Calibri"/>
                        </a:defRPr>
                      </a:pPr>
                      <a:r>
                        <a:t>ABORT TEST</a:t>
                      </a:r>
                      <a:br/>
                      <a:r>
                        <a:t>Risk = 78</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4: Test &amp;</a:t>
                      </a:r>
                      <a:br/>
                      <a:r>
                        <a:t>Catastrophe (5)</a:t>
                      </a:r>
                    </a:p>
                  </a:txBody>
                  <a:tcPr>
                    <a:solidFill>
                      <a:srgbClr val="F2F2F2"/>
                    </a:solidFill>
                  </a:tcPr>
                </a:tc>
                <a:tc>
                  <a:txBody>
                    <a:bodyPr/>
                    <a:lstStyle/>
                    <a:p>
                      <a:pPr>
                        <a:defRPr sz="800">
                          <a:solidFill>
                            <a:srgbClr val="333333"/>
                          </a:solidFill>
                          <a:latin typeface="Calibri"/>
                        </a:defRPr>
                      </a:pPr>
                      <a:r>
                        <a:t>Apr 26</a:t>
                      </a:r>
                      <a:br/>
                      <a:r>
                        <a:t>01:03–01:23:40</a:t>
                      </a:r>
                    </a:p>
                  </a:txBody>
                  <a:tcPr>
                    <a:solidFill>
                      <a:srgbClr val="F2F2F2"/>
                    </a:solidFill>
                  </a:tcPr>
                </a:tc>
                <a:tc>
                  <a:txBody>
                    <a:bodyPr/>
                    <a:lstStyle/>
                    <a:p>
                      <a:pPr>
                        <a:defRPr sz="800">
                          <a:solidFill>
                            <a:srgbClr val="333333"/>
                          </a:solidFill>
                          <a:latin typeface="Calibri"/>
                        </a:defRPr>
                      </a:pPr>
                      <a:r>
                        <a:t>Rods drop to 8, test begins</a:t>
                      </a:r>
                      <a:br/>
                      <a:r>
                        <a:t>Power surges to 30,000 MW → EXPLOSION</a:t>
                      </a:r>
                    </a:p>
                  </a:txBody>
                  <a:tcPr>
                    <a:solidFill>
                      <a:srgbClr val="F2F2F2"/>
                    </a:solidFill>
                  </a:tcPr>
                </a:tc>
                <a:tc>
                  <a:txBody>
                    <a:bodyPr/>
                    <a:lstStyle/>
                    <a:p>
                      <a:pPr>
                        <a:defRPr sz="800">
                          <a:solidFill>
                            <a:srgbClr val="333333"/>
                          </a:solidFill>
                          <a:latin typeface="Calibri"/>
                        </a:defRPr>
                      </a:pPr>
                      <a:r>
                        <a:t>Power: 200→30,000 MW</a:t>
                      </a:r>
                      <a:br/>
                      <a:r>
                        <a:t>Rods: 8 (lethal)</a:t>
                      </a:r>
                      <a:br/>
                      <a:r>
                        <a:t>Explosion</a:t>
                      </a:r>
                    </a:p>
                  </a:txBody>
                  <a:tcPr>
                    <a:solidFill>
                      <a:srgbClr val="F2F2F2"/>
                    </a:solidFill>
                  </a:tcPr>
                </a:tc>
                <a:tc>
                  <a:txBody>
                    <a:bodyPr/>
                    <a:lstStyle/>
                    <a:p>
                      <a:pPr>
                        <a:defRPr sz="800">
                          <a:solidFill>
                            <a:srgbClr val="333333"/>
                          </a:solidFill>
                          <a:latin typeface="Calibri"/>
                        </a:defRPr>
                      </a:pPr>
                      <a:r>
                        <a:t>AZ-5 at 01:19</a:t>
                      </a:r>
                      <a:br/>
                      <a:r>
                        <a:t>(4 min before)</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5: Aftermath</a:t>
                      </a:r>
                      <a:br/>
                      <a:r>
                        <a:t>(4 events)</a:t>
                      </a:r>
                    </a:p>
                  </a:txBody>
                  <a:tcPr>
                    <a:solidFill>
                      <a:srgbClr val="FFFFFF"/>
                    </a:solidFill>
                  </a:tcPr>
                </a:tc>
                <a:tc>
                  <a:txBody>
                    <a:bodyPr/>
                    <a:lstStyle/>
                    <a:p>
                      <a:pPr>
                        <a:defRPr sz="800">
                          <a:solidFill>
                            <a:srgbClr val="333333"/>
                          </a:solidFill>
                          <a:latin typeface="Calibri"/>
                        </a:defRPr>
                      </a:pPr>
                      <a:r>
                        <a:t>Apr 26</a:t>
                      </a:r>
                      <a:br/>
                      <a:r>
                        <a:t>01:30–14:00</a:t>
                      </a:r>
                    </a:p>
                  </a:txBody>
                  <a:tcPr>
                    <a:solidFill>
                      <a:srgbClr val="FFFFFF"/>
                    </a:solidFill>
                  </a:tcPr>
                </a:tc>
                <a:tc>
                  <a:txBody>
                    <a:bodyPr/>
                    <a:lstStyle/>
                    <a:p>
                      <a:pPr>
                        <a:defRPr sz="800">
                          <a:solidFill>
                            <a:srgbClr val="333333"/>
                          </a:solidFill>
                          <a:latin typeface="Calibri"/>
                        </a:defRPr>
                      </a:pPr>
                      <a:r>
                        <a:t>Firefighters, denial, 3.6 roentgen lie</a:t>
                      </a:r>
                      <a:br/>
                      <a:r>
                        <a:t>Evacuation: Apr 27 14:00</a:t>
                      </a:r>
                    </a:p>
                  </a:txBody>
                  <a:tcPr>
                    <a:solidFill>
                      <a:srgbClr val="FFFFFF"/>
                    </a:solidFill>
                  </a:tcPr>
                </a:tc>
                <a:tc>
                  <a:txBody>
                    <a:bodyPr/>
                    <a:lstStyle/>
                    <a:p>
                      <a:pPr>
                        <a:defRPr sz="800">
                          <a:solidFill>
                            <a:srgbClr val="333333"/>
                          </a:solidFill>
                          <a:latin typeface="Calibri"/>
                        </a:defRPr>
                      </a:pPr>
                      <a:r>
                        <a:t>Radiation: 20,000 R/h</a:t>
                      </a:r>
                      <a:br/>
                      <a:r>
                        <a:t>Core exposed</a:t>
                      </a:r>
                      <a:br/>
                      <a:r>
                        <a:t>Graphite burning</a:t>
                      </a:r>
                    </a:p>
                  </a:txBody>
                  <a:tcPr>
                    <a:solidFill>
                      <a:srgbClr val="FFFFFF"/>
                    </a:solidFill>
                  </a:tcPr>
                </a:tc>
                <a:tc>
                  <a:txBody>
                    <a:bodyPr/>
                    <a:lstStyle/>
                    <a:p>
                      <a:pPr>
                        <a:defRPr sz="800">
                          <a:solidFill>
                            <a:srgbClr val="333333"/>
                          </a:solidFill>
                          <a:latin typeface="Calibri"/>
                        </a:defRPr>
                      </a:pPr>
                      <a:r>
                        <a:t>EVACUATE NOW</a:t>
                      </a:r>
                      <a:br/>
                      <a:r>
                        <a:t>(35 hrs earlier)</a:t>
                      </a:r>
                    </a:p>
                  </a:txBody>
                  <a:tcP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457200" y="3705497"/>
            <a:ext cx="11277295" cy="274320"/>
          </a:xfrm>
          <a:prstGeom prst="rect">
            <a:avLst/>
          </a:prstGeom>
          <a:noFill/>
        </p:spPr>
        <p:txBody>
          <a:bodyPr wrap="square">
            <a:spAutoFit/>
          </a:bodyPr>
          <a:lstStyle/>
          <a:p>
            <a:pPr algn="l">
              <a:spcBef>
                <a:spcPts val="100"/>
              </a:spcBef>
              <a:spcAft>
                <a:spcPts val="100"/>
              </a:spcAft>
              <a:defRPr sz="1200" b="1">
                <a:solidFill>
                  <a:srgbClr val="0C2340"/>
                </a:solidFill>
                <a:latin typeface="Calibri"/>
              </a:defRPr>
            </a:pPr>
            <a:r>
              <a:rPr dirty="0"/>
              <a:t>Dual Timeline Engine — Historical vs. AI-Intervened Parallel Realities:</a:t>
            </a:r>
          </a:p>
        </p:txBody>
      </p:sp>
      <p:sp>
        <p:nvSpPr>
          <p:cNvPr id="6" name="Rectangle 5"/>
          <p:cNvSpPr/>
          <p:nvPr/>
        </p:nvSpPr>
        <p:spPr>
          <a:xfrm>
            <a:off x="442112" y="4082089"/>
            <a:ext cx="54864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Historical Timeline (Recorded)</a:t>
            </a:r>
          </a:p>
        </p:txBody>
      </p:sp>
      <p:sp>
        <p:nvSpPr>
          <p:cNvPr id="7" name="Rounded Rectangle 6"/>
          <p:cNvSpPr/>
          <p:nvPr/>
        </p:nvSpPr>
        <p:spPr>
          <a:xfrm>
            <a:off x="457200" y="4380358"/>
            <a:ext cx="5486400" cy="109728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Plays back 20 real events from INSAG-7/IAEA/WNA documents</a:t>
            </a:r>
          </a:p>
          <a:p>
            <a:pPr>
              <a:spcBef>
                <a:spcPts val="100"/>
              </a:spcBef>
              <a:spcAft>
                <a:spcPts val="100"/>
              </a:spcAft>
              <a:defRPr sz="900" b="0">
                <a:solidFill>
                  <a:srgbClr val="333333"/>
                </a:solidFill>
                <a:latin typeface="Calibri"/>
              </a:defRPr>
            </a:pPr>
            <a:r>
              <a:rPr dirty="0"/>
              <a:t>Interpolated to 1-second ticks at configurable speed (1-2500x)</a:t>
            </a:r>
          </a:p>
          <a:p>
            <a:pPr>
              <a:spcBef>
                <a:spcPts val="100"/>
              </a:spcBef>
              <a:spcAft>
                <a:spcPts val="100"/>
              </a:spcAft>
              <a:defRPr sz="900" b="0">
                <a:solidFill>
                  <a:srgbClr val="333333"/>
                </a:solidFill>
                <a:latin typeface="Calibri"/>
              </a:defRPr>
            </a:pPr>
            <a:r>
              <a:rPr dirty="0"/>
              <a:t>Explosion occurs at 01:23:40 exactly as it happened</a:t>
            </a:r>
          </a:p>
          <a:p>
            <a:pPr>
              <a:spcBef>
                <a:spcPts val="100"/>
              </a:spcBef>
              <a:spcAft>
                <a:spcPts val="100"/>
              </a:spcAft>
              <a:defRPr sz="900" b="0">
                <a:solidFill>
                  <a:srgbClr val="333333"/>
                </a:solidFill>
                <a:latin typeface="Calibri"/>
              </a:defRPr>
            </a:pPr>
            <a:r>
              <a:rPr dirty="0" err="1"/>
              <a:t>ReactorState</a:t>
            </a:r>
            <a:r>
              <a:rPr dirty="0"/>
              <a:t> </a:t>
            </a:r>
            <a:r>
              <a:rPr dirty="0" err="1"/>
              <a:t>dataclass</a:t>
            </a:r>
            <a:r>
              <a:rPr dirty="0"/>
              <a:t>: 11 fields per tick (power, rods, coolant, steam, temp, radiation, ECCS, etc.)</a:t>
            </a:r>
          </a:p>
        </p:txBody>
      </p:sp>
      <p:sp>
        <p:nvSpPr>
          <p:cNvPr id="8" name="Rectangle 7"/>
          <p:cNvSpPr/>
          <p:nvPr/>
        </p:nvSpPr>
        <p:spPr>
          <a:xfrm>
            <a:off x="6080759" y="4082089"/>
            <a:ext cx="5486400" cy="27432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AI-Intervened Timeline (Computed)</a:t>
            </a:r>
          </a:p>
        </p:txBody>
      </p:sp>
      <p:sp>
        <p:nvSpPr>
          <p:cNvPr id="9" name="Rounded Rectangle 8"/>
          <p:cNvSpPr/>
          <p:nvPr/>
        </p:nvSpPr>
        <p:spPr>
          <a:xfrm>
            <a:off x="6095847" y="4380358"/>
            <a:ext cx="5486400" cy="1097280"/>
          </a:xfrm>
          <a:prstGeom prst="roundRect">
            <a:avLst/>
          </a:prstGeom>
          <a:solidFill>
            <a:srgbClr val="E8F5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Branches at SCRAM/ABORT decision point</a:t>
            </a:r>
          </a:p>
          <a:p>
            <a:pPr>
              <a:spcBef>
                <a:spcPts val="100"/>
              </a:spcBef>
              <a:spcAft>
                <a:spcPts val="100"/>
              </a:spcAft>
              <a:defRPr sz="900" b="0">
                <a:solidFill>
                  <a:srgbClr val="333333"/>
                </a:solidFill>
                <a:latin typeface="Calibri"/>
              </a:defRPr>
            </a:pPr>
            <a:r>
              <a:rPr dirty="0"/>
              <a:t>SCRAM: </a:t>
            </a:r>
            <a:r>
              <a:rPr dirty="0" err="1"/>
              <a:t>compute_scram_decay</a:t>
            </a:r>
            <a:r>
              <a:rPr dirty="0"/>
              <a:t>() — power half-life 2.5s, Newton cooling, rod insertion over 18s</a:t>
            </a:r>
          </a:p>
          <a:p>
            <a:pPr>
              <a:spcBef>
                <a:spcPts val="100"/>
              </a:spcBef>
              <a:spcAft>
                <a:spcPts val="100"/>
              </a:spcAft>
              <a:defRPr sz="900" b="0">
                <a:solidFill>
                  <a:srgbClr val="333333"/>
                </a:solidFill>
                <a:latin typeface="Calibri"/>
              </a:defRPr>
            </a:pPr>
            <a:r>
              <a:rPr dirty="0"/>
              <a:t>ABORT: </a:t>
            </a:r>
            <a:r>
              <a:rPr dirty="0" err="1"/>
              <a:t>compute_test_abort</a:t>
            </a:r>
            <a:r>
              <a:rPr dirty="0"/>
              <a:t>() — linear ramp-down 5 MW/min, 3 rods/min insertion</a:t>
            </a:r>
          </a:p>
          <a:p>
            <a:pPr>
              <a:spcBef>
                <a:spcPts val="100"/>
              </a:spcBef>
              <a:spcAft>
                <a:spcPts val="100"/>
              </a:spcAft>
              <a:defRPr sz="900" b="0">
                <a:solidFill>
                  <a:srgbClr val="333333"/>
                </a:solidFill>
                <a:latin typeface="Calibri"/>
              </a:defRPr>
            </a:pPr>
            <a:r>
              <a:rPr dirty="0"/>
              <a:t>Divergence detection: scans decisions, saves </a:t>
            </a:r>
            <a:r>
              <a:rPr dirty="0" err="1"/>
              <a:t>divergence_state</a:t>
            </a:r>
            <a:r>
              <a:rPr dirty="0"/>
              <a:t> &amp; </a:t>
            </a:r>
            <a:r>
              <a:rPr dirty="0" err="1"/>
              <a:t>divergence_time</a:t>
            </a:r>
            <a:endParaRPr dirty="0"/>
          </a:p>
        </p:txBody>
      </p:sp>
      <p:sp>
        <p:nvSpPr>
          <p:cNvPr id="10" name="Rounded Rectangle 9"/>
          <p:cNvSpPr/>
          <p:nvPr/>
        </p:nvSpPr>
        <p:spPr>
          <a:xfrm>
            <a:off x="442112" y="5738051"/>
            <a:ext cx="11277295" cy="54864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900" b="0">
                <a:solidFill>
                  <a:srgbClr val="333333"/>
                </a:solidFill>
                <a:latin typeface="Calibri"/>
              </a:defRPr>
            </a:pPr>
            <a:r>
              <a:t>ReactorState Dataclass (11 fields): timestamp, power_mw, control_rods_inserted, coolant_flow_m3h, steam_pressure_mpa, temperature_c, radiation_mrem_h, eccs_active, event_description, actual_human_decision, tags[]  —  Sources: INSAG-7 (IAEA 1992), IAEA Safety Series No. 75, WNA Chernobyl Accident Report</a:t>
            </a:r>
          </a:p>
        </p:txBody>
      </p:sp>
      <p:sp>
        <p:nvSpPr>
          <p:cNvPr id="11" name="Rectangle 10"/>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3" name="TextBox 12"/>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5/20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6-Agent Pipeline Architecture</a:t>
            </a:r>
          </a:p>
          <a:p>
            <a:pPr algn="l">
              <a:spcBef>
                <a:spcPts val="100"/>
              </a:spcBef>
              <a:spcAft>
                <a:spcPts val="100"/>
              </a:spcAft>
              <a:defRPr sz="1300" b="0">
                <a:solidFill>
                  <a:srgbClr val="88BBDD"/>
                </a:solidFill>
                <a:latin typeface="Calibri"/>
              </a:defRPr>
            </a:pPr>
            <a:r>
              <a:t>Deterministic per-tick execution: Sensor → Risk → Decision → Dyatlov → Evacuation → Comms</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72540"/>
            <a:ext cx="1691640" cy="640080"/>
          </a:xfrm>
          <a:prstGeom prst="round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SensorAgent</a:t>
            </a:r>
          </a:p>
          <a:p>
            <a:pPr algn="ctr">
              <a:spcBef>
                <a:spcPts val="100"/>
              </a:spcBef>
              <a:spcAft>
                <a:spcPts val="100"/>
              </a:spcAft>
              <a:defRPr sz="800" b="0">
                <a:solidFill>
                  <a:srgbClr val="DDDDDD"/>
                </a:solidFill>
                <a:latin typeface="Calibri"/>
              </a:defRPr>
            </a:pPr>
            <a:r>
              <a:t>Rule-based</a:t>
            </a:r>
          </a:p>
        </p:txBody>
      </p:sp>
      <p:sp>
        <p:nvSpPr>
          <p:cNvPr id="5" name="Right Arrow 4"/>
          <p:cNvSpPr/>
          <p:nvPr/>
        </p:nvSpPr>
        <p:spPr>
          <a:xfrm>
            <a:off x="2148840" y="1501140"/>
            <a:ext cx="182880" cy="182880"/>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2331720" y="1272540"/>
            <a:ext cx="1691640" cy="64008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RiskAgent</a:t>
            </a:r>
          </a:p>
          <a:p>
            <a:pPr algn="ctr">
              <a:spcBef>
                <a:spcPts val="100"/>
              </a:spcBef>
              <a:spcAft>
                <a:spcPts val="100"/>
              </a:spcAft>
              <a:defRPr sz="800" b="0">
                <a:solidFill>
                  <a:srgbClr val="DDDDDD"/>
                </a:solidFill>
                <a:latin typeface="Calibri"/>
              </a:defRPr>
            </a:pPr>
            <a:r>
              <a:t>LLM + Rules</a:t>
            </a:r>
          </a:p>
        </p:txBody>
      </p:sp>
      <p:sp>
        <p:nvSpPr>
          <p:cNvPr id="7" name="Right Arrow 6"/>
          <p:cNvSpPr/>
          <p:nvPr/>
        </p:nvSpPr>
        <p:spPr>
          <a:xfrm>
            <a:off x="4023360" y="1501140"/>
            <a:ext cx="182880" cy="182880"/>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206240" y="1272540"/>
            <a:ext cx="1691640" cy="640080"/>
          </a:xfrm>
          <a:prstGeom prst="round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DecisionAgent</a:t>
            </a:r>
          </a:p>
          <a:p>
            <a:pPr algn="ctr">
              <a:spcBef>
                <a:spcPts val="100"/>
              </a:spcBef>
              <a:spcAft>
                <a:spcPts val="100"/>
              </a:spcAft>
              <a:defRPr sz="800" b="0">
                <a:solidFill>
                  <a:srgbClr val="DDDDDD"/>
                </a:solidFill>
                <a:latin typeface="Calibri"/>
              </a:defRPr>
            </a:pPr>
            <a:r>
              <a:t>LLM + Rules</a:t>
            </a:r>
          </a:p>
        </p:txBody>
      </p:sp>
      <p:sp>
        <p:nvSpPr>
          <p:cNvPr id="9" name="Right Arrow 8"/>
          <p:cNvSpPr/>
          <p:nvPr/>
        </p:nvSpPr>
        <p:spPr>
          <a:xfrm>
            <a:off x="5897880" y="1501140"/>
            <a:ext cx="182880" cy="182880"/>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080760" y="1272540"/>
            <a:ext cx="1691640" cy="640080"/>
          </a:xfrm>
          <a:prstGeom prst="round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DyatlovAgent</a:t>
            </a:r>
          </a:p>
          <a:p>
            <a:pPr algn="ctr">
              <a:spcBef>
                <a:spcPts val="100"/>
              </a:spcBef>
              <a:spcAft>
                <a:spcPts val="100"/>
              </a:spcAft>
              <a:defRPr sz="800" b="0">
                <a:solidFill>
                  <a:srgbClr val="DDDDDD"/>
                </a:solidFill>
                <a:latin typeface="Calibri"/>
              </a:defRPr>
            </a:pPr>
            <a:r>
              <a:t>LLM + Rules</a:t>
            </a:r>
          </a:p>
        </p:txBody>
      </p:sp>
      <p:sp>
        <p:nvSpPr>
          <p:cNvPr id="11" name="Right Arrow 10"/>
          <p:cNvSpPr/>
          <p:nvPr/>
        </p:nvSpPr>
        <p:spPr>
          <a:xfrm>
            <a:off x="7772400" y="1501140"/>
            <a:ext cx="182880" cy="182880"/>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955280" y="1272540"/>
            <a:ext cx="1691640" cy="640080"/>
          </a:xfrm>
          <a:prstGeom prst="round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EvacuationAgent</a:t>
            </a:r>
          </a:p>
          <a:p>
            <a:pPr algn="ctr">
              <a:spcBef>
                <a:spcPts val="100"/>
              </a:spcBef>
              <a:spcAft>
                <a:spcPts val="100"/>
              </a:spcAft>
              <a:defRPr sz="800" b="0">
                <a:solidFill>
                  <a:srgbClr val="DDDDDD"/>
                </a:solidFill>
                <a:latin typeface="Calibri"/>
              </a:defRPr>
            </a:pPr>
            <a:r>
              <a:t>Rule-based</a:t>
            </a:r>
          </a:p>
        </p:txBody>
      </p:sp>
      <p:sp>
        <p:nvSpPr>
          <p:cNvPr id="13" name="Right Arrow 12"/>
          <p:cNvSpPr/>
          <p:nvPr/>
        </p:nvSpPr>
        <p:spPr>
          <a:xfrm>
            <a:off x="9646920" y="1501140"/>
            <a:ext cx="182880" cy="182880"/>
          </a:xfrm>
          <a:prstGeom prst="rightArrow">
            <a:avLst/>
          </a:prstGeom>
          <a:solidFill>
            <a:srgbClr val="7777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29800" y="1272540"/>
            <a:ext cx="1691640" cy="640080"/>
          </a:xfrm>
          <a:prstGeom prst="round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wrap="square" lIns="45720" rtlCol="0" anchor="ctr"/>
          <a:lstStyle/>
          <a:p>
            <a:pPr algn="ctr">
              <a:spcBef>
                <a:spcPts val="100"/>
              </a:spcBef>
              <a:spcAft>
                <a:spcPts val="100"/>
              </a:spcAft>
              <a:defRPr sz="1000" b="1">
                <a:solidFill>
                  <a:srgbClr val="FFFFFF"/>
                </a:solidFill>
                <a:latin typeface="Calibri"/>
              </a:defRPr>
            </a:pPr>
            <a:r>
              <a:t>CommsAgent</a:t>
            </a:r>
          </a:p>
          <a:p>
            <a:pPr algn="ctr">
              <a:spcBef>
                <a:spcPts val="100"/>
              </a:spcBef>
              <a:spcAft>
                <a:spcPts val="100"/>
              </a:spcAft>
              <a:defRPr sz="800" b="0">
                <a:solidFill>
                  <a:srgbClr val="DDDDDD"/>
                </a:solidFill>
                <a:latin typeface="Calibri"/>
              </a:defRPr>
            </a:pPr>
            <a:r>
              <a:t>Rule-based</a:t>
            </a:r>
          </a:p>
        </p:txBody>
      </p:sp>
      <p:graphicFrame>
        <p:nvGraphicFramePr>
          <p:cNvPr id="15" name="Table 14"/>
          <p:cNvGraphicFramePr>
            <a:graphicFrameLocks noGrp="1"/>
          </p:cNvGraphicFramePr>
          <p:nvPr>
            <p:extLst>
              <p:ext uri="{D42A27DB-BD31-4B8C-83A1-F6EECF244321}">
                <p14:modId xmlns:p14="http://schemas.microsoft.com/office/powerpoint/2010/main" val="3386700471"/>
              </p:ext>
            </p:extLst>
          </p:nvPr>
        </p:nvGraphicFramePr>
        <p:xfrm>
          <a:off x="457200" y="2049780"/>
          <a:ext cx="11277295" cy="297180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181708">
                <a:tc>
                  <a:txBody>
                    <a:bodyPr/>
                    <a:lstStyle/>
                    <a:p>
                      <a:pPr>
                        <a:defRPr sz="900" b="1">
                          <a:solidFill>
                            <a:srgbClr val="FFFFFF"/>
                          </a:solidFill>
                          <a:latin typeface="Calibri"/>
                        </a:defRPr>
                      </a:pPr>
                      <a:r>
                        <a:t>Agent</a:t>
                      </a:r>
                    </a:p>
                  </a:txBody>
                  <a:tcPr>
                    <a:solidFill>
                      <a:srgbClr val="009B8D"/>
                    </a:solidFill>
                  </a:tcPr>
                </a:tc>
                <a:tc>
                  <a:txBody>
                    <a:bodyPr/>
                    <a:lstStyle/>
                    <a:p>
                      <a:pPr>
                        <a:defRPr sz="900" b="1">
                          <a:solidFill>
                            <a:srgbClr val="FFFFFF"/>
                          </a:solidFill>
                          <a:latin typeface="Calibri"/>
                        </a:defRPr>
                      </a:pPr>
                      <a:r>
                        <a:t>LLM?</a:t>
                      </a:r>
                    </a:p>
                  </a:txBody>
                  <a:tcPr>
                    <a:solidFill>
                      <a:srgbClr val="009B8D"/>
                    </a:solidFill>
                  </a:tcPr>
                </a:tc>
                <a:tc>
                  <a:txBody>
                    <a:bodyPr/>
                    <a:lstStyle/>
                    <a:p>
                      <a:pPr>
                        <a:defRPr sz="900" b="1">
                          <a:solidFill>
                            <a:srgbClr val="FFFFFF"/>
                          </a:solidFill>
                          <a:latin typeface="Calibri"/>
                        </a:defRPr>
                      </a:pPr>
                      <a:r>
                        <a:t>Role &amp; Logic</a:t>
                      </a:r>
                    </a:p>
                  </a:txBody>
                  <a:tcPr>
                    <a:solidFill>
                      <a:srgbClr val="009B8D"/>
                    </a:solidFill>
                  </a:tcPr>
                </a:tc>
                <a:tc>
                  <a:txBody>
                    <a:bodyPr/>
                    <a:lstStyle/>
                    <a:p>
                      <a:pPr>
                        <a:defRPr sz="900" b="1">
                          <a:solidFill>
                            <a:srgbClr val="FFFFFF"/>
                          </a:solidFill>
                          <a:latin typeface="Calibri"/>
                        </a:defRPr>
                      </a:pPr>
                      <a:r>
                        <a:t>Inputs</a:t>
                      </a:r>
                    </a:p>
                  </a:txBody>
                  <a:tcPr>
                    <a:solidFill>
                      <a:srgbClr val="009B8D"/>
                    </a:solidFill>
                  </a:tcPr>
                </a:tc>
                <a:tc>
                  <a:txBody>
                    <a:bodyPr/>
                    <a:lstStyle/>
                    <a:p>
                      <a:pPr>
                        <a:defRPr sz="900" b="1">
                          <a:solidFill>
                            <a:srgbClr val="FFFFFF"/>
                          </a:solidFill>
                          <a:latin typeface="Calibri"/>
                        </a:defRPr>
                      </a:pPr>
                      <a:r>
                        <a:t>Outputs</a:t>
                      </a:r>
                    </a:p>
                  </a:txBody>
                  <a:tcPr>
                    <a:solidFill>
                      <a:srgbClr val="009B8D"/>
                    </a:solidFill>
                  </a:tcPr>
                </a:tc>
                <a:extLst>
                  <a:ext uri="{0D108BD9-81ED-4DB2-BD59-A6C34878D82A}">
                    <a16:rowId xmlns:a16="http://schemas.microsoft.com/office/drawing/2014/main" val="10000"/>
                  </a:ext>
                </a:extLst>
              </a:tr>
              <a:tr h="363415">
                <a:tc>
                  <a:txBody>
                    <a:bodyPr/>
                    <a:lstStyle/>
                    <a:p>
                      <a:pPr>
                        <a:defRPr sz="800">
                          <a:solidFill>
                            <a:srgbClr val="333333"/>
                          </a:solidFill>
                          <a:latin typeface="Calibri"/>
                        </a:defRPr>
                      </a:pPr>
                      <a:r>
                        <a:t>SensorAgent</a:t>
                      </a:r>
                    </a:p>
                  </a:txBody>
                  <a:tcPr>
                    <a:solidFill>
                      <a:srgbClr val="FFFFFF"/>
                    </a:solidFill>
                  </a:tcPr>
                </a:tc>
                <a:tc>
                  <a:txBody>
                    <a:bodyPr/>
                    <a:lstStyle/>
                    <a:p>
                      <a:pPr>
                        <a:defRPr sz="800">
                          <a:solidFill>
                            <a:srgbClr val="333333"/>
                          </a:solidFill>
                          <a:latin typeface="Calibri"/>
                        </a:defRPr>
                      </a:pPr>
                      <a:r>
                        <a:t>No</a:t>
                      </a:r>
                    </a:p>
                  </a:txBody>
                  <a:tcPr>
                    <a:solidFill>
                      <a:srgbClr val="FFFFFF"/>
                    </a:solidFill>
                  </a:tcPr>
                </a:tc>
                <a:tc>
                  <a:txBody>
                    <a:bodyPr/>
                    <a:lstStyle/>
                    <a:p>
                      <a:pPr>
                        <a:defRPr sz="800">
                          <a:solidFill>
                            <a:srgbClr val="333333"/>
                          </a:solidFill>
                          <a:latin typeface="Calibri"/>
                        </a:defRPr>
                      </a:pPr>
                      <a:r>
                        <a:t>Monitors 6 reactor dimensions against RBMK-1000 safety</a:t>
                      </a:r>
                      <a:br/>
                      <a:r>
                        <a:t>thresholds. Pure deterministic threshold checks.</a:t>
                      </a:r>
                    </a:p>
                  </a:txBody>
                  <a:tcPr>
                    <a:solidFill>
                      <a:srgbClr val="FFFFFF"/>
                    </a:solidFill>
                  </a:tcPr>
                </a:tc>
                <a:tc>
                  <a:txBody>
                    <a:bodyPr/>
                    <a:lstStyle/>
                    <a:p>
                      <a:pPr>
                        <a:defRPr sz="800">
                          <a:solidFill>
                            <a:srgbClr val="333333"/>
                          </a:solidFill>
                          <a:latin typeface="Calibri"/>
                        </a:defRPr>
                      </a:pPr>
                      <a:r>
                        <a:t>ReactorState (11 fields)</a:t>
                      </a:r>
                    </a:p>
                  </a:txBody>
                  <a:tcPr>
                    <a:solidFill>
                      <a:srgbClr val="FFFFFF"/>
                    </a:solidFill>
                  </a:tcPr>
                </a:tc>
                <a:tc>
                  <a:txBody>
                    <a:bodyPr/>
                    <a:lstStyle/>
                    <a:p>
                      <a:pPr>
                        <a:defRPr sz="800">
                          <a:solidFill>
                            <a:srgbClr val="333333"/>
                          </a:solidFill>
                          <a:latin typeface="Calibri"/>
                        </a:defRPr>
                      </a:pPr>
                      <a:r>
                        <a:t>sensor_alerts[]</a:t>
                      </a:r>
                    </a:p>
                  </a:txBody>
                  <a:tcPr>
                    <a:solidFill>
                      <a:srgbClr val="FFFFFF"/>
                    </a:solidFill>
                  </a:tcPr>
                </a:tc>
                <a:extLst>
                  <a:ext uri="{0D108BD9-81ED-4DB2-BD59-A6C34878D82A}">
                    <a16:rowId xmlns:a16="http://schemas.microsoft.com/office/drawing/2014/main" val="10001"/>
                  </a:ext>
                </a:extLst>
              </a:tr>
              <a:tr h="363415">
                <a:tc>
                  <a:txBody>
                    <a:bodyPr/>
                    <a:lstStyle/>
                    <a:p>
                      <a:pPr>
                        <a:defRPr sz="800">
                          <a:solidFill>
                            <a:srgbClr val="333333"/>
                          </a:solidFill>
                          <a:latin typeface="Calibri"/>
                        </a:defRPr>
                      </a:pPr>
                      <a:r>
                        <a:t>RiskAgent</a:t>
                      </a:r>
                    </a:p>
                  </a:txBody>
                  <a:tcPr>
                    <a:solidFill>
                      <a:srgbClr val="F2F2F2"/>
                    </a:solidFill>
                  </a:tcPr>
                </a:tc>
                <a:tc>
                  <a:txBody>
                    <a:bodyPr/>
                    <a:lstStyle/>
                    <a:p>
                      <a:pPr>
                        <a:defRPr sz="800">
                          <a:solidFill>
                            <a:srgbClr val="333333"/>
                          </a:solidFill>
                          <a:latin typeface="Calibri"/>
                        </a:defRPr>
                      </a:pPr>
                      <a:r>
                        <a:t>Yes</a:t>
                      </a:r>
                    </a:p>
                  </a:txBody>
                  <a:tcPr>
                    <a:solidFill>
                      <a:srgbClr val="F2F2F2"/>
                    </a:solidFill>
                  </a:tcPr>
                </a:tc>
                <a:tc>
                  <a:txBody>
                    <a:bodyPr/>
                    <a:lstStyle/>
                    <a:p>
                      <a:pPr>
                        <a:defRPr sz="800">
                          <a:solidFill>
                            <a:srgbClr val="333333"/>
                          </a:solidFill>
                          <a:latin typeface="Calibri"/>
                        </a:defRPr>
                      </a:pPr>
                      <a:r>
                        <a:t>Scores risk 0-100 using 70% LLM + 30% rule blend.</a:t>
                      </a:r>
                      <a:br/>
                      <a:r>
                        <a:t>Detects compound risks invisible to single thresholds.</a:t>
                      </a:r>
                    </a:p>
                  </a:txBody>
                  <a:tcPr>
                    <a:solidFill>
                      <a:srgbClr val="F2F2F2"/>
                    </a:solidFill>
                  </a:tcPr>
                </a:tc>
                <a:tc>
                  <a:txBody>
                    <a:bodyPr/>
                    <a:lstStyle/>
                    <a:p>
                      <a:pPr>
                        <a:defRPr sz="800">
                          <a:solidFill>
                            <a:srgbClr val="333333"/>
                          </a:solidFill>
                          <a:latin typeface="Calibri"/>
                        </a:defRPr>
                      </a:pPr>
                      <a:r>
                        <a:t>state + sensor_alerts</a:t>
                      </a:r>
                    </a:p>
                  </a:txBody>
                  <a:tcPr>
                    <a:solidFill>
                      <a:srgbClr val="F2F2F2"/>
                    </a:solidFill>
                  </a:tcPr>
                </a:tc>
                <a:tc>
                  <a:txBody>
                    <a:bodyPr/>
                    <a:lstStyle/>
                    <a:p>
                      <a:pPr>
                        <a:defRPr sz="800">
                          <a:solidFill>
                            <a:srgbClr val="333333"/>
                          </a:solidFill>
                          <a:latin typeface="Calibri"/>
                        </a:defRPr>
                      </a:pPr>
                      <a:r>
                        <a:t>risk_score, risk_msg,</a:t>
                      </a:r>
                      <a:br/>
                      <a:r>
                        <a:t>trend, reasoning</a:t>
                      </a:r>
                    </a:p>
                  </a:txBody>
                  <a:tcPr>
                    <a:solidFill>
                      <a:srgbClr val="F2F2F2"/>
                    </a:solidFill>
                  </a:tcPr>
                </a:tc>
                <a:extLst>
                  <a:ext uri="{0D108BD9-81ED-4DB2-BD59-A6C34878D82A}">
                    <a16:rowId xmlns:a16="http://schemas.microsoft.com/office/drawing/2014/main" val="10002"/>
                  </a:ext>
                </a:extLst>
              </a:tr>
              <a:tr h="460326">
                <a:tc>
                  <a:txBody>
                    <a:bodyPr/>
                    <a:lstStyle/>
                    <a:p>
                      <a:pPr>
                        <a:defRPr sz="800">
                          <a:solidFill>
                            <a:srgbClr val="333333"/>
                          </a:solidFill>
                          <a:latin typeface="Calibri"/>
                        </a:defRPr>
                      </a:pPr>
                      <a:r>
                        <a:t>DecisionAgent</a:t>
                      </a:r>
                    </a:p>
                  </a:txBody>
                  <a:tcPr>
                    <a:solidFill>
                      <a:srgbClr val="FFFFFF"/>
                    </a:solidFill>
                  </a:tcPr>
                </a:tc>
                <a:tc>
                  <a:txBody>
                    <a:bodyPr/>
                    <a:lstStyle/>
                    <a:p>
                      <a:pPr>
                        <a:defRPr sz="800">
                          <a:solidFill>
                            <a:srgbClr val="333333"/>
                          </a:solidFill>
                          <a:latin typeface="Calibri"/>
                        </a:defRPr>
                      </a:pPr>
                      <a:r>
                        <a:rPr dirty="0"/>
                        <a:t>Yes</a:t>
                      </a:r>
                    </a:p>
                  </a:txBody>
                  <a:tcPr>
                    <a:solidFill>
                      <a:srgbClr val="FFFFFF"/>
                    </a:solidFill>
                  </a:tcPr>
                </a:tc>
                <a:tc>
                  <a:txBody>
                    <a:bodyPr/>
                    <a:lstStyle/>
                    <a:p>
                      <a:pPr>
                        <a:defRPr sz="800">
                          <a:solidFill>
                            <a:srgbClr val="333333"/>
                          </a:solidFill>
                          <a:latin typeface="Calibri"/>
                        </a:defRPr>
                      </a:pPr>
                      <a:r>
                        <a:t>Hard guardrails FIRST (safety floor) → LLM advisory SECOND</a:t>
                      </a:r>
                      <a:br/>
                      <a:r>
                        <a:t>→ UNION merge. LLM adds actions, never removes.</a:t>
                      </a:r>
                    </a:p>
                  </a:txBody>
                  <a:tcPr>
                    <a:solidFill>
                      <a:srgbClr val="FFFFFF"/>
                    </a:solidFill>
                  </a:tcPr>
                </a:tc>
                <a:tc>
                  <a:txBody>
                    <a:bodyPr/>
                    <a:lstStyle/>
                    <a:p>
                      <a:pPr>
                        <a:defRPr sz="800">
                          <a:solidFill>
                            <a:srgbClr val="333333"/>
                          </a:solidFill>
                          <a:latin typeface="Calibri"/>
                        </a:defRPr>
                      </a:pPr>
                      <a:r>
                        <a:t>state + risk_score +</a:t>
                      </a:r>
                      <a:br/>
                      <a:r>
                        <a:t>sensor_alerts</a:t>
                      </a:r>
                    </a:p>
                  </a:txBody>
                  <a:tcPr>
                    <a:solidFill>
                      <a:srgbClr val="FFFFFF"/>
                    </a:solidFill>
                  </a:tcPr>
                </a:tc>
                <a:tc>
                  <a:txBody>
                    <a:bodyPr/>
                    <a:lstStyle/>
                    <a:p>
                      <a:pPr>
                        <a:defRPr sz="800">
                          <a:solidFill>
                            <a:srgbClr val="333333"/>
                          </a:solidFill>
                          <a:latin typeface="Calibri"/>
                        </a:defRPr>
                      </a:pPr>
                      <a:r>
                        <a:t>decisions[] with</a:t>
                      </a:r>
                      <a:br/>
                      <a:r>
                        <a:t>source attribution</a:t>
                      </a:r>
                    </a:p>
                  </a:txBody>
                  <a:tcPr>
                    <a:solidFill>
                      <a:srgbClr val="FFFFFF"/>
                    </a:solidFill>
                  </a:tcPr>
                </a:tc>
                <a:extLst>
                  <a:ext uri="{0D108BD9-81ED-4DB2-BD59-A6C34878D82A}">
                    <a16:rowId xmlns:a16="http://schemas.microsoft.com/office/drawing/2014/main" val="10003"/>
                  </a:ext>
                </a:extLst>
              </a:tr>
              <a:tr h="363415">
                <a:tc>
                  <a:txBody>
                    <a:bodyPr/>
                    <a:lstStyle/>
                    <a:p>
                      <a:pPr>
                        <a:defRPr sz="800">
                          <a:solidFill>
                            <a:srgbClr val="333333"/>
                          </a:solidFill>
                          <a:latin typeface="Calibri"/>
                        </a:defRPr>
                      </a:pPr>
                      <a:r>
                        <a:t>DyatlovAgent</a:t>
                      </a:r>
                    </a:p>
                  </a:txBody>
                  <a:tcPr>
                    <a:solidFill>
                      <a:srgbClr val="F2F2F2"/>
                    </a:solidFill>
                  </a:tcPr>
                </a:tc>
                <a:tc>
                  <a:txBody>
                    <a:bodyPr/>
                    <a:lstStyle/>
                    <a:p>
                      <a:pPr>
                        <a:defRPr sz="800">
                          <a:solidFill>
                            <a:srgbClr val="333333"/>
                          </a:solidFill>
                          <a:latin typeface="Calibri"/>
                        </a:defRPr>
                      </a:pPr>
                      <a:r>
                        <a:t>Yes</a:t>
                      </a:r>
                    </a:p>
                  </a:txBody>
                  <a:tcPr>
                    <a:solidFill>
                      <a:srgbClr val="F2F2F2"/>
                    </a:solidFill>
                  </a:tcPr>
                </a:tc>
                <a:tc>
                  <a:txBody>
                    <a:bodyPr/>
                    <a:lstStyle/>
                    <a:p>
                      <a:pPr>
                        <a:defRPr sz="800">
                          <a:solidFill>
                            <a:srgbClr val="333333"/>
                          </a:solidFill>
                          <a:latin typeface="Calibri"/>
                        </a:defRPr>
                      </a:pPr>
                      <a:r>
                        <a:t>Adversarial operator. 5 escalation phases from INSAG-7.</a:t>
                      </a:r>
                      <a:br/>
                      <a:r>
                        <a:t>Can delay LLM non-critical decisions, never rules.</a:t>
                      </a:r>
                    </a:p>
                  </a:txBody>
                  <a:tcPr>
                    <a:solidFill>
                      <a:srgbClr val="F2F2F2"/>
                    </a:solidFill>
                  </a:tcPr>
                </a:tc>
                <a:tc>
                  <a:txBody>
                    <a:bodyPr/>
                    <a:lstStyle/>
                    <a:p>
                      <a:pPr>
                        <a:defRPr sz="800">
                          <a:solidFill>
                            <a:srgbClr val="333333"/>
                          </a:solidFill>
                          <a:latin typeface="Calibri"/>
                        </a:defRPr>
                      </a:pPr>
                      <a:r>
                        <a:t>state + risk_score +</a:t>
                      </a:r>
                      <a:br/>
                      <a:r>
                        <a:t>decisions</a:t>
                      </a:r>
                    </a:p>
                  </a:txBody>
                  <a:tcPr>
                    <a:solidFill>
                      <a:srgbClr val="F2F2F2"/>
                    </a:solidFill>
                  </a:tcPr>
                </a:tc>
                <a:tc>
                  <a:txBody>
                    <a:bodyPr/>
                    <a:lstStyle/>
                    <a:p>
                      <a:pPr>
                        <a:defRPr sz="800">
                          <a:solidFill>
                            <a:srgbClr val="333333"/>
                          </a:solidFill>
                          <a:latin typeface="Calibri"/>
                        </a:defRPr>
                      </a:pPr>
                      <a:r>
                        <a:t>override_action,</a:t>
                      </a:r>
                      <a:br/>
                      <a:r>
                        <a:t>dialogue, intensity</a:t>
                      </a:r>
                    </a:p>
                  </a:txBody>
                  <a:tcPr>
                    <a:solidFill>
                      <a:srgbClr val="F2F2F2"/>
                    </a:solidFill>
                  </a:tcPr>
                </a:tc>
                <a:extLst>
                  <a:ext uri="{0D108BD9-81ED-4DB2-BD59-A6C34878D82A}">
                    <a16:rowId xmlns:a16="http://schemas.microsoft.com/office/drawing/2014/main" val="10004"/>
                  </a:ext>
                </a:extLst>
              </a:tr>
              <a:tr h="363415">
                <a:tc>
                  <a:txBody>
                    <a:bodyPr/>
                    <a:lstStyle/>
                    <a:p>
                      <a:pPr>
                        <a:defRPr sz="800">
                          <a:solidFill>
                            <a:srgbClr val="333333"/>
                          </a:solidFill>
                          <a:latin typeface="Calibri"/>
                        </a:defRPr>
                      </a:pPr>
                      <a:r>
                        <a:t>EvacuationAgent</a:t>
                      </a:r>
                    </a:p>
                  </a:txBody>
                  <a:tcPr>
                    <a:solidFill>
                      <a:srgbClr val="FFFFFF"/>
                    </a:solidFill>
                  </a:tcPr>
                </a:tc>
                <a:tc>
                  <a:txBody>
                    <a:bodyPr/>
                    <a:lstStyle/>
                    <a:p>
                      <a:pPr>
                        <a:defRPr sz="800">
                          <a:solidFill>
                            <a:srgbClr val="333333"/>
                          </a:solidFill>
                          <a:latin typeface="Calibri"/>
                        </a:defRPr>
                      </a:pPr>
                      <a:r>
                        <a:t>No</a:t>
                      </a:r>
                    </a:p>
                  </a:txBody>
                  <a:tcPr>
                    <a:solidFill>
                      <a:srgbClr val="FFFFFF"/>
                    </a:solidFill>
                  </a:tcPr>
                </a:tc>
                <a:tc>
                  <a:txBody>
                    <a:bodyPr/>
                    <a:lstStyle/>
                    <a:p>
                      <a:pPr>
                        <a:defRPr sz="800">
                          <a:solidFill>
                            <a:srgbClr val="333333"/>
                          </a:solidFill>
                          <a:latin typeface="Calibri"/>
                        </a:defRPr>
                      </a:pPr>
                      <a:r>
                        <a:t>Logistics: 49,000 residents, 1,200 buses, 45 capacity,</a:t>
                      </a:r>
                      <a:br/>
                      <a:r>
                        <a:t>3 routes, 30-min round trips. Auto-calculated.</a:t>
                      </a:r>
                    </a:p>
                  </a:txBody>
                  <a:tcPr>
                    <a:solidFill>
                      <a:srgbClr val="FFFFFF"/>
                    </a:solidFill>
                  </a:tcPr>
                </a:tc>
                <a:tc>
                  <a:txBody>
                    <a:bodyPr/>
                    <a:lstStyle/>
                    <a:p>
                      <a:pPr>
                        <a:defRPr sz="800">
                          <a:solidFill>
                            <a:srgbClr val="333333"/>
                          </a:solidFill>
                          <a:latin typeface="Calibri"/>
                        </a:defRPr>
                      </a:pPr>
                      <a:r>
                        <a:t>evacuation_ordered</a:t>
                      </a:r>
                      <a:br/>
                      <a:r>
                        <a:t>+ state</a:t>
                      </a:r>
                    </a:p>
                  </a:txBody>
                  <a:tcPr>
                    <a:solidFill>
                      <a:srgbClr val="FFFFFF"/>
                    </a:solidFill>
                  </a:tcPr>
                </a:tc>
                <a:tc>
                  <a:txBody>
                    <a:bodyPr/>
                    <a:lstStyle/>
                    <a:p>
                      <a:pPr>
                        <a:defRPr sz="800">
                          <a:solidFill>
                            <a:srgbClr val="333333"/>
                          </a:solidFill>
                          <a:latin typeface="Calibri"/>
                        </a:defRPr>
                      </a:pPr>
                      <a:r>
                        <a:t>evac_progress, routes,</a:t>
                      </a:r>
                      <a:br/>
                      <a:r>
                        <a:t>ETAs</a:t>
                      </a:r>
                    </a:p>
                  </a:txBody>
                  <a:tcPr>
                    <a:solidFill>
                      <a:srgbClr val="FFFFFF"/>
                    </a:solidFill>
                  </a:tcPr>
                </a:tc>
                <a:extLst>
                  <a:ext uri="{0D108BD9-81ED-4DB2-BD59-A6C34878D82A}">
                    <a16:rowId xmlns:a16="http://schemas.microsoft.com/office/drawing/2014/main" val="10005"/>
                  </a:ext>
                </a:extLst>
              </a:tr>
              <a:tr h="266505">
                <a:tc>
                  <a:txBody>
                    <a:bodyPr/>
                    <a:lstStyle/>
                    <a:p>
                      <a:pPr>
                        <a:defRPr sz="800">
                          <a:solidFill>
                            <a:srgbClr val="333333"/>
                          </a:solidFill>
                          <a:latin typeface="Calibri"/>
                        </a:defRPr>
                      </a:pPr>
                      <a:r>
                        <a:t>CommsAgent</a:t>
                      </a:r>
                    </a:p>
                  </a:txBody>
                  <a:tcPr>
                    <a:solidFill>
                      <a:srgbClr val="F2F2F2"/>
                    </a:solidFill>
                  </a:tcPr>
                </a:tc>
                <a:tc>
                  <a:txBody>
                    <a:bodyPr/>
                    <a:lstStyle/>
                    <a:p>
                      <a:pPr>
                        <a:defRPr sz="800">
                          <a:solidFill>
                            <a:srgbClr val="333333"/>
                          </a:solidFill>
                          <a:latin typeface="Calibri"/>
                        </a:defRPr>
                      </a:pPr>
                      <a:r>
                        <a:t>No</a:t>
                      </a:r>
                    </a:p>
                  </a:txBody>
                  <a:tcPr>
                    <a:solidFill>
                      <a:srgbClr val="F2F2F2"/>
                    </a:solidFill>
                  </a:tcPr>
                </a:tc>
                <a:tc>
                  <a:txBody>
                    <a:bodyPr/>
                    <a:lstStyle/>
                    <a:p>
                      <a:pPr>
                        <a:defRPr sz="800">
                          <a:solidFill>
                            <a:srgbClr val="333333"/>
                          </a:solidFill>
                          <a:latin typeface="Calibri"/>
                        </a:defRPr>
                      </a:pPr>
                      <a:r>
                        <a:t>Emergency broadcasts to IAEA, WHO, Belarus.</a:t>
                      </a:r>
                      <a:br/>
                      <a:r>
                        <a:t>Gaussian plume dispersion model at 5-300km.</a:t>
                      </a:r>
                    </a:p>
                  </a:txBody>
                  <a:tcPr>
                    <a:solidFill>
                      <a:srgbClr val="F2F2F2"/>
                    </a:solidFill>
                  </a:tcPr>
                </a:tc>
                <a:tc>
                  <a:txBody>
                    <a:bodyPr/>
                    <a:lstStyle/>
                    <a:p>
                      <a:pPr>
                        <a:defRPr sz="800">
                          <a:solidFill>
                            <a:srgbClr val="333333"/>
                          </a:solidFill>
                          <a:latin typeface="Calibri"/>
                        </a:defRPr>
                      </a:pPr>
                      <a:r>
                        <a:t>state + decisions</a:t>
                      </a:r>
                    </a:p>
                  </a:txBody>
                  <a:tcPr>
                    <a:solidFill>
                      <a:srgbClr val="F2F2F2"/>
                    </a:solidFill>
                  </a:tcPr>
                </a:tc>
                <a:tc>
                  <a:txBody>
                    <a:bodyPr/>
                    <a:lstStyle/>
                    <a:p>
                      <a:pPr>
                        <a:defRPr sz="800">
                          <a:solidFill>
                            <a:srgbClr val="333333"/>
                          </a:solidFill>
                          <a:latin typeface="Calibri"/>
                        </a:defRPr>
                      </a:pPr>
                      <a:r>
                        <a:rPr dirty="0" err="1"/>
                        <a:t>broadcast_msg</a:t>
                      </a:r>
                      <a:r>
                        <a:rPr dirty="0"/>
                        <a:t>,</a:t>
                      </a:r>
                      <a:br>
                        <a:rPr dirty="0"/>
                      </a:br>
                      <a:r>
                        <a:rPr dirty="0" err="1"/>
                        <a:t>plume_data</a:t>
                      </a:r>
                      <a:r>
                        <a:rPr dirty="0"/>
                        <a:t>[]</a:t>
                      </a:r>
                    </a:p>
                  </a:txBody>
                  <a:tcPr>
                    <a:solidFill>
                      <a:srgbClr val="F2F2F2"/>
                    </a:solidFill>
                  </a:tcPr>
                </a:tc>
                <a:extLst>
                  <a:ext uri="{0D108BD9-81ED-4DB2-BD59-A6C34878D82A}">
                    <a16:rowId xmlns:a16="http://schemas.microsoft.com/office/drawing/2014/main" val="10006"/>
                  </a:ext>
                </a:extLst>
              </a:tr>
            </a:tbl>
          </a:graphicData>
        </a:graphic>
      </p:graphicFrame>
      <p:sp>
        <p:nvSpPr>
          <p:cNvPr id="17" name="Rectangle 16"/>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6516624"/>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rPr dirty="0"/>
              <a:t>Company Confidential © Capgemini 2026. All rights reserved.</a:t>
            </a:r>
          </a:p>
        </p:txBody>
      </p:sp>
      <p:sp>
        <p:nvSpPr>
          <p:cNvPr id="19" name="TextBox 18"/>
          <p:cNvSpPr txBox="1"/>
          <p:nvPr/>
        </p:nvSpPr>
        <p:spPr>
          <a:xfrm>
            <a:off x="9448495" y="6516624"/>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rPr dirty="0" err="1"/>
              <a:t>WattAgents</a:t>
            </a:r>
            <a:r>
              <a:rPr dirty="0"/>
              <a:t> — PRIPYAT-1986 | 6/20</a:t>
            </a:r>
          </a:p>
        </p:txBody>
      </p:sp>
      <p:sp>
        <p:nvSpPr>
          <p:cNvPr id="16" name="Rounded Rectangle 15"/>
          <p:cNvSpPr/>
          <p:nvPr/>
        </p:nvSpPr>
        <p:spPr>
          <a:xfrm>
            <a:off x="457200" y="5038344"/>
            <a:ext cx="11277295" cy="150876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rPr dirty="0"/>
              <a:t>Per-Tick Pipeline (Orchestrator):</a:t>
            </a:r>
          </a:p>
          <a:p>
            <a:pPr>
              <a:spcBef>
                <a:spcPts val="0"/>
              </a:spcBef>
              <a:spcAft>
                <a:spcPts val="0"/>
              </a:spcAft>
              <a:defRPr sz="900">
                <a:solidFill>
                  <a:srgbClr val="333333"/>
                </a:solidFill>
                <a:latin typeface="Consolas"/>
              </a:defRPr>
            </a:pPr>
            <a:r>
              <a:rPr dirty="0"/>
              <a:t>Step 0: Reinject delayed decisions (from previous Dyatlov overrides)</a:t>
            </a:r>
          </a:p>
          <a:p>
            <a:pPr>
              <a:spcBef>
                <a:spcPts val="0"/>
              </a:spcBef>
              <a:spcAft>
                <a:spcPts val="0"/>
              </a:spcAft>
              <a:defRPr sz="900">
                <a:solidFill>
                  <a:srgbClr val="333333"/>
                </a:solidFill>
                <a:latin typeface="Consolas"/>
              </a:defRPr>
            </a:pPr>
            <a:r>
              <a:rPr dirty="0"/>
              <a:t>Step 1: </a:t>
            </a:r>
            <a:r>
              <a:rPr dirty="0" err="1"/>
              <a:t>SensorAgent.process</a:t>
            </a:r>
            <a:r>
              <a:rPr dirty="0"/>
              <a:t>(state) → </a:t>
            </a:r>
            <a:r>
              <a:rPr dirty="0" err="1"/>
              <a:t>sensor_alerts</a:t>
            </a:r>
            <a:endParaRPr dirty="0"/>
          </a:p>
          <a:p>
            <a:pPr>
              <a:spcBef>
                <a:spcPts val="0"/>
              </a:spcBef>
              <a:spcAft>
                <a:spcPts val="0"/>
              </a:spcAft>
              <a:defRPr sz="900">
                <a:solidFill>
                  <a:srgbClr val="333333"/>
                </a:solidFill>
                <a:latin typeface="Consolas"/>
              </a:defRPr>
            </a:pPr>
            <a:r>
              <a:rPr dirty="0"/>
              <a:t>Step 2: </a:t>
            </a:r>
            <a:r>
              <a:rPr dirty="0" err="1"/>
              <a:t>RiskAgent.process</a:t>
            </a:r>
            <a:r>
              <a:rPr dirty="0"/>
              <a:t>(state, </a:t>
            </a:r>
            <a:r>
              <a:rPr dirty="0" err="1"/>
              <a:t>sensor_alerts</a:t>
            </a:r>
            <a:r>
              <a:rPr dirty="0"/>
              <a:t>) → </a:t>
            </a:r>
            <a:r>
              <a:rPr dirty="0" err="1"/>
              <a:t>risk_score</a:t>
            </a:r>
            <a:r>
              <a:rPr dirty="0"/>
              <a:t>, </a:t>
            </a:r>
            <a:r>
              <a:rPr dirty="0" err="1"/>
              <a:t>risk_msg</a:t>
            </a:r>
            <a:endParaRPr dirty="0"/>
          </a:p>
          <a:p>
            <a:pPr>
              <a:spcBef>
                <a:spcPts val="0"/>
              </a:spcBef>
              <a:spcAft>
                <a:spcPts val="0"/>
              </a:spcAft>
              <a:defRPr sz="900">
                <a:solidFill>
                  <a:srgbClr val="333333"/>
                </a:solidFill>
                <a:latin typeface="Consolas"/>
              </a:defRPr>
            </a:pPr>
            <a:r>
              <a:rPr dirty="0"/>
              <a:t>Step 3: </a:t>
            </a:r>
            <a:r>
              <a:rPr dirty="0" err="1"/>
              <a:t>DecisionAgent.process</a:t>
            </a:r>
            <a:r>
              <a:rPr dirty="0"/>
              <a:t>(state, </a:t>
            </a:r>
            <a:r>
              <a:rPr dirty="0" err="1"/>
              <a:t>risk_score</a:t>
            </a:r>
            <a:r>
              <a:rPr dirty="0"/>
              <a:t>, </a:t>
            </a:r>
            <a:r>
              <a:rPr dirty="0" err="1"/>
              <a:t>sensor_alerts</a:t>
            </a:r>
            <a:r>
              <a:rPr dirty="0"/>
              <a:t>) → decisions[]</a:t>
            </a:r>
          </a:p>
          <a:p>
            <a:pPr>
              <a:spcBef>
                <a:spcPts val="0"/>
              </a:spcBef>
              <a:spcAft>
                <a:spcPts val="0"/>
              </a:spcAft>
              <a:defRPr sz="900">
                <a:solidFill>
                  <a:srgbClr val="333333"/>
                </a:solidFill>
                <a:latin typeface="Consolas"/>
              </a:defRPr>
            </a:pPr>
            <a:r>
              <a:rPr dirty="0"/>
              <a:t>Step 3.5: </a:t>
            </a:r>
            <a:r>
              <a:rPr dirty="0" err="1"/>
              <a:t>DyatlovAgent.process</a:t>
            </a:r>
            <a:r>
              <a:rPr dirty="0"/>
              <a:t>(state, </a:t>
            </a:r>
            <a:r>
              <a:rPr dirty="0" err="1"/>
              <a:t>risk_score</a:t>
            </a:r>
            <a:r>
              <a:rPr dirty="0"/>
              <a:t>, decisions) → </a:t>
            </a:r>
            <a:r>
              <a:rPr dirty="0" err="1"/>
              <a:t>dyatlov_response</a:t>
            </a:r>
            <a:endParaRPr dirty="0"/>
          </a:p>
          <a:p>
            <a:pPr>
              <a:spcBef>
                <a:spcPts val="0"/>
              </a:spcBef>
              <a:spcAft>
                <a:spcPts val="0"/>
              </a:spcAft>
              <a:defRPr sz="900">
                <a:solidFill>
                  <a:srgbClr val="333333"/>
                </a:solidFill>
                <a:latin typeface="Consolas"/>
              </a:defRPr>
            </a:pPr>
            <a:r>
              <a:rPr dirty="0"/>
              <a:t>Step 3.6: _</a:t>
            </a:r>
            <a:r>
              <a:rPr dirty="0" err="1"/>
              <a:t>resolve_overrides</a:t>
            </a:r>
            <a:r>
              <a:rPr dirty="0"/>
              <a:t>(decisions, </a:t>
            </a:r>
            <a:r>
              <a:rPr dirty="0" err="1"/>
              <a:t>dyatlov_response</a:t>
            </a:r>
            <a:r>
              <a:rPr dirty="0"/>
              <a:t>) → filtered decisions</a:t>
            </a:r>
          </a:p>
          <a:p>
            <a:pPr>
              <a:spcBef>
                <a:spcPts val="0"/>
              </a:spcBef>
              <a:spcAft>
                <a:spcPts val="0"/>
              </a:spcAft>
              <a:defRPr sz="900">
                <a:solidFill>
                  <a:srgbClr val="333333"/>
                </a:solidFill>
                <a:latin typeface="Consolas"/>
              </a:defRPr>
            </a:pPr>
            <a:r>
              <a:rPr dirty="0"/>
              <a:t>Step 4: </a:t>
            </a:r>
            <a:r>
              <a:rPr dirty="0" err="1"/>
              <a:t>EvacuationAgent.process</a:t>
            </a:r>
            <a:r>
              <a:rPr dirty="0"/>
              <a:t>(</a:t>
            </a:r>
            <a:r>
              <a:rPr dirty="0" err="1"/>
              <a:t>evacuation_ordered</a:t>
            </a:r>
            <a:r>
              <a:rPr dirty="0"/>
              <a:t>, state) → </a:t>
            </a:r>
            <a:r>
              <a:rPr dirty="0" err="1"/>
              <a:t>evac_progress</a:t>
            </a:r>
            <a:endParaRPr dirty="0"/>
          </a:p>
          <a:p>
            <a:pPr>
              <a:spcBef>
                <a:spcPts val="0"/>
              </a:spcBef>
              <a:spcAft>
                <a:spcPts val="0"/>
              </a:spcAft>
              <a:defRPr sz="900">
                <a:solidFill>
                  <a:srgbClr val="333333"/>
                </a:solidFill>
                <a:latin typeface="Consolas"/>
              </a:defRPr>
            </a:pPr>
            <a:r>
              <a:rPr dirty="0"/>
              <a:t>Step 5: </a:t>
            </a:r>
            <a:r>
              <a:rPr dirty="0" err="1"/>
              <a:t>CommsAgent.process</a:t>
            </a:r>
            <a:r>
              <a:rPr dirty="0"/>
              <a:t>(state, decisions) → broadcast, </a:t>
            </a:r>
            <a:r>
              <a:rPr dirty="0" err="1"/>
              <a:t>plume_data</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Guardrail-Union Pattern </a:t>
            </a:r>
            <a:r>
              <a:rPr lang="en-US" dirty="0"/>
              <a:t>:</a:t>
            </a:r>
            <a:r>
              <a:rPr dirty="0"/>
              <a:t> Core Innovation</a:t>
            </a:r>
          </a:p>
          <a:p>
            <a:pPr algn="l">
              <a:spcBef>
                <a:spcPts val="100"/>
              </a:spcBef>
              <a:spcAft>
                <a:spcPts val="100"/>
              </a:spcAft>
              <a:defRPr sz="1300" b="0">
                <a:solidFill>
                  <a:srgbClr val="88BBDD"/>
                </a:solidFill>
                <a:latin typeface="Calibri"/>
              </a:defRPr>
            </a:pPr>
            <a:r>
              <a:rPr dirty="0"/>
              <a:t>LLM can ADD safety actions but NEVER REMOVE them. Rules are non-negotiable.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72540"/>
            <a:ext cx="11277295" cy="123444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spcBef>
                <a:spcPts val="0"/>
              </a:spcBef>
              <a:spcAft>
                <a:spcPts val="0"/>
              </a:spcAft>
              <a:defRPr sz="900">
                <a:solidFill>
                  <a:srgbClr val="333333"/>
                </a:solidFill>
                <a:latin typeface="Consolas"/>
              </a:defRPr>
            </a:pPr>
            <a:r>
              <a:rPr b="1" dirty="0"/>
              <a:t>THE GUARDRAIL-UNION FORMULA:</a:t>
            </a:r>
          </a:p>
          <a:p>
            <a:pPr>
              <a:spcBef>
                <a:spcPts val="0"/>
              </a:spcBef>
              <a:spcAft>
                <a:spcPts val="0"/>
              </a:spcAft>
              <a:defRPr sz="900">
                <a:solidFill>
                  <a:srgbClr val="333333"/>
                </a:solidFill>
                <a:latin typeface="Consolas"/>
              </a:defRPr>
            </a:pPr>
            <a:r>
              <a:rPr dirty="0"/>
              <a:t>  Step 1: </a:t>
            </a:r>
            <a:r>
              <a:rPr dirty="0" err="1"/>
              <a:t>hard_actions</a:t>
            </a:r>
            <a:r>
              <a:rPr dirty="0"/>
              <a:t> = _</a:t>
            </a:r>
            <a:r>
              <a:rPr dirty="0" err="1"/>
              <a:t>rule_based_actions</a:t>
            </a:r>
            <a:r>
              <a:rPr dirty="0"/>
              <a:t>(state, </a:t>
            </a:r>
            <a:r>
              <a:rPr dirty="0" err="1"/>
              <a:t>risk_score</a:t>
            </a:r>
            <a:r>
              <a:rPr dirty="0"/>
              <a:t>)    # Safety floor — ALWAYS runs first</a:t>
            </a:r>
          </a:p>
          <a:p>
            <a:pPr>
              <a:spcBef>
                <a:spcPts val="0"/>
              </a:spcBef>
              <a:spcAft>
                <a:spcPts val="0"/>
              </a:spcAft>
              <a:defRPr sz="900">
                <a:solidFill>
                  <a:srgbClr val="333333"/>
                </a:solidFill>
                <a:latin typeface="Consolas"/>
              </a:defRPr>
            </a:pPr>
            <a:r>
              <a:rPr dirty="0"/>
              <a:t>  Step 2: </a:t>
            </a:r>
            <a:r>
              <a:rPr dirty="0" err="1"/>
              <a:t>llm_actions</a:t>
            </a:r>
            <a:r>
              <a:rPr dirty="0"/>
              <a:t>  = _</a:t>
            </a:r>
            <a:r>
              <a:rPr dirty="0" err="1"/>
              <a:t>llm_decide</a:t>
            </a:r>
            <a:r>
              <a:rPr dirty="0"/>
              <a:t>(state, </a:t>
            </a:r>
            <a:r>
              <a:rPr dirty="0" err="1"/>
              <a:t>risk_score</a:t>
            </a:r>
            <a:r>
              <a:rPr dirty="0"/>
              <a:t>, alerts)   # AI advisory — may add proactive actions</a:t>
            </a:r>
          </a:p>
          <a:p>
            <a:pPr>
              <a:spcBef>
                <a:spcPts val="0"/>
              </a:spcBef>
              <a:spcAft>
                <a:spcPts val="0"/>
              </a:spcAft>
              <a:defRPr sz="900">
                <a:solidFill>
                  <a:srgbClr val="333333"/>
                </a:solidFill>
                <a:latin typeface="Consolas"/>
              </a:defRPr>
            </a:pPr>
            <a:r>
              <a:rPr dirty="0"/>
              <a:t>  Step 3: </a:t>
            </a:r>
            <a:r>
              <a:rPr dirty="0" err="1"/>
              <a:t>final_actions</a:t>
            </a:r>
            <a:r>
              <a:rPr dirty="0"/>
              <a:t> = </a:t>
            </a:r>
            <a:r>
              <a:rPr dirty="0" err="1"/>
              <a:t>hard_actions</a:t>
            </a:r>
            <a:r>
              <a:rPr dirty="0"/>
              <a:t> ∪ </a:t>
            </a:r>
            <a:r>
              <a:rPr dirty="0" err="1"/>
              <a:t>llm_actions</a:t>
            </a:r>
            <a:r>
              <a:rPr dirty="0"/>
              <a:t>              # Set UNION — no duplicates</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  CRITICAL INVARIANT: LLM can ADD actions but NEVER REMOVE </a:t>
            </a:r>
            <a:r>
              <a:rPr dirty="0" err="1"/>
              <a:t>hard_actions</a:t>
            </a:r>
            <a:r>
              <a:rPr dirty="0"/>
              <a:t>.</a:t>
            </a:r>
          </a:p>
          <a:p>
            <a:pPr>
              <a:spcBef>
                <a:spcPts val="0"/>
              </a:spcBef>
              <a:spcAft>
                <a:spcPts val="0"/>
              </a:spcAft>
              <a:defRPr sz="900">
                <a:solidFill>
                  <a:srgbClr val="333333"/>
                </a:solidFill>
                <a:latin typeface="Consolas"/>
              </a:defRPr>
            </a:pPr>
            <a:r>
              <a:rPr dirty="0"/>
              <a:t>  If LLM fails/times out → </a:t>
            </a:r>
            <a:r>
              <a:rPr dirty="0" err="1"/>
              <a:t>final_actions</a:t>
            </a:r>
            <a:r>
              <a:rPr dirty="0"/>
              <a:t> = </a:t>
            </a:r>
            <a:r>
              <a:rPr dirty="0" err="1"/>
              <a:t>hard_actions</a:t>
            </a:r>
            <a:r>
              <a:rPr dirty="0"/>
              <a:t> (pure deterministic safety)</a:t>
            </a:r>
          </a:p>
        </p:txBody>
      </p:sp>
      <p:sp>
        <p:nvSpPr>
          <p:cNvPr id="5" name="Rectangle 4"/>
          <p:cNvSpPr/>
          <p:nvPr/>
        </p:nvSpPr>
        <p:spPr>
          <a:xfrm>
            <a:off x="457200" y="2644140"/>
            <a:ext cx="54864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Hard Guardrails (Non-Negotiable Rules)</a:t>
            </a:r>
          </a:p>
        </p:txBody>
      </p:sp>
      <p:sp>
        <p:nvSpPr>
          <p:cNvPr id="6" name="Rounded Rectangle 5"/>
          <p:cNvSpPr/>
          <p:nvPr/>
        </p:nvSpPr>
        <p:spPr>
          <a:xfrm>
            <a:off x="457200" y="2918460"/>
            <a:ext cx="5486400" cy="100584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lang="en-US" dirty="0"/>
              <a:t>R</a:t>
            </a:r>
            <a:r>
              <a:rPr dirty="0"/>
              <a:t>isk ≥ 85 → AZ-5 EMERGENCY SHUTDOWN (source: "rule") </a:t>
            </a:r>
            <a:r>
              <a:rPr lang="en-US" dirty="0"/>
              <a:t>-</a:t>
            </a:r>
            <a:r>
              <a:rPr dirty="0"/>
              <a:t> cannot be overridden by anyone</a:t>
            </a:r>
          </a:p>
          <a:p>
            <a:pPr>
              <a:spcBef>
                <a:spcPts val="100"/>
              </a:spcBef>
              <a:spcAft>
                <a:spcPts val="100"/>
              </a:spcAft>
              <a:defRPr sz="900" b="0">
                <a:solidFill>
                  <a:srgbClr val="333333"/>
                </a:solidFill>
                <a:latin typeface="Calibri"/>
              </a:defRPr>
            </a:pPr>
            <a:r>
              <a:rPr dirty="0"/>
              <a:t>radiation ≥ 100 mrem/h → IMMEDIATE EVACUATION (source: "rule") </a:t>
            </a:r>
            <a:r>
              <a:rPr lang="en-US" dirty="0"/>
              <a:t>-</a:t>
            </a:r>
            <a:r>
              <a:rPr dirty="0"/>
              <a:t> fires automatically</a:t>
            </a:r>
          </a:p>
          <a:p>
            <a:pPr>
              <a:spcBef>
                <a:spcPts val="100"/>
              </a:spcBef>
              <a:spcAft>
                <a:spcPts val="100"/>
              </a:spcAft>
              <a:defRPr sz="900" b="0">
                <a:solidFill>
                  <a:srgbClr val="333333"/>
                </a:solidFill>
                <a:latin typeface="Calibri"/>
              </a:defRPr>
            </a:pPr>
            <a:r>
              <a:rPr dirty="0"/>
              <a:t>ECCS disabled + power unstable → WARN_ECCS (source: "rule") </a:t>
            </a:r>
            <a:r>
              <a:rPr lang="en-US" dirty="0"/>
              <a:t>-</a:t>
            </a:r>
            <a:r>
              <a:rPr dirty="0"/>
              <a:t> always generated</a:t>
            </a:r>
          </a:p>
          <a:p>
            <a:pPr>
              <a:spcBef>
                <a:spcPts val="100"/>
              </a:spcBef>
              <a:spcAft>
                <a:spcPts val="100"/>
              </a:spcAft>
              <a:defRPr sz="900" b="0">
                <a:solidFill>
                  <a:srgbClr val="333333"/>
                </a:solidFill>
                <a:latin typeface="Calibri"/>
              </a:defRPr>
            </a:pPr>
            <a:r>
              <a:rPr dirty="0"/>
              <a:t>These trigger regardless of LLM output, Dyatlov pressure, or operator input</a:t>
            </a:r>
          </a:p>
        </p:txBody>
      </p:sp>
      <p:sp>
        <p:nvSpPr>
          <p:cNvPr id="7" name="Rectangle 6"/>
          <p:cNvSpPr/>
          <p:nvPr/>
        </p:nvSpPr>
        <p:spPr>
          <a:xfrm>
            <a:off x="6080760" y="2644140"/>
            <a:ext cx="5486400"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Anti-Hallucination Guards</a:t>
            </a:r>
          </a:p>
        </p:txBody>
      </p:sp>
      <p:sp>
        <p:nvSpPr>
          <p:cNvPr id="8" name="Rounded Rectangle 7"/>
          <p:cNvSpPr/>
          <p:nvPr/>
        </p:nvSpPr>
        <p:spPr>
          <a:xfrm>
            <a:off x="6080760" y="2918460"/>
            <a:ext cx="5486400" cy="960120"/>
          </a:xfrm>
          <a:prstGeom prst="roundRect">
            <a:avLst/>
          </a:prstGeom>
          <a:solidFill>
            <a:srgbClr val="FDF0E0"/>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LLM cannot trigger SCRAM if risk &lt; 40 (prevents false shutdowns)</a:t>
            </a:r>
          </a:p>
          <a:p>
            <a:pPr>
              <a:spcBef>
                <a:spcPts val="100"/>
              </a:spcBef>
              <a:spcAft>
                <a:spcPts val="100"/>
              </a:spcAft>
              <a:defRPr sz="900" b="0">
                <a:solidFill>
                  <a:srgbClr val="333333"/>
                </a:solidFill>
                <a:latin typeface="Calibri"/>
              </a:defRPr>
            </a:pPr>
            <a:r>
              <a:rPr dirty="0"/>
              <a:t>LLM cannot trigger ABORT if risk &lt; 30 (prevents unnecessary test stops)</a:t>
            </a:r>
          </a:p>
          <a:p>
            <a:pPr>
              <a:spcBef>
                <a:spcPts val="100"/>
              </a:spcBef>
              <a:spcAft>
                <a:spcPts val="100"/>
              </a:spcAft>
              <a:defRPr sz="900" b="0">
                <a:solidFill>
                  <a:srgbClr val="333333"/>
                </a:solidFill>
                <a:latin typeface="Calibri"/>
              </a:defRPr>
            </a:pPr>
            <a:r>
              <a:rPr dirty="0"/>
              <a:t>LLM outputs validated against JSON schema (DECISION_SCHEMA)</a:t>
            </a:r>
          </a:p>
          <a:p>
            <a:pPr>
              <a:spcBef>
                <a:spcPts val="100"/>
              </a:spcBef>
              <a:spcAft>
                <a:spcPts val="100"/>
              </a:spcAft>
              <a:defRPr sz="900" b="0">
                <a:solidFill>
                  <a:srgbClr val="333333"/>
                </a:solidFill>
                <a:latin typeface="Calibri"/>
              </a:defRPr>
            </a:pPr>
            <a:r>
              <a:rPr dirty="0"/>
              <a:t>Invalid/missing LLM response → fall back to rule-based actions only</a:t>
            </a:r>
          </a:p>
          <a:p>
            <a:pPr>
              <a:spcBef>
                <a:spcPts val="100"/>
              </a:spcBef>
              <a:spcAft>
                <a:spcPts val="100"/>
              </a:spcAft>
              <a:defRPr sz="900" b="0">
                <a:solidFill>
                  <a:srgbClr val="333333"/>
                </a:solidFill>
                <a:latin typeface="Calibri"/>
              </a:defRPr>
            </a:pPr>
            <a:r>
              <a:rPr dirty="0"/>
              <a:t>An unnecessary SCRAM is a safe failure (minor economic cost vs. catastrophic miss)</a:t>
            </a:r>
          </a:p>
        </p:txBody>
      </p:sp>
      <p:sp>
        <p:nvSpPr>
          <p:cNvPr id="9" name="TextBox 8"/>
          <p:cNvSpPr txBox="1"/>
          <p:nvPr/>
        </p:nvSpPr>
        <p:spPr>
          <a:xfrm>
            <a:off x="457200" y="4061460"/>
            <a:ext cx="11277295" cy="274320"/>
          </a:xfrm>
          <a:prstGeom prst="rect">
            <a:avLst/>
          </a:prstGeom>
          <a:noFill/>
        </p:spPr>
        <p:txBody>
          <a:bodyPr wrap="square">
            <a:spAutoFit/>
          </a:bodyPr>
          <a:lstStyle/>
          <a:p>
            <a:pPr algn="l">
              <a:spcBef>
                <a:spcPts val="100"/>
              </a:spcBef>
              <a:spcAft>
                <a:spcPts val="100"/>
              </a:spcAft>
              <a:defRPr sz="1200" b="1">
                <a:solidFill>
                  <a:srgbClr val="0C2340"/>
                </a:solidFill>
                <a:latin typeface="Calibri"/>
              </a:defRPr>
            </a:pPr>
            <a:r>
              <a:t>Human-in-the-Loop Decision Ladder (4 Escalation Levels):</a:t>
            </a:r>
          </a:p>
        </p:txBody>
      </p:sp>
      <p:graphicFrame>
        <p:nvGraphicFramePr>
          <p:cNvPr id="10" name="Table 9"/>
          <p:cNvGraphicFramePr>
            <a:graphicFrameLocks noGrp="1"/>
          </p:cNvGraphicFramePr>
          <p:nvPr/>
        </p:nvGraphicFramePr>
        <p:xfrm>
          <a:off x="457200" y="4335780"/>
          <a:ext cx="11277295" cy="137160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Risk Range</a:t>
                      </a:r>
                    </a:p>
                  </a:txBody>
                  <a:tcPr>
                    <a:solidFill>
                      <a:srgbClr val="009B8D"/>
                    </a:solidFill>
                  </a:tcPr>
                </a:tc>
                <a:tc>
                  <a:txBody>
                    <a:bodyPr/>
                    <a:lstStyle/>
                    <a:p>
                      <a:pPr>
                        <a:defRPr sz="900" b="1">
                          <a:solidFill>
                            <a:srgbClr val="FFFFFF"/>
                          </a:solidFill>
                          <a:latin typeface="Calibri"/>
                        </a:defRPr>
                      </a:pPr>
                      <a:r>
                        <a:t>Mode</a:t>
                      </a:r>
                    </a:p>
                  </a:txBody>
                  <a:tcPr>
                    <a:solidFill>
                      <a:srgbClr val="009B8D"/>
                    </a:solidFill>
                  </a:tcPr>
                </a:tc>
                <a:tc>
                  <a:txBody>
                    <a:bodyPr/>
                    <a:lstStyle/>
                    <a:p>
                      <a:pPr>
                        <a:defRPr sz="900" b="1">
                          <a:solidFill>
                            <a:srgbClr val="FFFFFF"/>
                          </a:solidFill>
                          <a:latin typeface="Calibri"/>
                        </a:defRPr>
                      </a:pPr>
                      <a:r>
                        <a:t>Dashboard State</a:t>
                      </a:r>
                    </a:p>
                  </a:txBody>
                  <a:tcPr>
                    <a:solidFill>
                      <a:srgbClr val="009B8D"/>
                    </a:solidFill>
                  </a:tcPr>
                </a:tc>
                <a:tc>
                  <a:txBody>
                    <a:bodyPr/>
                    <a:lstStyle/>
                    <a:p>
                      <a:pPr>
                        <a:defRPr sz="900" b="1">
                          <a:solidFill>
                            <a:srgbClr val="FFFFFF"/>
                          </a:solidFill>
                          <a:latin typeface="Calibri"/>
                        </a:defRPr>
                      </a:pPr>
                      <a:r>
                        <a:t>Operator Action</a:t>
                      </a:r>
                    </a:p>
                  </a:txBody>
                  <a:tcPr>
                    <a:solidFill>
                      <a:srgbClr val="009B8D"/>
                    </a:solidFill>
                  </a:tcPr>
                </a:tc>
                <a:tc>
                  <a:txBody>
                    <a:bodyPr/>
                    <a:lstStyle/>
                    <a:p>
                      <a:pPr>
                        <a:defRPr sz="900" b="1">
                          <a:solidFill>
                            <a:srgbClr val="FFFFFF"/>
                          </a:solidFill>
                          <a:latin typeface="Calibri"/>
                        </a:defRPr>
                      </a:pPr>
                      <a:r>
                        <a:t>AI Autonomy</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0 – 30</a:t>
                      </a:r>
                    </a:p>
                  </a:txBody>
                  <a:tcPr>
                    <a:solidFill>
                      <a:srgbClr val="FFFFFF"/>
                    </a:solidFill>
                  </a:tcPr>
                </a:tc>
                <a:tc>
                  <a:txBody>
                    <a:bodyPr/>
                    <a:lstStyle/>
                    <a:p>
                      <a:pPr>
                        <a:defRPr sz="800">
                          <a:solidFill>
                            <a:srgbClr val="333333"/>
                          </a:solidFill>
                          <a:latin typeface="Calibri"/>
                        </a:defRPr>
                      </a:pPr>
                      <a:r>
                        <a:t>Advisory</a:t>
                      </a:r>
                    </a:p>
                  </a:txBody>
                  <a:tcPr>
                    <a:solidFill>
                      <a:srgbClr val="FFFFFF"/>
                    </a:solidFill>
                  </a:tcPr>
                </a:tc>
                <a:tc>
                  <a:txBody>
                    <a:bodyPr/>
                    <a:lstStyle/>
                    <a:p>
                      <a:pPr>
                        <a:defRPr sz="800">
                          <a:solidFill>
                            <a:srgbClr val="333333"/>
                          </a:solidFill>
                          <a:latin typeface="Calibri"/>
                        </a:defRPr>
                      </a:pPr>
                      <a:r>
                        <a:t>GREEN indicators, normal telemetry</a:t>
                      </a:r>
                    </a:p>
                  </a:txBody>
                  <a:tcPr>
                    <a:solidFill>
                      <a:srgbClr val="FFFFFF"/>
                    </a:solidFill>
                  </a:tcPr>
                </a:tc>
                <a:tc>
                  <a:txBody>
                    <a:bodyPr/>
                    <a:lstStyle/>
                    <a:p>
                      <a:pPr>
                        <a:defRPr sz="800">
                          <a:solidFill>
                            <a:srgbClr val="333333"/>
                          </a:solidFill>
                          <a:latin typeface="Calibri"/>
                        </a:defRPr>
                      </a:pPr>
                      <a:r>
                        <a:t>Monitor only. No action required.</a:t>
                      </a:r>
                    </a:p>
                  </a:txBody>
                  <a:tcPr>
                    <a:solidFill>
                      <a:srgbClr val="FFFFFF"/>
                    </a:solidFill>
                  </a:tcPr>
                </a:tc>
                <a:tc>
                  <a:txBody>
                    <a:bodyPr/>
                    <a:lstStyle/>
                    <a:p>
                      <a:pPr>
                        <a:defRPr sz="800">
                          <a:solidFill>
                            <a:srgbClr val="333333"/>
                          </a:solidFill>
                          <a:latin typeface="Calibri"/>
                        </a:defRPr>
                      </a:pPr>
                      <a:r>
                        <a:t>AI monitors, no decisions</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30 – 60</a:t>
                      </a:r>
                    </a:p>
                  </a:txBody>
                  <a:tcPr>
                    <a:solidFill>
                      <a:srgbClr val="F2F2F2"/>
                    </a:solidFill>
                  </a:tcPr>
                </a:tc>
                <a:tc>
                  <a:txBody>
                    <a:bodyPr/>
                    <a:lstStyle/>
                    <a:p>
                      <a:pPr>
                        <a:defRPr sz="800">
                          <a:solidFill>
                            <a:srgbClr val="333333"/>
                          </a:solidFill>
                          <a:latin typeface="Calibri"/>
                        </a:defRPr>
                      </a:pPr>
                      <a:r>
                        <a:t>Informational</a:t>
                      </a:r>
                    </a:p>
                  </a:txBody>
                  <a:tcPr>
                    <a:solidFill>
                      <a:srgbClr val="F2F2F2"/>
                    </a:solidFill>
                  </a:tcPr>
                </a:tc>
                <a:tc>
                  <a:txBody>
                    <a:bodyPr/>
                    <a:lstStyle/>
                    <a:p>
                      <a:pPr>
                        <a:defRPr sz="800">
                          <a:solidFill>
                            <a:srgbClr val="333333"/>
                          </a:solidFill>
                          <a:latin typeface="Calibri"/>
                        </a:defRPr>
                      </a:pPr>
                      <a:r>
                        <a:t>YELLOW alert banner, recommendations shown</a:t>
                      </a:r>
                    </a:p>
                  </a:txBody>
                  <a:tcPr>
                    <a:solidFill>
                      <a:srgbClr val="F2F2F2"/>
                    </a:solidFill>
                  </a:tcPr>
                </a:tc>
                <a:tc>
                  <a:txBody>
                    <a:bodyPr/>
                    <a:lstStyle/>
                    <a:p>
                      <a:pPr>
                        <a:defRPr sz="800">
                          <a:solidFill>
                            <a:srgbClr val="333333"/>
                          </a:solidFill>
                          <a:latin typeface="Calibri"/>
                        </a:defRPr>
                      </a:pPr>
                      <a:r>
                        <a:t>Review AI recommendations.</a:t>
                      </a:r>
                    </a:p>
                  </a:txBody>
                  <a:tcPr>
                    <a:solidFill>
                      <a:srgbClr val="F2F2F2"/>
                    </a:solidFill>
                  </a:tcPr>
                </a:tc>
                <a:tc>
                  <a:txBody>
                    <a:bodyPr/>
                    <a:lstStyle/>
                    <a:p>
                      <a:pPr>
                        <a:defRPr sz="800">
                          <a:solidFill>
                            <a:srgbClr val="333333"/>
                          </a:solidFill>
                          <a:latin typeface="Calibri"/>
                        </a:defRPr>
                      </a:pPr>
                      <a:r>
                        <a:t>AI suggests, operator decides</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60 – 85</a:t>
                      </a:r>
                    </a:p>
                  </a:txBody>
                  <a:tcPr>
                    <a:solidFill>
                      <a:srgbClr val="FFFFFF"/>
                    </a:solidFill>
                  </a:tcPr>
                </a:tc>
                <a:tc>
                  <a:txBody>
                    <a:bodyPr/>
                    <a:lstStyle/>
                    <a:p>
                      <a:pPr>
                        <a:defRPr sz="800">
                          <a:solidFill>
                            <a:srgbClr val="333333"/>
                          </a:solidFill>
                          <a:latin typeface="Calibri"/>
                        </a:defRPr>
                      </a:pPr>
                      <a:r>
                        <a:t>Confirmation</a:t>
                      </a:r>
                    </a:p>
                  </a:txBody>
                  <a:tcPr>
                    <a:solidFill>
                      <a:srgbClr val="FFFFFF"/>
                    </a:solidFill>
                  </a:tcPr>
                </a:tc>
                <a:tc>
                  <a:txBody>
                    <a:bodyPr/>
                    <a:lstStyle/>
                    <a:p>
                      <a:pPr>
                        <a:defRPr sz="800">
                          <a:solidFill>
                            <a:srgbClr val="333333"/>
                          </a:solidFill>
                          <a:latin typeface="Calibri"/>
                        </a:defRPr>
                      </a:pPr>
                      <a:r>
                        <a:t>ORANGE modal + structured reasoning panel</a:t>
                      </a:r>
                    </a:p>
                  </a:txBody>
                  <a:tcPr>
                    <a:solidFill>
                      <a:srgbClr val="FFFFFF"/>
                    </a:solidFill>
                  </a:tcPr>
                </a:tc>
                <a:tc>
                  <a:txBody>
                    <a:bodyPr/>
                    <a:lstStyle/>
                    <a:p>
                      <a:pPr>
                        <a:defRPr sz="800">
                          <a:solidFill>
                            <a:srgbClr val="333333"/>
                          </a:solidFill>
                          <a:latin typeface="Calibri"/>
                        </a:defRPr>
                      </a:pPr>
                      <a:r>
                        <a:t>Must confirm/reject within 3 ticks (~3 min).</a:t>
                      </a:r>
                    </a:p>
                  </a:txBody>
                  <a:tcPr>
                    <a:solidFill>
                      <a:srgbClr val="FFFFFF"/>
                    </a:solidFill>
                  </a:tcPr>
                </a:tc>
                <a:tc>
                  <a:txBody>
                    <a:bodyPr/>
                    <a:lstStyle/>
                    <a:p>
                      <a:pPr>
                        <a:defRPr sz="800">
                          <a:solidFill>
                            <a:srgbClr val="333333"/>
                          </a:solidFill>
                          <a:latin typeface="Calibri"/>
                        </a:defRPr>
                      </a:pPr>
                      <a:r>
                        <a:t>AI recommends, awaits confirmation</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&gt; 85</a:t>
                      </a:r>
                    </a:p>
                  </a:txBody>
                  <a:tcPr>
                    <a:solidFill>
                      <a:srgbClr val="F2F2F2"/>
                    </a:solidFill>
                  </a:tcPr>
                </a:tc>
                <a:tc>
                  <a:txBody>
                    <a:bodyPr/>
                    <a:lstStyle/>
                    <a:p>
                      <a:pPr>
                        <a:defRPr sz="800">
                          <a:solidFill>
                            <a:srgbClr val="333333"/>
                          </a:solidFill>
                          <a:latin typeface="Calibri"/>
                        </a:defRPr>
                      </a:pPr>
                      <a:r>
                        <a:t>Auto-Execute</a:t>
                      </a:r>
                    </a:p>
                  </a:txBody>
                  <a:tcPr>
                    <a:solidFill>
                      <a:srgbClr val="F2F2F2"/>
                    </a:solidFill>
                  </a:tcPr>
                </a:tc>
                <a:tc>
                  <a:txBody>
                    <a:bodyPr/>
                    <a:lstStyle/>
                    <a:p>
                      <a:pPr>
                        <a:defRPr sz="800">
                          <a:solidFill>
                            <a:srgbClr val="333333"/>
                          </a:solidFill>
                          <a:latin typeface="Calibri"/>
                        </a:defRPr>
                      </a:pPr>
                      <a:r>
                        <a:t>RED flash, SCRAM fires immediately</a:t>
                      </a:r>
                    </a:p>
                  </a:txBody>
                  <a:tcPr>
                    <a:solidFill>
                      <a:srgbClr val="F2F2F2"/>
                    </a:solidFill>
                  </a:tcPr>
                </a:tc>
                <a:tc>
                  <a:txBody>
                    <a:bodyPr/>
                    <a:lstStyle/>
                    <a:p>
                      <a:pPr>
                        <a:defRPr sz="800">
                          <a:solidFill>
                            <a:srgbClr val="333333"/>
                          </a:solidFill>
                          <a:latin typeface="Calibri"/>
                        </a:defRPr>
                      </a:pPr>
                      <a:r>
                        <a:t>Observe only. Cannot override.</a:t>
                      </a:r>
                    </a:p>
                  </a:txBody>
                  <a:tcPr>
                    <a:solidFill>
                      <a:srgbClr val="F2F2F2"/>
                    </a:solidFill>
                  </a:tcPr>
                </a:tc>
                <a:tc>
                  <a:txBody>
                    <a:bodyPr/>
                    <a:lstStyle/>
                    <a:p>
                      <a:pPr>
                        <a:defRPr sz="800">
                          <a:solidFill>
                            <a:srgbClr val="333333"/>
                          </a:solidFill>
                          <a:latin typeface="Calibri"/>
                        </a:defRPr>
                      </a:pPr>
                      <a:r>
                        <a:t>AI executes. Non-negotiable.</a:t>
                      </a:r>
                    </a:p>
                  </a:txBody>
                  <a:tcPr>
                    <a:solidFill>
                      <a:srgbClr val="F2F2F2"/>
                    </a:solidFill>
                  </a:tcPr>
                </a:tc>
                <a:extLst>
                  <a:ext uri="{0D108BD9-81ED-4DB2-BD59-A6C34878D82A}">
                    <a16:rowId xmlns:a16="http://schemas.microsoft.com/office/drawing/2014/main" val="10004"/>
                  </a:ext>
                </a:extLst>
              </a:tr>
            </a:tbl>
          </a:graphicData>
        </a:graphic>
      </p:graphicFrame>
      <p:sp>
        <p:nvSpPr>
          <p:cNvPr id="11" name="Rounded Rectangle 10"/>
          <p:cNvSpPr/>
          <p:nvPr/>
        </p:nvSpPr>
        <p:spPr>
          <a:xfrm>
            <a:off x="457352" y="5890260"/>
            <a:ext cx="11277295" cy="41148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000" b="1">
                <a:solidFill>
                  <a:srgbClr val="0C2340"/>
                </a:solidFill>
                <a:latin typeface="Calibri"/>
              </a:defRPr>
            </a:pPr>
            <a:r>
              <a:rPr dirty="0"/>
              <a:t>Design Principle: "The system is safer without AI than with a compromised AI."</a:t>
            </a:r>
            <a:r>
              <a:rPr lang="en-US" dirty="0"/>
              <a:t> :</a:t>
            </a:r>
            <a:r>
              <a:rPr dirty="0"/>
              <a:t> All failure modes degrade toward MORE safety (deterministic rules), never less. False positives are safe failures.</a:t>
            </a:r>
          </a:p>
        </p:txBody>
      </p:sp>
      <p:sp>
        <p:nvSpPr>
          <p:cNvPr id="12" name="Rectangle 11"/>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4" name="TextBox 13"/>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7/20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Risk Scoring </a:t>
            </a:r>
            <a:r>
              <a:rPr lang="en-US" dirty="0"/>
              <a:t>:</a:t>
            </a:r>
            <a:r>
              <a:rPr dirty="0"/>
              <a:t> Complete Formula</a:t>
            </a:r>
          </a:p>
          <a:p>
            <a:pPr algn="l">
              <a:spcBef>
                <a:spcPts val="100"/>
              </a:spcBef>
              <a:spcAft>
                <a:spcPts val="100"/>
              </a:spcAft>
              <a:defRPr sz="1300" b="0">
                <a:solidFill>
                  <a:srgbClr val="88BBDD"/>
                </a:solidFill>
                <a:latin typeface="Calibri"/>
              </a:defRPr>
            </a:pPr>
            <a:r>
              <a:rPr dirty="0" err="1"/>
              <a:t>RiskAgent</a:t>
            </a:r>
            <a:r>
              <a:rPr dirty="0"/>
              <a:t>: 70% Azure OpenAI GPT-4o + 30% Deterministic Rules</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72540"/>
            <a:ext cx="11277295" cy="201168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spcBef>
                <a:spcPts val="0"/>
              </a:spcBef>
              <a:spcAft>
                <a:spcPts val="0"/>
              </a:spcAft>
              <a:defRPr sz="900">
                <a:solidFill>
                  <a:srgbClr val="333333"/>
                </a:solidFill>
                <a:latin typeface="Consolas"/>
              </a:defRPr>
            </a:pPr>
            <a:r>
              <a:rPr b="1" dirty="0"/>
              <a:t>RULE-BASED SCORE FORMULA:</a:t>
            </a:r>
          </a:p>
          <a:p>
            <a:pPr>
              <a:spcBef>
                <a:spcPts val="0"/>
              </a:spcBef>
              <a:spcAft>
                <a:spcPts val="0"/>
              </a:spcAft>
              <a:defRPr sz="900">
                <a:solidFill>
                  <a:srgbClr val="333333"/>
                </a:solidFill>
                <a:latin typeface="Consolas"/>
              </a:defRPr>
            </a:pPr>
            <a:r>
              <a:rPr dirty="0"/>
              <a:t>  </a:t>
            </a:r>
            <a:r>
              <a:rPr dirty="0" err="1"/>
              <a:t>rule_score</a:t>
            </a:r>
            <a:r>
              <a:rPr dirty="0"/>
              <a:t> = Σ(</a:t>
            </a:r>
            <a:r>
              <a:rPr dirty="0" err="1"/>
              <a:t>dimension_score</a:t>
            </a:r>
            <a:r>
              <a:rPr dirty="0"/>
              <a:t> × weight) × </a:t>
            </a:r>
            <a:r>
              <a:rPr dirty="0" err="1"/>
              <a:t>compound_multiplier</a:t>
            </a:r>
            <a:r>
              <a:rPr dirty="0"/>
              <a:t> + </a:t>
            </a:r>
            <a:r>
              <a:rPr dirty="0" err="1"/>
              <a:t>eccs_penalty</a:t>
            </a:r>
            <a:endParaRPr dirty="0"/>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WEIGHTS: power(0.30) + rods(0.25) + coolant(0.15) + steam(0.15) + temp(0.10) + radiation(0.05) = 1.0</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COMPOUND MULTIPLIER: 1.0 + (violations_over_60 × 0.15)  — where violations = # dimensions scoring ≥ 60</a:t>
            </a:r>
          </a:p>
          <a:p>
            <a:pPr>
              <a:spcBef>
                <a:spcPts val="0"/>
              </a:spcBef>
              <a:spcAft>
                <a:spcPts val="0"/>
              </a:spcAft>
              <a:defRPr sz="900">
                <a:solidFill>
                  <a:srgbClr val="333333"/>
                </a:solidFill>
                <a:latin typeface="Consolas"/>
              </a:defRPr>
            </a:pPr>
            <a:r>
              <a:rPr dirty="0"/>
              <a:t>  Example: 3 dimensions critical → multiplier = 1.0 + (3 × 0.15) = 1.45 → 45% risk amplification</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ECCS PENALTY: +15 points if ECCS disabled (regardless of other scores)</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SURGE DETECTION: power &gt; 500 MW AND rods &lt; 15 → instant score = 100 (catches actual explosion scenario)</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FINAL BLEND: </a:t>
            </a:r>
            <a:r>
              <a:rPr dirty="0" err="1"/>
              <a:t>final_risk</a:t>
            </a:r>
            <a:r>
              <a:rPr dirty="0"/>
              <a:t> = 0.7 × </a:t>
            </a:r>
            <a:r>
              <a:rPr dirty="0" err="1"/>
              <a:t>llm_score</a:t>
            </a:r>
            <a:r>
              <a:rPr dirty="0"/>
              <a:t> + 0.3 × </a:t>
            </a:r>
            <a:r>
              <a:rPr dirty="0" err="1"/>
              <a:t>rule_score</a:t>
            </a:r>
            <a:endParaRPr dirty="0"/>
          </a:p>
          <a:p>
            <a:pPr>
              <a:spcBef>
                <a:spcPts val="0"/>
              </a:spcBef>
              <a:spcAft>
                <a:spcPts val="0"/>
              </a:spcAft>
              <a:defRPr sz="900">
                <a:solidFill>
                  <a:srgbClr val="333333"/>
                </a:solidFill>
                <a:latin typeface="Consolas"/>
              </a:defRPr>
            </a:pPr>
            <a:r>
              <a:rPr dirty="0"/>
              <a:t>  If LLM unavailable: </a:t>
            </a:r>
            <a:r>
              <a:rPr dirty="0" err="1"/>
              <a:t>final_risk</a:t>
            </a:r>
            <a:r>
              <a:rPr dirty="0"/>
              <a:t> = 100% </a:t>
            </a:r>
            <a:r>
              <a:rPr dirty="0" err="1"/>
              <a:t>rule_score</a:t>
            </a:r>
            <a:r>
              <a:rPr dirty="0"/>
              <a:t> (graceful degradation)</a:t>
            </a:r>
          </a:p>
        </p:txBody>
      </p:sp>
      <p:sp>
        <p:nvSpPr>
          <p:cNvPr id="5" name="TextBox 4"/>
          <p:cNvSpPr txBox="1"/>
          <p:nvPr/>
        </p:nvSpPr>
        <p:spPr>
          <a:xfrm>
            <a:off x="457200" y="3421380"/>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Dimension Scoring Thresholds (RBMK-1000 Safety Limits from INSAG-7):</a:t>
            </a:r>
          </a:p>
        </p:txBody>
      </p:sp>
      <p:graphicFrame>
        <p:nvGraphicFramePr>
          <p:cNvPr id="6" name="Table 5"/>
          <p:cNvGraphicFramePr>
            <a:graphicFrameLocks noGrp="1"/>
          </p:cNvGraphicFramePr>
          <p:nvPr/>
        </p:nvGraphicFramePr>
        <p:xfrm>
          <a:off x="457200" y="3649980"/>
          <a:ext cx="11277295" cy="198120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1879549">
                  <a:extLst>
                    <a:ext uri="{9D8B030D-6E8A-4147-A177-3AD203B41FA5}">
                      <a16:colId xmlns:a16="http://schemas.microsoft.com/office/drawing/2014/main" val="20001"/>
                    </a:ext>
                  </a:extLst>
                </a:gridCol>
                <a:gridCol w="1879549">
                  <a:extLst>
                    <a:ext uri="{9D8B030D-6E8A-4147-A177-3AD203B41FA5}">
                      <a16:colId xmlns:a16="http://schemas.microsoft.com/office/drawing/2014/main" val="20002"/>
                    </a:ext>
                  </a:extLst>
                </a:gridCol>
                <a:gridCol w="1879549">
                  <a:extLst>
                    <a:ext uri="{9D8B030D-6E8A-4147-A177-3AD203B41FA5}">
                      <a16:colId xmlns:a16="http://schemas.microsoft.com/office/drawing/2014/main" val="20003"/>
                    </a:ext>
                  </a:extLst>
                </a:gridCol>
                <a:gridCol w="1879549">
                  <a:extLst>
                    <a:ext uri="{9D8B030D-6E8A-4147-A177-3AD203B41FA5}">
                      <a16:colId xmlns:a16="http://schemas.microsoft.com/office/drawing/2014/main" val="20004"/>
                    </a:ext>
                  </a:extLst>
                </a:gridCol>
                <a:gridCol w="1879550">
                  <a:extLst>
                    <a:ext uri="{9D8B030D-6E8A-4147-A177-3AD203B41FA5}">
                      <a16:colId xmlns:a16="http://schemas.microsoft.com/office/drawing/2014/main" val="20005"/>
                    </a:ext>
                  </a:extLst>
                </a:gridCol>
              </a:tblGrid>
              <a:tr h="274320">
                <a:tc>
                  <a:txBody>
                    <a:bodyPr/>
                    <a:lstStyle/>
                    <a:p>
                      <a:pPr>
                        <a:defRPr sz="900" b="1">
                          <a:solidFill>
                            <a:srgbClr val="FFFFFF"/>
                          </a:solidFill>
                          <a:latin typeface="Calibri"/>
                        </a:defRPr>
                      </a:pPr>
                      <a:r>
                        <a:t>Dimension</a:t>
                      </a:r>
                    </a:p>
                  </a:txBody>
                  <a:tcPr>
                    <a:solidFill>
                      <a:srgbClr val="009B8D"/>
                    </a:solidFill>
                  </a:tcPr>
                </a:tc>
                <a:tc>
                  <a:txBody>
                    <a:bodyPr/>
                    <a:lstStyle/>
                    <a:p>
                      <a:pPr>
                        <a:defRPr sz="900" b="1">
                          <a:solidFill>
                            <a:srgbClr val="FFFFFF"/>
                          </a:solidFill>
                          <a:latin typeface="Calibri"/>
                        </a:defRPr>
                      </a:pPr>
                      <a:r>
                        <a:t>Nominal</a:t>
                      </a:r>
                    </a:p>
                  </a:txBody>
                  <a:tcPr>
                    <a:solidFill>
                      <a:srgbClr val="009B8D"/>
                    </a:solidFill>
                  </a:tcPr>
                </a:tc>
                <a:tc>
                  <a:txBody>
                    <a:bodyPr/>
                    <a:lstStyle/>
                    <a:p>
                      <a:pPr>
                        <a:defRPr sz="900" b="1">
                          <a:solidFill>
                            <a:srgbClr val="FFFFFF"/>
                          </a:solidFill>
                          <a:latin typeface="Calibri"/>
                        </a:defRPr>
                      </a:pPr>
                      <a:r>
                        <a:t>Warning (Score 40-60)</a:t>
                      </a:r>
                    </a:p>
                  </a:txBody>
                  <a:tcPr>
                    <a:solidFill>
                      <a:srgbClr val="009B8D"/>
                    </a:solidFill>
                  </a:tcPr>
                </a:tc>
                <a:tc>
                  <a:txBody>
                    <a:bodyPr/>
                    <a:lstStyle/>
                    <a:p>
                      <a:pPr>
                        <a:defRPr sz="900" b="1">
                          <a:solidFill>
                            <a:srgbClr val="FFFFFF"/>
                          </a:solidFill>
                          <a:latin typeface="Calibri"/>
                        </a:defRPr>
                      </a:pPr>
                      <a:r>
                        <a:t>Critical (Score 80-100)</a:t>
                      </a:r>
                    </a:p>
                  </a:txBody>
                  <a:tcPr>
                    <a:solidFill>
                      <a:srgbClr val="009B8D"/>
                    </a:solidFill>
                  </a:tcPr>
                </a:tc>
                <a:tc>
                  <a:txBody>
                    <a:bodyPr/>
                    <a:lstStyle/>
                    <a:p>
                      <a:pPr>
                        <a:defRPr sz="900" b="1">
                          <a:solidFill>
                            <a:srgbClr val="FFFFFF"/>
                          </a:solidFill>
                          <a:latin typeface="Calibri"/>
                        </a:defRPr>
                      </a:pPr>
                      <a:r>
                        <a:t>Weight</a:t>
                      </a:r>
                    </a:p>
                  </a:txBody>
                  <a:tcPr>
                    <a:solidFill>
                      <a:srgbClr val="009B8D"/>
                    </a:solidFill>
                  </a:tcPr>
                </a:tc>
                <a:tc>
                  <a:txBody>
                    <a:bodyPr/>
                    <a:lstStyle/>
                    <a:p>
                      <a:pPr>
                        <a:defRPr sz="900" b="1">
                          <a:solidFill>
                            <a:srgbClr val="FFFFFF"/>
                          </a:solidFill>
                          <a:latin typeface="Calibri"/>
                        </a:defRPr>
                      </a:pPr>
                      <a:r>
                        <a:t>Scoring Logic</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Power</a:t>
                      </a:r>
                    </a:p>
                  </a:txBody>
                  <a:tcPr>
                    <a:solidFill>
                      <a:srgbClr val="FFFFFF"/>
                    </a:solidFill>
                  </a:tcPr>
                </a:tc>
                <a:tc>
                  <a:txBody>
                    <a:bodyPr/>
                    <a:lstStyle/>
                    <a:p>
                      <a:pPr>
                        <a:defRPr sz="800">
                          <a:solidFill>
                            <a:srgbClr val="333333"/>
                          </a:solidFill>
                          <a:latin typeface="Calibri"/>
                        </a:defRPr>
                      </a:pPr>
                      <a:r>
                        <a:t>3200 MW</a:t>
                      </a:r>
                    </a:p>
                  </a:txBody>
                  <a:tcPr>
                    <a:solidFill>
                      <a:srgbClr val="FFFFFF"/>
                    </a:solidFill>
                  </a:tcPr>
                </a:tc>
                <a:tc>
                  <a:txBody>
                    <a:bodyPr/>
                    <a:lstStyle/>
                    <a:p>
                      <a:pPr>
                        <a:defRPr sz="800">
                          <a:solidFill>
                            <a:srgbClr val="333333"/>
                          </a:solidFill>
                          <a:latin typeface="Calibri"/>
                        </a:defRPr>
                      </a:pPr>
                      <a:r>
                        <a:t>danger_low: 200 MW (80)</a:t>
                      </a:r>
                    </a:p>
                  </a:txBody>
                  <a:tcPr>
                    <a:solidFill>
                      <a:srgbClr val="FFFFFF"/>
                    </a:solidFill>
                  </a:tcPr>
                </a:tc>
                <a:tc>
                  <a:txBody>
                    <a:bodyPr/>
                    <a:lstStyle/>
                    <a:p>
                      <a:pPr>
                        <a:defRPr sz="800">
                          <a:solidFill>
                            <a:srgbClr val="333333"/>
                          </a:solidFill>
                          <a:latin typeface="Calibri"/>
                        </a:defRPr>
                      </a:pPr>
                      <a:r>
                        <a:t>critical_low: 30 MW (100)</a:t>
                      </a:r>
                    </a:p>
                  </a:txBody>
                  <a:tcPr>
                    <a:solidFill>
                      <a:srgbClr val="FFFFFF"/>
                    </a:solidFill>
                  </a:tcPr>
                </a:tc>
                <a:tc>
                  <a:txBody>
                    <a:bodyPr/>
                    <a:lstStyle/>
                    <a:p>
                      <a:pPr>
                        <a:defRPr sz="800">
                          <a:solidFill>
                            <a:srgbClr val="333333"/>
                          </a:solidFill>
                          <a:latin typeface="Calibri"/>
                        </a:defRPr>
                      </a:pPr>
                      <a:r>
                        <a:t>0.30</a:t>
                      </a:r>
                    </a:p>
                  </a:txBody>
                  <a:tcPr>
                    <a:solidFill>
                      <a:srgbClr val="FFFFFF"/>
                    </a:solidFill>
                  </a:tcPr>
                </a:tc>
                <a:tc>
                  <a:txBody>
                    <a:bodyPr/>
                    <a:lstStyle/>
                    <a:p>
                      <a:pPr>
                        <a:defRPr sz="800">
                          <a:solidFill>
                            <a:srgbClr val="333333"/>
                          </a:solidFill>
                          <a:latin typeface="Calibri"/>
                        </a:defRPr>
                      </a:pPr>
                      <a:r>
                        <a:t>Below test target 700 MW → score 40+</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Control Rods</a:t>
                      </a:r>
                    </a:p>
                  </a:txBody>
                  <a:tcPr>
                    <a:solidFill>
                      <a:srgbClr val="F2F2F2"/>
                    </a:solidFill>
                  </a:tcPr>
                </a:tc>
                <a:tc>
                  <a:txBody>
                    <a:bodyPr/>
                    <a:lstStyle/>
                    <a:p>
                      <a:pPr>
                        <a:defRPr sz="800">
                          <a:solidFill>
                            <a:srgbClr val="333333"/>
                          </a:solidFill>
                          <a:latin typeface="Calibri"/>
                        </a:defRPr>
                      </a:pPr>
                      <a:r>
                        <a:t>211 total</a:t>
                      </a:r>
                    </a:p>
                  </a:txBody>
                  <a:tcPr>
                    <a:solidFill>
                      <a:srgbClr val="F2F2F2"/>
                    </a:solidFill>
                  </a:tcPr>
                </a:tc>
                <a:tc>
                  <a:txBody>
                    <a:bodyPr/>
                    <a:lstStyle/>
                    <a:p>
                      <a:pPr>
                        <a:defRPr sz="800">
                          <a:solidFill>
                            <a:srgbClr val="333333"/>
                          </a:solidFill>
                          <a:latin typeface="Calibri"/>
                        </a:defRPr>
                      </a:pPr>
                      <a:r>
                        <a:t>minimum_safe: 30 (70)</a:t>
                      </a:r>
                    </a:p>
                  </a:txBody>
                  <a:tcPr>
                    <a:solidFill>
                      <a:srgbClr val="F2F2F2"/>
                    </a:solidFill>
                  </a:tcPr>
                </a:tc>
                <a:tc>
                  <a:txBody>
                    <a:bodyPr/>
                    <a:lstStyle/>
                    <a:p>
                      <a:pPr>
                        <a:defRPr sz="800">
                          <a:solidFill>
                            <a:srgbClr val="333333"/>
                          </a:solidFill>
                          <a:latin typeface="Calibri"/>
                        </a:defRPr>
                      </a:pPr>
                      <a:r>
                        <a:t>critical_low: 15 (100)</a:t>
                      </a:r>
                    </a:p>
                  </a:txBody>
                  <a:tcPr>
                    <a:solidFill>
                      <a:srgbClr val="F2F2F2"/>
                    </a:solidFill>
                  </a:tcPr>
                </a:tc>
                <a:tc>
                  <a:txBody>
                    <a:bodyPr/>
                    <a:lstStyle/>
                    <a:p>
                      <a:pPr>
                        <a:defRPr sz="800">
                          <a:solidFill>
                            <a:srgbClr val="333333"/>
                          </a:solidFill>
                          <a:latin typeface="Calibri"/>
                        </a:defRPr>
                      </a:pPr>
                      <a:r>
                        <a:t>0.25</a:t>
                      </a:r>
                    </a:p>
                  </a:txBody>
                  <a:tcPr>
                    <a:solidFill>
                      <a:srgbClr val="F2F2F2"/>
                    </a:solidFill>
                  </a:tcPr>
                </a:tc>
                <a:tc>
                  <a:txBody>
                    <a:bodyPr/>
                    <a:lstStyle/>
                    <a:p>
                      <a:pPr>
                        <a:defRPr sz="800">
                          <a:solidFill>
                            <a:srgbClr val="333333"/>
                          </a:solidFill>
                          <a:latin typeface="Calibri"/>
                        </a:defRPr>
                      </a:pPr>
                      <a:r>
                        <a:t>Below 30 rods = immediate danger</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Coolant Flow</a:t>
                      </a:r>
                    </a:p>
                  </a:txBody>
                  <a:tcPr>
                    <a:solidFill>
                      <a:srgbClr val="FFFFFF"/>
                    </a:solidFill>
                  </a:tcPr>
                </a:tc>
                <a:tc>
                  <a:txBody>
                    <a:bodyPr/>
                    <a:lstStyle/>
                    <a:p>
                      <a:pPr>
                        <a:defRPr sz="800">
                          <a:solidFill>
                            <a:srgbClr val="333333"/>
                          </a:solidFill>
                          <a:latin typeface="Calibri"/>
                        </a:defRPr>
                      </a:pPr>
                      <a:r>
                        <a:t>8000 m³/h</a:t>
                      </a:r>
                    </a:p>
                  </a:txBody>
                  <a:tcPr>
                    <a:solidFill>
                      <a:srgbClr val="FFFFFF"/>
                    </a:solidFill>
                  </a:tcPr>
                </a:tc>
                <a:tc>
                  <a:txBody>
                    <a:bodyPr/>
                    <a:lstStyle/>
                    <a:p>
                      <a:pPr>
                        <a:defRPr sz="800">
                          <a:solidFill>
                            <a:srgbClr val="333333"/>
                          </a:solidFill>
                          <a:latin typeface="Calibri"/>
                        </a:defRPr>
                      </a:pPr>
                      <a:r>
                        <a:t>low_warning: 6000 (60)</a:t>
                      </a:r>
                    </a:p>
                  </a:txBody>
                  <a:tcPr>
                    <a:solidFill>
                      <a:srgbClr val="FFFFFF"/>
                    </a:solidFill>
                  </a:tcPr>
                </a:tc>
                <a:tc>
                  <a:txBody>
                    <a:bodyPr/>
                    <a:lstStyle/>
                    <a:p>
                      <a:pPr>
                        <a:defRPr sz="800">
                          <a:solidFill>
                            <a:srgbClr val="333333"/>
                          </a:solidFill>
                          <a:latin typeface="Calibri"/>
                        </a:defRPr>
                      </a:pPr>
                      <a:r>
                        <a:t>critical_low: 4000 (100)</a:t>
                      </a:r>
                    </a:p>
                  </a:txBody>
                  <a:tcPr>
                    <a:solidFill>
                      <a:srgbClr val="FFFFFF"/>
                    </a:solidFill>
                  </a:tcPr>
                </a:tc>
                <a:tc>
                  <a:txBody>
                    <a:bodyPr/>
                    <a:lstStyle/>
                    <a:p>
                      <a:pPr>
                        <a:defRPr sz="800">
                          <a:solidFill>
                            <a:srgbClr val="333333"/>
                          </a:solidFill>
                          <a:latin typeface="Calibri"/>
                        </a:defRPr>
                      </a:pPr>
                      <a:r>
                        <a:t>0.15</a:t>
                      </a:r>
                    </a:p>
                  </a:txBody>
                  <a:tcPr>
                    <a:solidFill>
                      <a:srgbClr val="FFFFFF"/>
                    </a:solidFill>
                  </a:tcPr>
                </a:tc>
                <a:tc>
                  <a:txBody>
                    <a:bodyPr/>
                    <a:lstStyle/>
                    <a:p>
                      <a:pPr>
                        <a:defRPr sz="800">
                          <a:solidFill>
                            <a:srgbClr val="333333"/>
                          </a:solidFill>
                          <a:latin typeface="Calibri"/>
                        </a:defRPr>
                      </a:pPr>
                      <a:r>
                        <a:rPr dirty="0"/>
                        <a:t>Linear scale between thresholds</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Steam Pressure</a:t>
                      </a:r>
                    </a:p>
                  </a:txBody>
                  <a:tcPr>
                    <a:solidFill>
                      <a:srgbClr val="F2F2F2"/>
                    </a:solidFill>
                  </a:tcPr>
                </a:tc>
                <a:tc>
                  <a:txBody>
                    <a:bodyPr/>
                    <a:lstStyle/>
                    <a:p>
                      <a:pPr>
                        <a:defRPr sz="800">
                          <a:solidFill>
                            <a:srgbClr val="333333"/>
                          </a:solidFill>
                          <a:latin typeface="Calibri"/>
                        </a:defRPr>
                      </a:pPr>
                      <a:r>
                        <a:t>6.5 MPa</a:t>
                      </a:r>
                    </a:p>
                  </a:txBody>
                  <a:tcPr>
                    <a:solidFill>
                      <a:srgbClr val="F2F2F2"/>
                    </a:solidFill>
                  </a:tcPr>
                </a:tc>
                <a:tc>
                  <a:txBody>
                    <a:bodyPr/>
                    <a:lstStyle/>
                    <a:p>
                      <a:pPr>
                        <a:defRPr sz="800">
                          <a:solidFill>
                            <a:srgbClr val="333333"/>
                          </a:solidFill>
                          <a:latin typeface="Calibri"/>
                        </a:defRPr>
                      </a:pPr>
                      <a:r>
                        <a:t>high_warning: 7.0 (60)</a:t>
                      </a:r>
                    </a:p>
                  </a:txBody>
                  <a:tcPr>
                    <a:solidFill>
                      <a:srgbClr val="F2F2F2"/>
                    </a:solidFill>
                  </a:tcPr>
                </a:tc>
                <a:tc>
                  <a:txBody>
                    <a:bodyPr/>
                    <a:lstStyle/>
                    <a:p>
                      <a:pPr>
                        <a:defRPr sz="800">
                          <a:solidFill>
                            <a:srgbClr val="333333"/>
                          </a:solidFill>
                          <a:latin typeface="Calibri"/>
                        </a:defRPr>
                      </a:pPr>
                      <a:r>
                        <a:t>critical_high: 7.5 (100)</a:t>
                      </a:r>
                    </a:p>
                  </a:txBody>
                  <a:tcPr>
                    <a:solidFill>
                      <a:srgbClr val="F2F2F2"/>
                    </a:solidFill>
                  </a:tcPr>
                </a:tc>
                <a:tc>
                  <a:txBody>
                    <a:bodyPr/>
                    <a:lstStyle/>
                    <a:p>
                      <a:pPr>
                        <a:defRPr sz="800">
                          <a:solidFill>
                            <a:srgbClr val="333333"/>
                          </a:solidFill>
                          <a:latin typeface="Calibri"/>
                        </a:defRPr>
                      </a:pPr>
                      <a:r>
                        <a:t>0.15</a:t>
                      </a:r>
                    </a:p>
                  </a:txBody>
                  <a:tcPr>
                    <a:solidFill>
                      <a:srgbClr val="F2F2F2"/>
                    </a:solidFill>
                  </a:tcPr>
                </a:tc>
                <a:tc>
                  <a:txBody>
                    <a:bodyPr/>
                    <a:lstStyle/>
                    <a:p>
                      <a:pPr>
                        <a:defRPr sz="800">
                          <a:solidFill>
                            <a:srgbClr val="333333"/>
                          </a:solidFill>
                          <a:latin typeface="Calibri"/>
                        </a:defRPr>
                      </a:pPr>
                      <a:r>
                        <a:t>Above 7.5 = containment risk</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Temperature</a:t>
                      </a:r>
                    </a:p>
                  </a:txBody>
                  <a:tcPr>
                    <a:solidFill>
                      <a:srgbClr val="FFFFFF"/>
                    </a:solidFill>
                  </a:tcPr>
                </a:tc>
                <a:tc>
                  <a:txBody>
                    <a:bodyPr/>
                    <a:lstStyle/>
                    <a:p>
                      <a:pPr>
                        <a:defRPr sz="800">
                          <a:solidFill>
                            <a:srgbClr val="333333"/>
                          </a:solidFill>
                          <a:latin typeface="Calibri"/>
                        </a:defRPr>
                      </a:pPr>
                      <a:r>
                        <a:t>280°C</a:t>
                      </a:r>
                    </a:p>
                  </a:txBody>
                  <a:tcPr>
                    <a:solidFill>
                      <a:srgbClr val="FFFFFF"/>
                    </a:solidFill>
                  </a:tcPr>
                </a:tc>
                <a:tc>
                  <a:txBody>
                    <a:bodyPr/>
                    <a:lstStyle/>
                    <a:p>
                      <a:pPr>
                        <a:defRPr sz="800">
                          <a:solidFill>
                            <a:srgbClr val="333333"/>
                          </a:solidFill>
                          <a:latin typeface="Calibri"/>
                        </a:defRPr>
                      </a:pPr>
                      <a:r>
                        <a:t>high_warning: 300 (60)</a:t>
                      </a:r>
                    </a:p>
                  </a:txBody>
                  <a:tcPr>
                    <a:solidFill>
                      <a:srgbClr val="FFFFFF"/>
                    </a:solidFill>
                  </a:tcPr>
                </a:tc>
                <a:tc>
                  <a:txBody>
                    <a:bodyPr/>
                    <a:lstStyle/>
                    <a:p>
                      <a:pPr>
                        <a:defRPr sz="800">
                          <a:solidFill>
                            <a:srgbClr val="333333"/>
                          </a:solidFill>
                          <a:latin typeface="Calibri"/>
                        </a:defRPr>
                      </a:pPr>
                      <a:r>
                        <a:t>critical_high: 320 (100)</a:t>
                      </a:r>
                    </a:p>
                  </a:txBody>
                  <a:tcPr>
                    <a:solidFill>
                      <a:srgbClr val="FFFFFF"/>
                    </a:solidFill>
                  </a:tcPr>
                </a:tc>
                <a:tc>
                  <a:txBody>
                    <a:bodyPr/>
                    <a:lstStyle/>
                    <a:p>
                      <a:pPr>
                        <a:defRPr sz="800">
                          <a:solidFill>
                            <a:srgbClr val="333333"/>
                          </a:solidFill>
                          <a:latin typeface="Calibri"/>
                        </a:defRPr>
                      </a:pPr>
                      <a:r>
                        <a:t>0.10</a:t>
                      </a:r>
                    </a:p>
                  </a:txBody>
                  <a:tcPr>
                    <a:solidFill>
                      <a:srgbClr val="FFFFFF"/>
                    </a:solidFill>
                  </a:tcPr>
                </a:tc>
                <a:tc>
                  <a:txBody>
                    <a:bodyPr/>
                    <a:lstStyle/>
                    <a:p>
                      <a:pPr>
                        <a:defRPr sz="800">
                          <a:solidFill>
                            <a:srgbClr val="333333"/>
                          </a:solidFill>
                          <a:latin typeface="Calibri"/>
                        </a:defRPr>
                      </a:pPr>
                      <a:r>
                        <a:t>Core damage above 320°C</a:t>
                      </a:r>
                    </a:p>
                  </a:txBody>
                  <a:tcPr>
                    <a:solidFill>
                      <a:srgbClr val="FFFFFF"/>
                    </a:solidFill>
                  </a:tcPr>
                </a:tc>
                <a:extLst>
                  <a:ext uri="{0D108BD9-81ED-4DB2-BD59-A6C34878D82A}">
                    <a16:rowId xmlns:a16="http://schemas.microsoft.com/office/drawing/2014/main" val="10005"/>
                  </a:ext>
                </a:extLst>
              </a:tr>
              <a:tr h="274320">
                <a:tc>
                  <a:txBody>
                    <a:bodyPr/>
                    <a:lstStyle/>
                    <a:p>
                      <a:pPr>
                        <a:defRPr sz="800">
                          <a:solidFill>
                            <a:srgbClr val="333333"/>
                          </a:solidFill>
                          <a:latin typeface="Calibri"/>
                        </a:defRPr>
                      </a:pPr>
                      <a:r>
                        <a:t>Radiation</a:t>
                      </a:r>
                    </a:p>
                  </a:txBody>
                  <a:tcPr>
                    <a:solidFill>
                      <a:srgbClr val="F2F2F2"/>
                    </a:solidFill>
                  </a:tcPr>
                </a:tc>
                <a:tc>
                  <a:txBody>
                    <a:bodyPr/>
                    <a:lstStyle/>
                    <a:p>
                      <a:pPr>
                        <a:defRPr sz="800">
                          <a:solidFill>
                            <a:srgbClr val="333333"/>
                          </a:solidFill>
                          <a:latin typeface="Calibri"/>
                        </a:defRPr>
                      </a:pPr>
                      <a:r>
                        <a:t>0.01 mrem/h</a:t>
                      </a:r>
                    </a:p>
                  </a:txBody>
                  <a:tcPr>
                    <a:solidFill>
                      <a:srgbClr val="F2F2F2"/>
                    </a:solidFill>
                  </a:tcPr>
                </a:tc>
                <a:tc>
                  <a:txBody>
                    <a:bodyPr/>
                    <a:lstStyle/>
                    <a:p>
                      <a:pPr>
                        <a:defRPr sz="800">
                          <a:solidFill>
                            <a:srgbClr val="333333"/>
                          </a:solidFill>
                          <a:latin typeface="Calibri"/>
                        </a:defRPr>
                      </a:pPr>
                      <a:r>
                        <a:t>elevated: 1.0 (40)</a:t>
                      </a:r>
                    </a:p>
                  </a:txBody>
                  <a:tcPr>
                    <a:solidFill>
                      <a:srgbClr val="F2F2F2"/>
                    </a:solidFill>
                  </a:tcPr>
                </a:tc>
                <a:tc>
                  <a:txBody>
                    <a:bodyPr/>
                    <a:lstStyle/>
                    <a:p>
                      <a:pPr>
                        <a:defRPr sz="800">
                          <a:solidFill>
                            <a:srgbClr val="333333"/>
                          </a:solidFill>
                          <a:latin typeface="Calibri"/>
                        </a:defRPr>
                      </a:pPr>
                      <a:r>
                        <a:t>dangerous: 100 (80)</a:t>
                      </a:r>
                      <a:br/>
                      <a:r>
                        <a:t>lethal: 10,000 (100)</a:t>
                      </a:r>
                    </a:p>
                  </a:txBody>
                  <a:tcPr>
                    <a:solidFill>
                      <a:srgbClr val="F2F2F2"/>
                    </a:solidFill>
                  </a:tcPr>
                </a:tc>
                <a:tc>
                  <a:txBody>
                    <a:bodyPr/>
                    <a:lstStyle/>
                    <a:p>
                      <a:pPr>
                        <a:defRPr sz="800">
                          <a:solidFill>
                            <a:srgbClr val="333333"/>
                          </a:solidFill>
                          <a:latin typeface="Calibri"/>
                        </a:defRPr>
                      </a:pPr>
                      <a:r>
                        <a:t>0.05</a:t>
                      </a:r>
                    </a:p>
                  </a:txBody>
                  <a:tcPr>
                    <a:solidFill>
                      <a:srgbClr val="F2F2F2"/>
                    </a:solidFill>
                  </a:tcPr>
                </a:tc>
                <a:tc>
                  <a:txBody>
                    <a:bodyPr/>
                    <a:lstStyle/>
                    <a:p>
                      <a:pPr>
                        <a:defRPr sz="800">
                          <a:solidFill>
                            <a:srgbClr val="333333"/>
                          </a:solidFill>
                          <a:latin typeface="Calibri"/>
                        </a:defRPr>
                      </a:pPr>
                      <a:r>
                        <a:rPr dirty="0"/>
                        <a:t>Logarithmic severity scale</a:t>
                      </a:r>
                    </a:p>
                  </a:txBody>
                  <a:tcPr>
                    <a:solidFill>
                      <a:srgbClr val="F2F2F2"/>
                    </a:solidFill>
                  </a:tcPr>
                </a:tc>
                <a:extLst>
                  <a:ext uri="{0D108BD9-81ED-4DB2-BD59-A6C34878D82A}">
                    <a16:rowId xmlns:a16="http://schemas.microsoft.com/office/drawing/2014/main" val="10006"/>
                  </a:ext>
                </a:extLst>
              </a:tr>
            </a:tbl>
          </a:graphicData>
        </a:graphic>
      </p:graphicFrame>
      <p:sp>
        <p:nvSpPr>
          <p:cNvPr id="7" name="Rounded Rectangle 6"/>
          <p:cNvSpPr/>
          <p:nvPr/>
        </p:nvSpPr>
        <p:spPr>
          <a:xfrm>
            <a:off x="457199" y="5715000"/>
            <a:ext cx="11277295" cy="59436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spcBef>
                <a:spcPts val="0"/>
              </a:spcBef>
              <a:spcAft>
                <a:spcPts val="0"/>
              </a:spcAft>
              <a:defRPr sz="900">
                <a:solidFill>
                  <a:srgbClr val="333333"/>
                </a:solidFill>
                <a:latin typeface="Consolas"/>
              </a:defRPr>
            </a:pPr>
            <a:r>
              <a:rPr b="1" dirty="0"/>
              <a:t>LLM OUTPUT SCHEMA (RISK_ASSESSMENT_SCHEMA — strict JSON):</a:t>
            </a:r>
          </a:p>
          <a:p>
            <a:pPr>
              <a:spcBef>
                <a:spcPts val="0"/>
              </a:spcBef>
              <a:spcAft>
                <a:spcPts val="0"/>
              </a:spcAft>
              <a:defRPr sz="900">
                <a:solidFill>
                  <a:srgbClr val="333333"/>
                </a:solidFill>
                <a:latin typeface="Consolas"/>
              </a:defRPr>
            </a:pPr>
            <a:r>
              <a:rPr dirty="0"/>
              <a:t>  { </a:t>
            </a:r>
            <a:r>
              <a:rPr dirty="0" err="1"/>
              <a:t>risk_score</a:t>
            </a:r>
            <a:r>
              <a:rPr dirty="0"/>
              <a:t>: 0-100, trend: "</a:t>
            </a:r>
            <a:r>
              <a:rPr dirty="0" err="1"/>
              <a:t>rising|stable|falling</a:t>
            </a:r>
            <a:r>
              <a:rPr dirty="0"/>
              <a:t>", </a:t>
            </a:r>
            <a:r>
              <a:rPr dirty="0" err="1"/>
              <a:t>primary_concern</a:t>
            </a:r>
            <a:r>
              <a:rPr dirty="0"/>
              <a:t>: "string",</a:t>
            </a:r>
          </a:p>
          <a:p>
            <a:pPr>
              <a:spcBef>
                <a:spcPts val="0"/>
              </a:spcBef>
              <a:spcAft>
                <a:spcPts val="0"/>
              </a:spcAft>
              <a:defRPr sz="900">
                <a:solidFill>
                  <a:srgbClr val="333333"/>
                </a:solidFill>
                <a:latin typeface="Consolas"/>
              </a:defRPr>
            </a:pPr>
            <a:r>
              <a:rPr dirty="0"/>
              <a:t>    </a:t>
            </a:r>
            <a:r>
              <a:rPr dirty="0" err="1"/>
              <a:t>compound_risks</a:t>
            </a:r>
            <a:r>
              <a:rPr dirty="0"/>
              <a:t>: ["string"], recommendation: "string", reasoning: "string" }</a:t>
            </a:r>
          </a:p>
        </p:txBody>
      </p:sp>
      <p:sp>
        <p:nvSpPr>
          <p:cNvPr id="8" name="Rectangle 7"/>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0" name="TextBox 9"/>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8/20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Physics Models &amp; Formulas</a:t>
            </a:r>
          </a:p>
          <a:p>
            <a:pPr algn="l">
              <a:spcBef>
                <a:spcPts val="100"/>
              </a:spcBef>
              <a:spcAft>
                <a:spcPts val="100"/>
              </a:spcAft>
              <a:defRPr sz="1300" b="0">
                <a:solidFill>
                  <a:srgbClr val="88BBDD"/>
                </a:solidFill>
                <a:latin typeface="Calibri"/>
              </a:defRPr>
            </a:pPr>
            <a:r>
              <a:t>SCRAM Decay, Test Abort, Evacuation Logistics, Gaussian Plume Dispersion</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72540"/>
            <a:ext cx="54864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SCRAM Decay Model (compute_scram_decay)</a:t>
            </a:r>
          </a:p>
        </p:txBody>
      </p:sp>
      <p:sp>
        <p:nvSpPr>
          <p:cNvPr id="5" name="Rounded Rectangle 4"/>
          <p:cNvSpPr/>
          <p:nvPr/>
        </p:nvSpPr>
        <p:spPr>
          <a:xfrm>
            <a:off x="457200" y="1546860"/>
            <a:ext cx="5486400" cy="192024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Power: P(t) = P₀ × 0.5^(t/2.5) </a:t>
            </a:r>
            <a:r>
              <a:rPr lang="en-US" dirty="0"/>
              <a:t>:</a:t>
            </a:r>
            <a:r>
              <a:rPr dirty="0"/>
              <a:t> half-life 2.5 seconds</a:t>
            </a:r>
          </a:p>
          <a:p>
            <a:pPr>
              <a:spcBef>
                <a:spcPts val="100"/>
              </a:spcBef>
              <a:spcAft>
                <a:spcPts val="100"/>
              </a:spcAft>
              <a:defRPr sz="900" b="0">
                <a:solidFill>
                  <a:srgbClr val="333333"/>
                </a:solidFill>
                <a:latin typeface="Calibri"/>
              </a:defRPr>
            </a:pPr>
            <a:r>
              <a:rPr dirty="0"/>
              <a:t>Power floor: 0.07 × e^(-t/3600) </a:t>
            </a:r>
            <a:r>
              <a:rPr lang="en-US" dirty="0"/>
              <a:t>:</a:t>
            </a:r>
            <a:r>
              <a:rPr dirty="0"/>
              <a:t> decay heat (cannot reach zero)</a:t>
            </a:r>
          </a:p>
          <a:p>
            <a:pPr>
              <a:spcBef>
                <a:spcPts val="100"/>
              </a:spcBef>
              <a:spcAft>
                <a:spcPts val="100"/>
              </a:spcAft>
              <a:defRPr sz="900" b="0">
                <a:solidFill>
                  <a:srgbClr val="333333"/>
                </a:solidFill>
                <a:latin typeface="Calibri"/>
              </a:defRPr>
            </a:pPr>
            <a:r>
              <a:rPr dirty="0"/>
              <a:t>Control rods: Linear insertion to all 211 positions over 18 seconds</a:t>
            </a:r>
          </a:p>
          <a:p>
            <a:pPr>
              <a:spcBef>
                <a:spcPts val="100"/>
              </a:spcBef>
              <a:spcAft>
                <a:spcPts val="100"/>
              </a:spcAft>
              <a:defRPr sz="900" b="0">
                <a:solidFill>
                  <a:srgbClr val="333333"/>
                </a:solidFill>
                <a:latin typeface="Calibri"/>
              </a:defRPr>
            </a:pPr>
            <a:r>
              <a:rPr dirty="0"/>
              <a:t>Temperature: T(t) = 180 + (T₀ - 180) × e^(-t/720) </a:t>
            </a:r>
            <a:r>
              <a:rPr lang="en-US" dirty="0"/>
              <a:t>:</a:t>
            </a:r>
            <a:r>
              <a:rPr dirty="0"/>
              <a:t> Newton cooling → 180°C</a:t>
            </a:r>
          </a:p>
          <a:p>
            <a:pPr>
              <a:spcBef>
                <a:spcPts val="100"/>
              </a:spcBef>
              <a:spcAft>
                <a:spcPts val="100"/>
              </a:spcAft>
              <a:defRPr sz="900" b="0">
                <a:solidFill>
                  <a:srgbClr val="333333"/>
                </a:solidFill>
                <a:latin typeface="Calibri"/>
              </a:defRPr>
            </a:pPr>
            <a:r>
              <a:rPr dirty="0"/>
              <a:t>Coolant: Linear recovery to 8,000 m³/h over 60 seconds</a:t>
            </a:r>
          </a:p>
          <a:p>
            <a:pPr>
              <a:spcBef>
                <a:spcPts val="100"/>
              </a:spcBef>
              <a:spcAft>
                <a:spcPts val="100"/>
              </a:spcAft>
              <a:defRPr sz="900" b="0">
                <a:solidFill>
                  <a:srgbClr val="333333"/>
                </a:solidFill>
                <a:latin typeface="Calibri"/>
              </a:defRPr>
            </a:pPr>
            <a:r>
              <a:rPr dirty="0"/>
              <a:t>Steam: </a:t>
            </a:r>
            <a:r>
              <a:rPr dirty="0" err="1"/>
              <a:t>P_steam</a:t>
            </a:r>
            <a:r>
              <a:rPr dirty="0"/>
              <a:t> × (0.3 + 0.7 × </a:t>
            </a:r>
            <a:r>
              <a:rPr dirty="0" err="1"/>
              <a:t>power_ratio</a:t>
            </a:r>
            <a:r>
              <a:rPr dirty="0"/>
              <a:t>) </a:t>
            </a:r>
            <a:r>
              <a:rPr lang="en-US" dirty="0"/>
              <a:t>:</a:t>
            </a:r>
            <a:r>
              <a:rPr dirty="0"/>
              <a:t> proportional to power</a:t>
            </a:r>
          </a:p>
          <a:p>
            <a:pPr>
              <a:spcBef>
                <a:spcPts val="100"/>
              </a:spcBef>
              <a:spcAft>
                <a:spcPts val="100"/>
              </a:spcAft>
              <a:defRPr sz="900" b="0">
                <a:solidFill>
                  <a:srgbClr val="333333"/>
                </a:solidFill>
                <a:latin typeface="Calibri"/>
              </a:defRPr>
            </a:pPr>
            <a:r>
              <a:rPr dirty="0"/>
              <a:t>Radiation: R₀ × e^(-t/7200) </a:t>
            </a:r>
            <a:r>
              <a:rPr lang="en-US" dirty="0"/>
              <a:t>:</a:t>
            </a:r>
            <a:r>
              <a:rPr dirty="0"/>
              <a:t> 2-hour half-life (no core breach)</a:t>
            </a:r>
          </a:p>
          <a:p>
            <a:pPr>
              <a:spcBef>
                <a:spcPts val="100"/>
              </a:spcBef>
              <a:spcAft>
                <a:spcPts val="100"/>
              </a:spcAft>
              <a:defRPr sz="900" b="0">
                <a:solidFill>
                  <a:srgbClr val="333333"/>
                </a:solidFill>
                <a:latin typeface="Calibri"/>
              </a:defRPr>
            </a:pPr>
            <a:r>
              <a:rPr dirty="0"/>
              <a:t>ECCS: Hard-set to True immediately on SCRAM</a:t>
            </a:r>
          </a:p>
        </p:txBody>
      </p:sp>
      <p:sp>
        <p:nvSpPr>
          <p:cNvPr id="6" name="Rectangle 5"/>
          <p:cNvSpPr/>
          <p:nvPr/>
        </p:nvSpPr>
        <p:spPr>
          <a:xfrm>
            <a:off x="6080760" y="1272540"/>
            <a:ext cx="54864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Test Abort Model (compute_test_abort)</a:t>
            </a:r>
          </a:p>
        </p:txBody>
      </p:sp>
      <p:sp>
        <p:nvSpPr>
          <p:cNvPr id="7" name="Rounded Rectangle 6"/>
          <p:cNvSpPr/>
          <p:nvPr/>
        </p:nvSpPr>
        <p:spPr>
          <a:xfrm>
            <a:off x="6080760" y="1546860"/>
            <a:ext cx="54864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Power: Linear ramp-down at 5 MW per minute</a:t>
            </a:r>
          </a:p>
          <a:p>
            <a:pPr>
              <a:spcBef>
                <a:spcPts val="100"/>
              </a:spcBef>
              <a:spcAft>
                <a:spcPts val="100"/>
              </a:spcAft>
              <a:defRPr sz="900" b="0">
                <a:solidFill>
                  <a:srgbClr val="333333"/>
                </a:solidFill>
                <a:latin typeface="Calibri"/>
              </a:defRPr>
            </a:pPr>
            <a:r>
              <a:rPr dirty="0"/>
              <a:t>Control rods: +3 rods/min insertion toward 140 safe position</a:t>
            </a:r>
          </a:p>
          <a:p>
            <a:pPr>
              <a:spcBef>
                <a:spcPts val="100"/>
              </a:spcBef>
              <a:spcAft>
                <a:spcPts val="100"/>
              </a:spcAft>
              <a:defRPr sz="900" b="0">
                <a:solidFill>
                  <a:srgbClr val="333333"/>
                </a:solidFill>
                <a:latin typeface="Calibri"/>
              </a:defRPr>
            </a:pPr>
            <a:r>
              <a:rPr dirty="0"/>
              <a:t>Temperature: Proportional to current power ratio</a:t>
            </a:r>
          </a:p>
          <a:p>
            <a:pPr>
              <a:spcBef>
                <a:spcPts val="100"/>
              </a:spcBef>
              <a:spcAft>
                <a:spcPts val="100"/>
              </a:spcAft>
              <a:defRPr sz="900" b="0">
                <a:solidFill>
                  <a:srgbClr val="333333"/>
                </a:solidFill>
                <a:latin typeface="Calibri"/>
              </a:defRPr>
            </a:pPr>
            <a:r>
              <a:rPr dirty="0"/>
              <a:t>Coolant: +50 m³/h recovery per minute</a:t>
            </a:r>
          </a:p>
          <a:p>
            <a:pPr>
              <a:spcBef>
                <a:spcPts val="100"/>
              </a:spcBef>
              <a:spcAft>
                <a:spcPts val="100"/>
              </a:spcAft>
              <a:defRPr sz="900" b="0">
                <a:solidFill>
                  <a:srgbClr val="333333"/>
                </a:solidFill>
                <a:latin typeface="Calibri"/>
              </a:defRPr>
            </a:pPr>
            <a:r>
              <a:rPr dirty="0"/>
              <a:t>ECCS: Restored to True after abort</a:t>
            </a:r>
          </a:p>
        </p:txBody>
      </p:sp>
      <p:sp>
        <p:nvSpPr>
          <p:cNvPr id="8" name="Rectangle 7"/>
          <p:cNvSpPr/>
          <p:nvPr/>
        </p:nvSpPr>
        <p:spPr>
          <a:xfrm>
            <a:off x="6080760" y="2781300"/>
            <a:ext cx="5486400" cy="27432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Gaussian Plume Dispersion Model (CommsAgent)</a:t>
            </a:r>
          </a:p>
        </p:txBody>
      </p:sp>
      <p:sp>
        <p:nvSpPr>
          <p:cNvPr id="9" name="Rounded Rectangle 8"/>
          <p:cNvSpPr/>
          <p:nvPr/>
        </p:nvSpPr>
        <p:spPr>
          <a:xfrm>
            <a:off x="6080760" y="3055620"/>
            <a:ext cx="54864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err="1"/>
              <a:t>Pasquill</a:t>
            </a:r>
            <a:r>
              <a:rPr dirty="0"/>
              <a:t>-Gifford stability class D, 5 m/s NW wind</a:t>
            </a:r>
          </a:p>
          <a:p>
            <a:pPr>
              <a:spcBef>
                <a:spcPts val="100"/>
              </a:spcBef>
              <a:spcAft>
                <a:spcPts val="100"/>
              </a:spcAft>
              <a:defRPr sz="900" b="0">
                <a:solidFill>
                  <a:srgbClr val="333333"/>
                </a:solidFill>
                <a:latin typeface="Calibri"/>
              </a:defRPr>
            </a:pPr>
            <a:r>
              <a:rPr dirty="0" err="1"/>
              <a:t>σy</a:t>
            </a:r>
            <a:r>
              <a:rPr dirty="0"/>
              <a:t> = 0.08 × d × (1 + 0.0001 × d)^(-0.5)</a:t>
            </a:r>
          </a:p>
          <a:p>
            <a:pPr>
              <a:spcBef>
                <a:spcPts val="100"/>
              </a:spcBef>
              <a:spcAft>
                <a:spcPts val="100"/>
              </a:spcAft>
              <a:defRPr sz="900" b="0">
                <a:solidFill>
                  <a:srgbClr val="333333"/>
                </a:solidFill>
                <a:latin typeface="Calibri"/>
              </a:defRPr>
            </a:pPr>
            <a:r>
              <a:rPr dirty="0" err="1"/>
              <a:t>σz</a:t>
            </a:r>
            <a:r>
              <a:rPr dirty="0"/>
              <a:t> = 0.06 × d × (1 + 0.0015 × d)^(-0.5)</a:t>
            </a:r>
          </a:p>
          <a:p>
            <a:pPr>
              <a:spcBef>
                <a:spcPts val="100"/>
              </a:spcBef>
              <a:spcAft>
                <a:spcPts val="100"/>
              </a:spcAft>
              <a:defRPr sz="900" b="0">
                <a:solidFill>
                  <a:srgbClr val="333333"/>
                </a:solidFill>
                <a:latin typeface="Calibri"/>
              </a:defRPr>
            </a:pPr>
            <a:r>
              <a:rPr dirty="0"/>
              <a:t>C = Q / (π × </a:t>
            </a:r>
            <a:r>
              <a:rPr dirty="0" err="1"/>
              <a:t>σy</a:t>
            </a:r>
            <a:r>
              <a:rPr dirty="0"/>
              <a:t> × </a:t>
            </a:r>
            <a:r>
              <a:rPr dirty="0" err="1"/>
              <a:t>σz</a:t>
            </a:r>
            <a:r>
              <a:rPr dirty="0"/>
              <a:t> × u) </a:t>
            </a:r>
            <a:r>
              <a:rPr lang="en-US" dirty="0"/>
              <a:t>:</a:t>
            </a:r>
            <a:r>
              <a:rPr dirty="0"/>
              <a:t> concentration at distance d</a:t>
            </a:r>
          </a:p>
          <a:p>
            <a:pPr>
              <a:spcBef>
                <a:spcPts val="100"/>
              </a:spcBef>
              <a:spcAft>
                <a:spcPts val="100"/>
              </a:spcAft>
              <a:defRPr sz="900" b="0">
                <a:solidFill>
                  <a:srgbClr val="333333"/>
                </a:solidFill>
                <a:latin typeface="Calibri"/>
              </a:defRPr>
            </a:pPr>
            <a:r>
              <a:rPr dirty="0"/>
              <a:t>Calculated at distances: 5 km, 10 km, 30 km, 100 km, 300 km</a:t>
            </a:r>
          </a:p>
          <a:p>
            <a:pPr>
              <a:spcBef>
                <a:spcPts val="100"/>
              </a:spcBef>
              <a:spcAft>
                <a:spcPts val="100"/>
              </a:spcAft>
              <a:defRPr sz="900" b="0">
                <a:solidFill>
                  <a:srgbClr val="333333"/>
                </a:solidFill>
                <a:latin typeface="Calibri"/>
              </a:defRPr>
            </a:pPr>
            <a:r>
              <a:rPr dirty="0"/>
              <a:t>Used for IAEA/WHO/Belarus emergency broadcast with dose estimates</a:t>
            </a:r>
          </a:p>
        </p:txBody>
      </p:sp>
      <p:sp>
        <p:nvSpPr>
          <p:cNvPr id="10" name="Rectangle 9"/>
          <p:cNvSpPr/>
          <p:nvPr/>
        </p:nvSpPr>
        <p:spPr>
          <a:xfrm>
            <a:off x="457200" y="3604260"/>
            <a:ext cx="5486400"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Evacuation Logistics Engine (EvacuationAgent)</a:t>
            </a:r>
          </a:p>
        </p:txBody>
      </p:sp>
      <p:sp>
        <p:nvSpPr>
          <p:cNvPr id="11" name="Rounded Rectangle 10"/>
          <p:cNvSpPr/>
          <p:nvPr/>
        </p:nvSpPr>
        <p:spPr>
          <a:xfrm>
            <a:off x="457200" y="3878580"/>
            <a:ext cx="5486400" cy="1920240"/>
          </a:xfrm>
          <a:prstGeom prst="roundRect">
            <a:avLst/>
          </a:prstGeom>
          <a:solidFill>
            <a:srgbClr val="FDF0E0"/>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Population: 49,000 Pripyat residents</a:t>
            </a:r>
          </a:p>
          <a:p>
            <a:pPr>
              <a:spcBef>
                <a:spcPts val="100"/>
              </a:spcBef>
              <a:spcAft>
                <a:spcPts val="100"/>
              </a:spcAft>
              <a:defRPr sz="900" b="0">
                <a:solidFill>
                  <a:srgbClr val="333333"/>
                </a:solidFill>
                <a:latin typeface="Calibri"/>
              </a:defRPr>
            </a:pPr>
            <a:r>
              <a:rPr dirty="0"/>
              <a:t>Fleet: 1,200 buses × 45 passenger capacity</a:t>
            </a:r>
          </a:p>
          <a:p>
            <a:pPr>
              <a:spcBef>
                <a:spcPts val="100"/>
              </a:spcBef>
              <a:spcAft>
                <a:spcPts val="100"/>
              </a:spcAft>
              <a:defRPr sz="900" b="0">
                <a:solidFill>
                  <a:srgbClr val="333333"/>
                </a:solidFill>
                <a:latin typeface="Calibri"/>
              </a:defRPr>
            </a:pPr>
            <a:r>
              <a:rPr dirty="0"/>
              <a:t>Round trip: 30 minutes per cycle</a:t>
            </a:r>
          </a:p>
          <a:p>
            <a:pPr>
              <a:spcBef>
                <a:spcPts val="100"/>
              </a:spcBef>
              <a:spcAft>
                <a:spcPts val="100"/>
              </a:spcAft>
              <a:defRPr sz="900" b="0">
                <a:solidFill>
                  <a:srgbClr val="333333"/>
                </a:solidFill>
                <a:latin typeface="Calibri"/>
              </a:defRPr>
            </a:pPr>
            <a:r>
              <a:rPr dirty="0"/>
              <a:t>Mobilization delay: 30 minutes after order</a:t>
            </a:r>
          </a:p>
          <a:p>
            <a:pPr>
              <a:spcBef>
                <a:spcPts val="100"/>
              </a:spcBef>
              <a:spcAft>
                <a:spcPts val="100"/>
              </a:spcAft>
              <a:defRPr sz="900" b="0">
                <a:solidFill>
                  <a:srgbClr val="333333"/>
                </a:solidFill>
                <a:latin typeface="Calibri"/>
              </a:defRPr>
            </a:pPr>
            <a:r>
              <a:rPr dirty="0"/>
              <a:t>Route 1: North → Chernihiv (80 km) </a:t>
            </a:r>
            <a:r>
              <a:rPr lang="en-US" dirty="0"/>
              <a:t>:</a:t>
            </a:r>
            <a:r>
              <a:rPr dirty="0"/>
              <a:t> capacity factor 1.0</a:t>
            </a:r>
          </a:p>
          <a:p>
            <a:pPr>
              <a:spcBef>
                <a:spcPts val="100"/>
              </a:spcBef>
              <a:spcAft>
                <a:spcPts val="100"/>
              </a:spcAft>
              <a:defRPr sz="900" b="0">
                <a:solidFill>
                  <a:srgbClr val="333333"/>
                </a:solidFill>
                <a:latin typeface="Calibri"/>
              </a:defRPr>
            </a:pPr>
            <a:r>
              <a:rPr dirty="0"/>
              <a:t>Route 2: South → Ivankiv (50 km) </a:t>
            </a:r>
            <a:r>
              <a:rPr lang="en-US" dirty="0"/>
              <a:t>:</a:t>
            </a:r>
            <a:r>
              <a:rPr dirty="0"/>
              <a:t> capacity factor 0.8</a:t>
            </a:r>
          </a:p>
          <a:p>
            <a:pPr>
              <a:spcBef>
                <a:spcPts val="100"/>
              </a:spcBef>
              <a:spcAft>
                <a:spcPts val="100"/>
              </a:spcAft>
              <a:defRPr sz="900" b="0">
                <a:solidFill>
                  <a:srgbClr val="333333"/>
                </a:solidFill>
                <a:latin typeface="Calibri"/>
              </a:defRPr>
            </a:pPr>
            <a:r>
              <a:rPr dirty="0"/>
              <a:t>Route 3: West → </a:t>
            </a:r>
            <a:r>
              <a:rPr dirty="0" err="1"/>
              <a:t>Poliske</a:t>
            </a:r>
            <a:r>
              <a:rPr dirty="0"/>
              <a:t> (40 km) </a:t>
            </a:r>
            <a:r>
              <a:rPr lang="en-US" dirty="0"/>
              <a:t>:</a:t>
            </a:r>
            <a:r>
              <a:rPr dirty="0"/>
              <a:t> capacity factor 0.6</a:t>
            </a:r>
          </a:p>
          <a:p>
            <a:pPr>
              <a:spcBef>
                <a:spcPts val="100"/>
              </a:spcBef>
              <a:spcAft>
                <a:spcPts val="100"/>
              </a:spcAft>
              <a:defRPr sz="900" b="0">
                <a:solidFill>
                  <a:srgbClr val="333333"/>
                </a:solidFill>
                <a:latin typeface="Calibri"/>
              </a:defRPr>
            </a:pPr>
            <a:r>
              <a:rPr dirty="0"/>
              <a:t>Safe radius: 30 km exclusion zone</a:t>
            </a:r>
          </a:p>
        </p:txBody>
      </p:sp>
      <p:sp>
        <p:nvSpPr>
          <p:cNvPr id="12" name="Rounded Rectangle 11"/>
          <p:cNvSpPr/>
          <p:nvPr/>
        </p:nvSpPr>
        <p:spPr>
          <a:xfrm>
            <a:off x="6080760" y="4610100"/>
            <a:ext cx="5486400" cy="91440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rPr b="1" dirty="0"/>
              <a:t>KEY CONFIGURATION (config.py):</a:t>
            </a:r>
          </a:p>
          <a:p>
            <a:pPr>
              <a:spcBef>
                <a:spcPts val="0"/>
              </a:spcBef>
              <a:spcAft>
                <a:spcPts val="0"/>
              </a:spcAft>
              <a:defRPr sz="900">
                <a:solidFill>
                  <a:srgbClr val="333333"/>
                </a:solidFill>
                <a:latin typeface="Consolas"/>
              </a:defRPr>
            </a:pPr>
            <a:r>
              <a:rPr dirty="0"/>
              <a:t>  LLM temperatures: 0.2 (decisions), 0.3 (risk), 0.7 (Dyatlov dialogue)</a:t>
            </a:r>
          </a:p>
          <a:p>
            <a:pPr>
              <a:spcBef>
                <a:spcPts val="0"/>
              </a:spcBef>
              <a:spcAft>
                <a:spcPts val="0"/>
              </a:spcAft>
              <a:defRPr sz="900">
                <a:solidFill>
                  <a:srgbClr val="333333"/>
                </a:solidFill>
                <a:latin typeface="Consolas"/>
              </a:defRPr>
            </a:pPr>
            <a:r>
              <a:rPr dirty="0"/>
              <a:t>  LLM timeout: 5 seconds | </a:t>
            </a:r>
            <a:r>
              <a:rPr dirty="0" err="1"/>
              <a:t>decision_points_only</a:t>
            </a:r>
            <a:r>
              <a:rPr dirty="0"/>
              <a:t>: True (LLM at ~5% of ticks)</a:t>
            </a:r>
          </a:p>
          <a:p>
            <a:pPr>
              <a:spcBef>
                <a:spcPts val="0"/>
              </a:spcBef>
              <a:spcAft>
                <a:spcPts val="0"/>
              </a:spcAft>
              <a:defRPr sz="900">
                <a:solidFill>
                  <a:srgbClr val="333333"/>
                </a:solidFill>
                <a:latin typeface="Consolas"/>
              </a:defRPr>
            </a:pPr>
            <a:r>
              <a:rPr dirty="0"/>
              <a:t>  Simulation: 60x default speed | Tick interval: 1 second</a:t>
            </a:r>
          </a:p>
          <a:p>
            <a:pPr>
              <a:spcBef>
                <a:spcPts val="0"/>
              </a:spcBef>
              <a:spcAft>
                <a:spcPts val="0"/>
              </a:spcAft>
              <a:defRPr sz="900">
                <a:solidFill>
                  <a:srgbClr val="333333"/>
                </a:solidFill>
                <a:latin typeface="Consolas"/>
              </a:defRPr>
            </a:pPr>
            <a:r>
              <a:rPr dirty="0"/>
              <a:t>  Risk thresholds: 85 (auto-SCRAM), 60 (confirmation), 30 (advisory)</a:t>
            </a:r>
          </a:p>
        </p:txBody>
      </p:sp>
      <p:sp>
        <p:nvSpPr>
          <p:cNvPr id="13" name="Rectangle 12"/>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5" name="TextBox 14"/>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9/20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err="1"/>
              <a:t>DyatlovAgent</a:t>
            </a:r>
            <a:r>
              <a:rPr dirty="0"/>
              <a:t> </a:t>
            </a:r>
            <a:r>
              <a:rPr lang="en-US" dirty="0"/>
              <a:t>:</a:t>
            </a:r>
            <a:r>
              <a:rPr dirty="0"/>
              <a:t> Adversarial Operator Testing</a:t>
            </a:r>
          </a:p>
          <a:p>
            <a:pPr algn="l">
              <a:spcBef>
                <a:spcPts val="100"/>
              </a:spcBef>
              <a:spcAft>
                <a:spcPts val="100"/>
              </a:spcAft>
              <a:defRPr sz="1300" b="0">
                <a:solidFill>
                  <a:srgbClr val="88BBDD"/>
                </a:solidFill>
                <a:latin typeface="Calibri"/>
              </a:defRPr>
            </a:pPr>
            <a:r>
              <a:rPr dirty="0"/>
              <a:t>Historically-accurate pushback across 5 escalation phases (sourced from INSAG-7 depositions)</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extLst>
              <p:ext uri="{D42A27DB-BD31-4B8C-83A1-F6EECF244321}">
                <p14:modId xmlns:p14="http://schemas.microsoft.com/office/powerpoint/2010/main" val="2300012450"/>
              </p:ext>
            </p:extLst>
          </p:nvPr>
        </p:nvGraphicFramePr>
        <p:xfrm>
          <a:off x="457200" y="1272540"/>
          <a:ext cx="11277295" cy="153924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1879549">
                  <a:extLst>
                    <a:ext uri="{9D8B030D-6E8A-4147-A177-3AD203B41FA5}">
                      <a16:colId xmlns:a16="http://schemas.microsoft.com/office/drawing/2014/main" val="20001"/>
                    </a:ext>
                  </a:extLst>
                </a:gridCol>
                <a:gridCol w="1879549">
                  <a:extLst>
                    <a:ext uri="{9D8B030D-6E8A-4147-A177-3AD203B41FA5}">
                      <a16:colId xmlns:a16="http://schemas.microsoft.com/office/drawing/2014/main" val="20002"/>
                    </a:ext>
                  </a:extLst>
                </a:gridCol>
                <a:gridCol w="1879549">
                  <a:extLst>
                    <a:ext uri="{9D8B030D-6E8A-4147-A177-3AD203B41FA5}">
                      <a16:colId xmlns:a16="http://schemas.microsoft.com/office/drawing/2014/main" val="20003"/>
                    </a:ext>
                  </a:extLst>
                </a:gridCol>
                <a:gridCol w="1879549">
                  <a:extLst>
                    <a:ext uri="{9D8B030D-6E8A-4147-A177-3AD203B41FA5}">
                      <a16:colId xmlns:a16="http://schemas.microsoft.com/office/drawing/2014/main" val="20004"/>
                    </a:ext>
                  </a:extLst>
                </a:gridCol>
                <a:gridCol w="1879550">
                  <a:extLst>
                    <a:ext uri="{9D8B030D-6E8A-4147-A177-3AD203B41FA5}">
                      <a16:colId xmlns:a16="http://schemas.microsoft.com/office/drawing/2014/main" val="20005"/>
                    </a:ext>
                  </a:extLst>
                </a:gridCol>
              </a:tblGrid>
              <a:tr h="205740">
                <a:tc>
                  <a:txBody>
                    <a:bodyPr/>
                    <a:lstStyle/>
                    <a:p>
                      <a:pPr>
                        <a:defRPr sz="900" b="1">
                          <a:solidFill>
                            <a:srgbClr val="FFFFFF"/>
                          </a:solidFill>
                          <a:latin typeface="Calibri"/>
                        </a:defRPr>
                      </a:pPr>
                      <a:r>
                        <a:t>Phase</a:t>
                      </a:r>
                    </a:p>
                  </a:txBody>
                  <a:tcPr>
                    <a:solidFill>
                      <a:srgbClr val="009B8D"/>
                    </a:solidFill>
                  </a:tcPr>
                </a:tc>
                <a:tc>
                  <a:txBody>
                    <a:bodyPr/>
                    <a:lstStyle/>
                    <a:p>
                      <a:pPr>
                        <a:defRPr sz="900" b="1">
                          <a:solidFill>
                            <a:srgbClr val="FFFFFF"/>
                          </a:solidFill>
                          <a:latin typeface="Calibri"/>
                        </a:defRPr>
                      </a:pPr>
                      <a:r>
                        <a:t>Name</a:t>
                      </a:r>
                    </a:p>
                  </a:txBody>
                  <a:tcPr>
                    <a:solidFill>
                      <a:srgbClr val="009B8D"/>
                    </a:solidFill>
                  </a:tcPr>
                </a:tc>
                <a:tc>
                  <a:txBody>
                    <a:bodyPr/>
                    <a:lstStyle/>
                    <a:p>
                      <a:pPr>
                        <a:defRPr sz="900" b="1">
                          <a:solidFill>
                            <a:srgbClr val="FFFFFF"/>
                          </a:solidFill>
                          <a:latin typeface="Calibri"/>
                        </a:defRPr>
                      </a:pPr>
                      <a:r>
                        <a:t>Timestamp</a:t>
                      </a:r>
                    </a:p>
                  </a:txBody>
                  <a:tcPr>
                    <a:solidFill>
                      <a:srgbClr val="009B8D"/>
                    </a:solidFill>
                  </a:tcPr>
                </a:tc>
                <a:tc>
                  <a:txBody>
                    <a:bodyPr/>
                    <a:lstStyle/>
                    <a:p>
                      <a:pPr>
                        <a:defRPr sz="900" b="1">
                          <a:solidFill>
                            <a:srgbClr val="FFFFFF"/>
                          </a:solidFill>
                          <a:latin typeface="Calibri"/>
                        </a:defRPr>
                      </a:pPr>
                      <a:r>
                        <a:t>Base Pressure</a:t>
                      </a:r>
                    </a:p>
                  </a:txBody>
                  <a:tcPr>
                    <a:solidFill>
                      <a:srgbClr val="009B8D"/>
                    </a:solidFill>
                  </a:tcPr>
                </a:tc>
                <a:tc>
                  <a:txBody>
                    <a:bodyPr/>
                    <a:lstStyle/>
                    <a:p>
                      <a:pPr>
                        <a:defRPr sz="900" b="1">
                          <a:solidFill>
                            <a:srgbClr val="FFFFFF"/>
                          </a:solidFill>
                          <a:latin typeface="Calibri"/>
                        </a:defRPr>
                      </a:pPr>
                      <a:r>
                        <a:t>Behavior Pattern</a:t>
                      </a:r>
                    </a:p>
                  </a:txBody>
                  <a:tcPr>
                    <a:solidFill>
                      <a:srgbClr val="009B8D"/>
                    </a:solidFill>
                  </a:tcPr>
                </a:tc>
                <a:tc>
                  <a:txBody>
                    <a:bodyPr/>
                    <a:lstStyle/>
                    <a:p>
                      <a:pPr>
                        <a:defRPr sz="900" b="1">
                          <a:solidFill>
                            <a:srgbClr val="FFFFFF"/>
                          </a:solidFill>
                          <a:latin typeface="Calibri"/>
                        </a:defRPr>
                      </a:pPr>
                      <a:r>
                        <a:t>LLM Persona</a:t>
                      </a:r>
                    </a:p>
                  </a:txBody>
                  <a:tcPr>
                    <a:solidFill>
                      <a:srgbClr val="009B8D"/>
                    </a:solidFill>
                  </a:tcPr>
                </a:tc>
                <a:extLst>
                  <a:ext uri="{0D108BD9-81ED-4DB2-BD59-A6C34878D82A}">
                    <a16:rowId xmlns:a16="http://schemas.microsoft.com/office/drawing/2014/main" val="10000"/>
                  </a:ext>
                </a:extLst>
              </a:tr>
              <a:tr h="205740">
                <a:tc>
                  <a:txBody>
                    <a:bodyPr/>
                    <a:lstStyle/>
                    <a:p>
                      <a:pPr>
                        <a:defRPr sz="800">
                          <a:solidFill>
                            <a:srgbClr val="333333"/>
                          </a:solidFill>
                          <a:latin typeface="Calibri"/>
                        </a:defRPr>
                      </a:pPr>
                      <a:r>
                        <a:t>0</a:t>
                      </a:r>
                    </a:p>
                  </a:txBody>
                  <a:tcPr>
                    <a:solidFill>
                      <a:srgbClr val="FFFFFF"/>
                    </a:solidFill>
                  </a:tcPr>
                </a:tc>
                <a:tc>
                  <a:txBody>
                    <a:bodyPr/>
                    <a:lstStyle/>
                    <a:p>
                      <a:pPr>
                        <a:defRPr sz="800">
                          <a:solidFill>
                            <a:srgbClr val="333333"/>
                          </a:solidFill>
                          <a:latin typeface="Calibri"/>
                        </a:defRPr>
                      </a:pPr>
                      <a:r>
                        <a:t>CALM</a:t>
                      </a:r>
                    </a:p>
                  </a:txBody>
                  <a:tcPr>
                    <a:solidFill>
                      <a:srgbClr val="FFFFFF"/>
                    </a:solidFill>
                  </a:tcPr>
                </a:tc>
                <a:tc>
                  <a:txBody>
                    <a:bodyPr/>
                    <a:lstStyle/>
                    <a:p>
                      <a:pPr>
                        <a:defRPr sz="800">
                          <a:solidFill>
                            <a:srgbClr val="333333"/>
                          </a:solidFill>
                          <a:latin typeface="Calibri"/>
                        </a:defRPr>
                      </a:pPr>
                      <a:r>
                        <a:t>Apr 25 13:00</a:t>
                      </a:r>
                    </a:p>
                  </a:txBody>
                  <a:tcPr>
                    <a:solidFill>
                      <a:srgbClr val="FFFFFF"/>
                    </a:solidFill>
                  </a:tcPr>
                </a:tc>
                <a:tc>
                  <a:txBody>
                    <a:bodyPr/>
                    <a:lstStyle/>
                    <a:p>
                      <a:pPr>
                        <a:defRPr sz="800">
                          <a:solidFill>
                            <a:srgbClr val="333333"/>
                          </a:solidFill>
                          <a:latin typeface="Calibri"/>
                        </a:defRPr>
                      </a:pPr>
                      <a:r>
                        <a:t>10</a:t>
                      </a:r>
                    </a:p>
                  </a:txBody>
                  <a:tcPr>
                    <a:solidFill>
                      <a:srgbClr val="FFFFFF"/>
                    </a:solidFill>
                  </a:tcPr>
                </a:tc>
                <a:tc>
                  <a:txBody>
                    <a:bodyPr/>
                    <a:lstStyle/>
                    <a:p>
                      <a:pPr>
                        <a:defRPr sz="800">
                          <a:solidFill>
                            <a:srgbClr val="333333"/>
                          </a:solidFill>
                          <a:latin typeface="Calibri"/>
                        </a:defRPr>
                      </a:pPr>
                      <a:r>
                        <a:t>Cooperative, follows procedures</a:t>
                      </a:r>
                    </a:p>
                  </a:txBody>
                  <a:tcPr>
                    <a:solidFill>
                      <a:srgbClr val="FFFFFF"/>
                    </a:solidFill>
                  </a:tcPr>
                </a:tc>
                <a:tc>
                  <a:txBody>
                    <a:bodyPr/>
                    <a:lstStyle/>
                    <a:p>
                      <a:pPr>
                        <a:defRPr sz="800">
                          <a:solidFill>
                            <a:srgbClr val="333333"/>
                          </a:solidFill>
                          <a:latin typeface="Calibri"/>
                        </a:defRPr>
                      </a:pPr>
                      <a:r>
                        <a:t>Confident but professional</a:t>
                      </a:r>
                    </a:p>
                  </a:txBody>
                  <a:tcPr>
                    <a:solidFill>
                      <a:srgbClr val="FFFFFF"/>
                    </a:solidFill>
                  </a:tcPr>
                </a:tc>
                <a:extLst>
                  <a:ext uri="{0D108BD9-81ED-4DB2-BD59-A6C34878D82A}">
                    <a16:rowId xmlns:a16="http://schemas.microsoft.com/office/drawing/2014/main" val="10001"/>
                  </a:ext>
                </a:extLst>
              </a:tr>
              <a:tr h="251460">
                <a:tc>
                  <a:txBody>
                    <a:bodyPr/>
                    <a:lstStyle/>
                    <a:p>
                      <a:pPr>
                        <a:defRPr sz="800">
                          <a:solidFill>
                            <a:srgbClr val="333333"/>
                          </a:solidFill>
                          <a:latin typeface="Calibri"/>
                        </a:defRPr>
                      </a:pPr>
                      <a:r>
                        <a:t>1</a:t>
                      </a:r>
                    </a:p>
                  </a:txBody>
                  <a:tcPr>
                    <a:solidFill>
                      <a:srgbClr val="F2F2F2"/>
                    </a:solidFill>
                  </a:tcPr>
                </a:tc>
                <a:tc>
                  <a:txBody>
                    <a:bodyPr/>
                    <a:lstStyle/>
                    <a:p>
                      <a:pPr>
                        <a:defRPr sz="800">
                          <a:solidFill>
                            <a:srgbClr val="333333"/>
                          </a:solidFill>
                          <a:latin typeface="Calibri"/>
                        </a:defRPr>
                      </a:pPr>
                      <a:r>
                        <a:t>DISMISSIVE</a:t>
                      </a:r>
                    </a:p>
                  </a:txBody>
                  <a:tcPr>
                    <a:solidFill>
                      <a:srgbClr val="F2F2F2"/>
                    </a:solidFill>
                  </a:tcPr>
                </a:tc>
                <a:tc>
                  <a:txBody>
                    <a:bodyPr/>
                    <a:lstStyle/>
                    <a:p>
                      <a:pPr>
                        <a:defRPr sz="800">
                          <a:solidFill>
                            <a:srgbClr val="333333"/>
                          </a:solidFill>
                          <a:latin typeface="Calibri"/>
                        </a:defRPr>
                      </a:pPr>
                      <a:r>
                        <a:t>Apr 26 00:28</a:t>
                      </a:r>
                    </a:p>
                  </a:txBody>
                  <a:tcPr>
                    <a:solidFill>
                      <a:srgbClr val="F2F2F2"/>
                    </a:solidFill>
                  </a:tcPr>
                </a:tc>
                <a:tc>
                  <a:txBody>
                    <a:bodyPr/>
                    <a:lstStyle/>
                    <a:p>
                      <a:pPr>
                        <a:defRPr sz="800">
                          <a:solidFill>
                            <a:srgbClr val="333333"/>
                          </a:solidFill>
                          <a:latin typeface="Calibri"/>
                        </a:defRPr>
                      </a:pPr>
                      <a:r>
                        <a:rPr dirty="0"/>
                        <a:t>40</a:t>
                      </a:r>
                    </a:p>
                  </a:txBody>
                  <a:tcPr>
                    <a:solidFill>
                      <a:srgbClr val="F2F2F2"/>
                    </a:solidFill>
                  </a:tcPr>
                </a:tc>
                <a:tc>
                  <a:txBody>
                    <a:bodyPr/>
                    <a:lstStyle/>
                    <a:p>
                      <a:pPr>
                        <a:defRPr sz="800">
                          <a:solidFill>
                            <a:srgbClr val="333333"/>
                          </a:solidFill>
                          <a:latin typeface="Calibri"/>
                        </a:defRPr>
                      </a:pPr>
                      <a:r>
                        <a:rPr dirty="0"/>
                        <a:t>"Just instrument noise" — minimizes alerts</a:t>
                      </a:r>
                    </a:p>
                  </a:txBody>
                  <a:tcPr>
                    <a:solidFill>
                      <a:srgbClr val="F2F2F2"/>
                    </a:solidFill>
                  </a:tcPr>
                </a:tc>
                <a:tc>
                  <a:txBody>
                    <a:bodyPr/>
                    <a:lstStyle/>
                    <a:p>
                      <a:pPr>
                        <a:defRPr sz="800">
                          <a:solidFill>
                            <a:srgbClr val="333333"/>
                          </a:solidFill>
                          <a:latin typeface="Calibri"/>
                        </a:defRPr>
                      </a:pPr>
                      <a:r>
                        <a:t>Condescending, dismissive</a:t>
                      </a:r>
                    </a:p>
                  </a:txBody>
                  <a:tcPr>
                    <a:solidFill>
                      <a:srgbClr val="F2F2F2"/>
                    </a:solidFill>
                  </a:tcPr>
                </a:tc>
                <a:extLst>
                  <a:ext uri="{0D108BD9-81ED-4DB2-BD59-A6C34878D82A}">
                    <a16:rowId xmlns:a16="http://schemas.microsoft.com/office/drawing/2014/main" val="10002"/>
                  </a:ext>
                </a:extLst>
              </a:tr>
              <a:tr h="205740">
                <a:tc>
                  <a:txBody>
                    <a:bodyPr/>
                    <a:lstStyle/>
                    <a:p>
                      <a:pPr>
                        <a:defRPr sz="800">
                          <a:solidFill>
                            <a:srgbClr val="333333"/>
                          </a:solidFill>
                          <a:latin typeface="Calibri"/>
                        </a:defRPr>
                      </a:pPr>
                      <a:r>
                        <a:t>2</a:t>
                      </a:r>
                    </a:p>
                  </a:txBody>
                  <a:tcPr>
                    <a:solidFill>
                      <a:srgbClr val="FFFFFF"/>
                    </a:solidFill>
                  </a:tcPr>
                </a:tc>
                <a:tc>
                  <a:txBody>
                    <a:bodyPr/>
                    <a:lstStyle/>
                    <a:p>
                      <a:pPr>
                        <a:defRPr sz="800">
                          <a:solidFill>
                            <a:srgbClr val="333333"/>
                          </a:solidFill>
                          <a:latin typeface="Calibri"/>
                        </a:defRPr>
                      </a:pPr>
                      <a:r>
                        <a:t>AUTHORITARIAN</a:t>
                      </a:r>
                    </a:p>
                  </a:txBody>
                  <a:tcPr>
                    <a:solidFill>
                      <a:srgbClr val="FFFFFF"/>
                    </a:solidFill>
                  </a:tcPr>
                </a:tc>
                <a:tc>
                  <a:txBody>
                    <a:bodyPr/>
                    <a:lstStyle/>
                    <a:p>
                      <a:pPr>
                        <a:defRPr sz="800">
                          <a:solidFill>
                            <a:srgbClr val="333333"/>
                          </a:solidFill>
                          <a:latin typeface="Calibri"/>
                        </a:defRPr>
                      </a:pPr>
                      <a:r>
                        <a:t>Apr 26 00:43</a:t>
                      </a:r>
                    </a:p>
                  </a:txBody>
                  <a:tcPr>
                    <a:solidFill>
                      <a:srgbClr val="FFFFFF"/>
                    </a:solidFill>
                  </a:tcPr>
                </a:tc>
                <a:tc>
                  <a:txBody>
                    <a:bodyPr/>
                    <a:lstStyle/>
                    <a:p>
                      <a:pPr>
                        <a:defRPr sz="800">
                          <a:solidFill>
                            <a:srgbClr val="333333"/>
                          </a:solidFill>
                          <a:latin typeface="Calibri"/>
                        </a:defRPr>
                      </a:pPr>
                      <a:r>
                        <a:t>65</a:t>
                      </a:r>
                    </a:p>
                  </a:txBody>
                  <a:tcPr>
                    <a:solidFill>
                      <a:srgbClr val="FFFFFF"/>
                    </a:solidFill>
                  </a:tcPr>
                </a:tc>
                <a:tc>
                  <a:txBody>
                    <a:bodyPr/>
                    <a:lstStyle/>
                    <a:p>
                      <a:pPr>
                        <a:defRPr sz="800">
                          <a:solidFill>
                            <a:srgbClr val="333333"/>
                          </a:solidFill>
                          <a:latin typeface="Calibri"/>
                        </a:defRPr>
                      </a:pPr>
                      <a:r>
                        <a:t>Threatens careers, demands compliance</a:t>
                      </a:r>
                    </a:p>
                  </a:txBody>
                  <a:tcPr>
                    <a:solidFill>
                      <a:srgbClr val="FFFFFF"/>
                    </a:solidFill>
                  </a:tcPr>
                </a:tc>
                <a:tc>
                  <a:txBody>
                    <a:bodyPr/>
                    <a:lstStyle/>
                    <a:p>
                      <a:pPr>
                        <a:defRPr sz="800">
                          <a:solidFill>
                            <a:srgbClr val="333333"/>
                          </a:solidFill>
                          <a:latin typeface="Calibri"/>
                        </a:defRPr>
                      </a:pPr>
                      <a:r>
                        <a:t>Angry, pulls rank aggressively</a:t>
                      </a:r>
                    </a:p>
                  </a:txBody>
                  <a:tcPr>
                    <a:solidFill>
                      <a:srgbClr val="FFFFFF"/>
                    </a:solidFill>
                  </a:tcPr>
                </a:tc>
                <a:extLst>
                  <a:ext uri="{0D108BD9-81ED-4DB2-BD59-A6C34878D82A}">
                    <a16:rowId xmlns:a16="http://schemas.microsoft.com/office/drawing/2014/main" val="10003"/>
                  </a:ext>
                </a:extLst>
              </a:tr>
              <a:tr h="251460">
                <a:tc>
                  <a:txBody>
                    <a:bodyPr/>
                    <a:lstStyle/>
                    <a:p>
                      <a:pPr>
                        <a:defRPr sz="800">
                          <a:solidFill>
                            <a:srgbClr val="333333"/>
                          </a:solidFill>
                          <a:latin typeface="Calibri"/>
                        </a:defRPr>
                      </a:pPr>
                      <a:r>
                        <a:t>3</a:t>
                      </a:r>
                    </a:p>
                  </a:txBody>
                  <a:tcPr>
                    <a:solidFill>
                      <a:srgbClr val="F2F2F2"/>
                    </a:solidFill>
                  </a:tcPr>
                </a:tc>
                <a:tc>
                  <a:txBody>
                    <a:bodyPr/>
                    <a:lstStyle/>
                    <a:p>
                      <a:pPr>
                        <a:defRPr sz="800">
                          <a:solidFill>
                            <a:srgbClr val="333333"/>
                          </a:solidFill>
                          <a:latin typeface="Calibri"/>
                        </a:defRPr>
                      </a:pPr>
                      <a:r>
                        <a:t>DESPERATE</a:t>
                      </a:r>
                    </a:p>
                  </a:txBody>
                  <a:tcPr>
                    <a:solidFill>
                      <a:srgbClr val="F2F2F2"/>
                    </a:solidFill>
                  </a:tcPr>
                </a:tc>
                <a:tc>
                  <a:txBody>
                    <a:bodyPr/>
                    <a:lstStyle/>
                    <a:p>
                      <a:pPr>
                        <a:defRPr sz="800">
                          <a:solidFill>
                            <a:srgbClr val="333333"/>
                          </a:solidFill>
                          <a:latin typeface="Calibri"/>
                        </a:defRPr>
                      </a:pPr>
                      <a:r>
                        <a:t>Apr 26 01:00</a:t>
                      </a:r>
                    </a:p>
                  </a:txBody>
                  <a:tcPr>
                    <a:solidFill>
                      <a:srgbClr val="F2F2F2"/>
                    </a:solidFill>
                  </a:tcPr>
                </a:tc>
                <a:tc>
                  <a:txBody>
                    <a:bodyPr/>
                    <a:lstStyle/>
                    <a:p>
                      <a:pPr>
                        <a:defRPr sz="800">
                          <a:solidFill>
                            <a:srgbClr val="333333"/>
                          </a:solidFill>
                          <a:latin typeface="Calibri"/>
                        </a:defRPr>
                      </a:pPr>
                      <a:r>
                        <a:t>85</a:t>
                      </a:r>
                    </a:p>
                  </a:txBody>
                  <a:tcPr>
                    <a:solidFill>
                      <a:srgbClr val="F2F2F2"/>
                    </a:solidFill>
                  </a:tcPr>
                </a:tc>
                <a:tc>
                  <a:txBody>
                    <a:bodyPr/>
                    <a:lstStyle/>
                    <a:p>
                      <a:pPr>
                        <a:defRPr sz="800">
                          <a:solidFill>
                            <a:srgbClr val="333333"/>
                          </a:solidFill>
                          <a:latin typeface="Calibri"/>
                        </a:defRPr>
                      </a:pPr>
                      <a:r>
                        <a:t>"Two more minutes!" — production obsession</a:t>
                      </a:r>
                    </a:p>
                  </a:txBody>
                  <a:tcPr>
                    <a:solidFill>
                      <a:srgbClr val="F2F2F2"/>
                    </a:solidFill>
                  </a:tcPr>
                </a:tc>
                <a:tc>
                  <a:txBody>
                    <a:bodyPr/>
                    <a:lstStyle/>
                    <a:p>
                      <a:pPr>
                        <a:defRPr sz="800">
                          <a:solidFill>
                            <a:srgbClr val="333333"/>
                          </a:solidFill>
                          <a:latin typeface="Calibri"/>
                        </a:defRPr>
                      </a:pPr>
                      <a:r>
                        <a:t>Panicked but insistent</a:t>
                      </a:r>
                    </a:p>
                  </a:txBody>
                  <a:tcPr>
                    <a:solidFill>
                      <a:srgbClr val="F2F2F2"/>
                    </a:solidFill>
                  </a:tcPr>
                </a:tc>
                <a:extLst>
                  <a:ext uri="{0D108BD9-81ED-4DB2-BD59-A6C34878D82A}">
                    <a16:rowId xmlns:a16="http://schemas.microsoft.com/office/drawing/2014/main" val="10004"/>
                  </a:ext>
                </a:extLst>
              </a:tr>
              <a:tr h="205740">
                <a:tc>
                  <a:txBody>
                    <a:bodyPr/>
                    <a:lstStyle/>
                    <a:p>
                      <a:pPr>
                        <a:defRPr sz="800">
                          <a:solidFill>
                            <a:srgbClr val="333333"/>
                          </a:solidFill>
                          <a:latin typeface="Calibri"/>
                        </a:defRPr>
                      </a:pPr>
                      <a:r>
                        <a:t>4</a:t>
                      </a:r>
                    </a:p>
                  </a:txBody>
                  <a:tcPr>
                    <a:solidFill>
                      <a:srgbClr val="FFFFFF"/>
                    </a:solidFill>
                  </a:tcPr>
                </a:tc>
                <a:tc>
                  <a:txBody>
                    <a:bodyPr/>
                    <a:lstStyle/>
                    <a:p>
                      <a:pPr>
                        <a:defRPr sz="800">
                          <a:solidFill>
                            <a:srgbClr val="333333"/>
                          </a:solidFill>
                          <a:latin typeface="Calibri"/>
                        </a:defRPr>
                      </a:pPr>
                      <a:r>
                        <a:t>DENIAL</a:t>
                      </a:r>
                    </a:p>
                  </a:txBody>
                  <a:tcPr>
                    <a:solidFill>
                      <a:srgbClr val="FFFFFF"/>
                    </a:solidFill>
                  </a:tcPr>
                </a:tc>
                <a:tc>
                  <a:txBody>
                    <a:bodyPr/>
                    <a:lstStyle/>
                    <a:p>
                      <a:pPr>
                        <a:defRPr sz="800">
                          <a:solidFill>
                            <a:srgbClr val="333333"/>
                          </a:solidFill>
                          <a:latin typeface="Calibri"/>
                        </a:defRPr>
                      </a:pPr>
                      <a:r>
                        <a:t>Apr 26 01:23:40</a:t>
                      </a:r>
                    </a:p>
                  </a:txBody>
                  <a:tcPr>
                    <a:solidFill>
                      <a:srgbClr val="FFFFFF"/>
                    </a:solidFill>
                  </a:tcPr>
                </a:tc>
                <a:tc>
                  <a:txBody>
                    <a:bodyPr/>
                    <a:lstStyle/>
                    <a:p>
                      <a:pPr>
                        <a:defRPr sz="800">
                          <a:solidFill>
                            <a:srgbClr val="333333"/>
                          </a:solidFill>
                          <a:latin typeface="Calibri"/>
                        </a:defRPr>
                      </a:pPr>
                      <a:r>
                        <a:rPr dirty="0"/>
                        <a:t>30</a:t>
                      </a:r>
                    </a:p>
                  </a:txBody>
                  <a:tcPr>
                    <a:solidFill>
                      <a:srgbClr val="FFFFFF"/>
                    </a:solidFill>
                  </a:tcPr>
                </a:tc>
                <a:tc>
                  <a:txBody>
                    <a:bodyPr/>
                    <a:lstStyle/>
                    <a:p>
                      <a:pPr>
                        <a:defRPr sz="800">
                          <a:solidFill>
                            <a:srgbClr val="333333"/>
                          </a:solidFill>
                          <a:latin typeface="Calibri"/>
                        </a:defRPr>
                      </a:pPr>
                      <a:r>
                        <a:t>Refuses to accept explosion reality</a:t>
                      </a:r>
                    </a:p>
                  </a:txBody>
                  <a:tcPr>
                    <a:solidFill>
                      <a:srgbClr val="FFFFFF"/>
                    </a:solidFill>
                  </a:tcPr>
                </a:tc>
                <a:tc>
                  <a:txBody>
                    <a:bodyPr/>
                    <a:lstStyle/>
                    <a:p>
                      <a:pPr>
                        <a:defRPr sz="800">
                          <a:solidFill>
                            <a:srgbClr val="333333"/>
                          </a:solidFill>
                          <a:latin typeface="Calibri"/>
                        </a:defRPr>
                      </a:pPr>
                      <a:r>
                        <a:rPr dirty="0"/>
                        <a:t>Shocked, detached from reality</a:t>
                      </a:r>
                    </a:p>
                  </a:txBody>
                  <a:tcPr>
                    <a:solidFill>
                      <a:srgbClr val="FFFFFF"/>
                    </a:solidFill>
                  </a:tcPr>
                </a:tc>
                <a:extLst>
                  <a:ext uri="{0D108BD9-81ED-4DB2-BD59-A6C34878D82A}">
                    <a16:rowId xmlns:a16="http://schemas.microsoft.com/office/drawing/2014/main" val="10005"/>
                  </a:ext>
                </a:extLst>
              </a:tr>
            </a:tbl>
          </a:graphicData>
        </a:graphic>
      </p:graphicFrame>
      <p:sp>
        <p:nvSpPr>
          <p:cNvPr id="5" name="Rounded Rectangle 4"/>
          <p:cNvSpPr/>
          <p:nvPr/>
        </p:nvSpPr>
        <p:spPr>
          <a:xfrm>
            <a:off x="457200" y="2857500"/>
            <a:ext cx="11277295" cy="132588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rPr b="1" dirty="0"/>
              <a:t>PRESSURE FORMULA:</a:t>
            </a:r>
          </a:p>
          <a:p>
            <a:pPr>
              <a:spcBef>
                <a:spcPts val="0"/>
              </a:spcBef>
              <a:spcAft>
                <a:spcPts val="0"/>
              </a:spcAft>
              <a:defRPr sz="900">
                <a:solidFill>
                  <a:srgbClr val="333333"/>
                </a:solidFill>
                <a:latin typeface="Consolas"/>
              </a:defRPr>
            </a:pPr>
            <a:r>
              <a:rPr dirty="0"/>
              <a:t>  pressure = </a:t>
            </a:r>
            <a:r>
              <a:rPr dirty="0" err="1"/>
              <a:t>base_phase</a:t>
            </a:r>
            <a:r>
              <a:rPr dirty="0"/>
              <a:t> + </a:t>
            </a:r>
            <a:r>
              <a:rPr dirty="0" err="1"/>
              <a:t>urgency_bonus</a:t>
            </a:r>
            <a:r>
              <a:rPr dirty="0"/>
              <a:t> + </a:t>
            </a:r>
            <a:r>
              <a:rPr dirty="0" err="1"/>
              <a:t>severity_bonus</a:t>
            </a:r>
            <a:r>
              <a:rPr dirty="0"/>
              <a:t>     (capped at 100)</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  </a:t>
            </a:r>
            <a:r>
              <a:rPr dirty="0" err="1"/>
              <a:t>urgency_bonus</a:t>
            </a:r>
            <a:r>
              <a:rPr dirty="0"/>
              <a:t> = 15 × (1 - </a:t>
            </a:r>
            <a:r>
              <a:rPr dirty="0" err="1"/>
              <a:t>hours_left</a:t>
            </a:r>
            <a:r>
              <a:rPr dirty="0"/>
              <a:t> / 2)     — ramps 0→15 in last 2 hours before explosion</a:t>
            </a:r>
          </a:p>
          <a:p>
            <a:pPr>
              <a:spcBef>
                <a:spcPts val="0"/>
              </a:spcBef>
              <a:spcAft>
                <a:spcPts val="0"/>
              </a:spcAft>
              <a:defRPr sz="900">
                <a:solidFill>
                  <a:srgbClr val="333333"/>
                </a:solidFill>
                <a:latin typeface="Consolas"/>
              </a:defRPr>
            </a:pPr>
            <a:r>
              <a:rPr dirty="0"/>
              <a:t>  </a:t>
            </a:r>
            <a:r>
              <a:rPr dirty="0" err="1"/>
              <a:t>severity_bonus</a:t>
            </a:r>
            <a:r>
              <a:rPr dirty="0"/>
              <a:t>: +20 (SCRAM) | +15 (ABORT) | +10 (EVACUATE) | +5 (WARN)</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  Example at 01:00 (Phase 3, 23 min before explosion):</a:t>
            </a:r>
          </a:p>
          <a:p>
            <a:pPr>
              <a:spcBef>
                <a:spcPts val="0"/>
              </a:spcBef>
              <a:spcAft>
                <a:spcPts val="0"/>
              </a:spcAft>
              <a:defRPr sz="900">
                <a:solidFill>
                  <a:srgbClr val="333333"/>
                </a:solidFill>
                <a:latin typeface="Consolas"/>
              </a:defRPr>
            </a:pPr>
            <a:r>
              <a:rPr dirty="0"/>
              <a:t>    pressure = 85 + 15×(1 - 0.39/2) + 20 = 85 + 12.1 + 20 = 100 → maximum resistance</a:t>
            </a:r>
          </a:p>
        </p:txBody>
      </p:sp>
      <p:sp>
        <p:nvSpPr>
          <p:cNvPr id="6" name="TextBox 5"/>
          <p:cNvSpPr txBox="1"/>
          <p:nvPr/>
        </p:nvSpPr>
        <p:spPr>
          <a:xfrm>
            <a:off x="457199" y="4191000"/>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Override Resolution Rules — How Dyatlov's Pressure is Resolved:</a:t>
            </a:r>
          </a:p>
        </p:txBody>
      </p:sp>
      <p:graphicFrame>
        <p:nvGraphicFramePr>
          <p:cNvPr id="7" name="Table 6"/>
          <p:cNvGraphicFramePr>
            <a:graphicFrameLocks noGrp="1"/>
          </p:cNvGraphicFramePr>
          <p:nvPr>
            <p:extLst>
              <p:ext uri="{D42A27DB-BD31-4B8C-83A1-F6EECF244321}">
                <p14:modId xmlns:p14="http://schemas.microsoft.com/office/powerpoint/2010/main" val="899111306"/>
              </p:ext>
            </p:extLst>
          </p:nvPr>
        </p:nvGraphicFramePr>
        <p:xfrm>
          <a:off x="457200" y="4427220"/>
          <a:ext cx="11277295" cy="137160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Decision Source</a:t>
                      </a:r>
                    </a:p>
                  </a:txBody>
                  <a:tcPr>
                    <a:solidFill>
                      <a:srgbClr val="009B8D"/>
                    </a:solidFill>
                  </a:tcPr>
                </a:tc>
                <a:tc>
                  <a:txBody>
                    <a:bodyPr/>
                    <a:lstStyle/>
                    <a:p>
                      <a:pPr>
                        <a:defRPr sz="900" b="1">
                          <a:solidFill>
                            <a:srgbClr val="FFFFFF"/>
                          </a:solidFill>
                          <a:latin typeface="Calibri"/>
                        </a:defRPr>
                      </a:pPr>
                      <a:r>
                        <a:t>Decision Type</a:t>
                      </a:r>
                    </a:p>
                  </a:txBody>
                  <a:tcPr>
                    <a:solidFill>
                      <a:srgbClr val="009B8D"/>
                    </a:solidFill>
                  </a:tcPr>
                </a:tc>
                <a:tc>
                  <a:txBody>
                    <a:bodyPr/>
                    <a:lstStyle/>
                    <a:p>
                      <a:pPr>
                        <a:defRPr sz="900" b="1">
                          <a:solidFill>
                            <a:srgbClr val="FFFFFF"/>
                          </a:solidFill>
                          <a:latin typeface="Calibri"/>
                        </a:defRPr>
                      </a:pPr>
                      <a:r>
                        <a:rPr dirty="0"/>
                        <a:t>Overridable?</a:t>
                      </a:r>
                    </a:p>
                  </a:txBody>
                  <a:tcPr>
                    <a:solidFill>
                      <a:srgbClr val="009B8D"/>
                    </a:solidFill>
                  </a:tcPr>
                </a:tc>
                <a:tc>
                  <a:txBody>
                    <a:bodyPr/>
                    <a:lstStyle/>
                    <a:p>
                      <a:pPr>
                        <a:defRPr sz="900" b="1">
                          <a:solidFill>
                            <a:srgbClr val="FFFFFF"/>
                          </a:solidFill>
                          <a:latin typeface="Calibri"/>
                        </a:defRPr>
                      </a:pPr>
                      <a:r>
                        <a:t>Conditions</a:t>
                      </a:r>
                    </a:p>
                  </a:txBody>
                  <a:tcPr>
                    <a:solidFill>
                      <a:srgbClr val="009B8D"/>
                    </a:solidFill>
                  </a:tcPr>
                </a:tc>
                <a:tc>
                  <a:txBody>
                    <a:bodyPr/>
                    <a:lstStyle/>
                    <a:p>
                      <a:pPr>
                        <a:defRPr sz="900" b="1">
                          <a:solidFill>
                            <a:srgbClr val="FFFFFF"/>
                          </a:solidFill>
                          <a:latin typeface="Calibri"/>
                        </a:defRPr>
                      </a:pPr>
                      <a:r>
                        <a:t>Effect</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rule</a:t>
                      </a:r>
                    </a:p>
                  </a:txBody>
                  <a:tcPr>
                    <a:solidFill>
                      <a:srgbClr val="FFFFFF"/>
                    </a:solidFill>
                  </a:tcPr>
                </a:tc>
                <a:tc>
                  <a:txBody>
                    <a:bodyPr/>
                    <a:lstStyle/>
                    <a:p>
                      <a:pPr>
                        <a:defRPr sz="800">
                          <a:solidFill>
                            <a:srgbClr val="333333"/>
                          </a:solidFill>
                          <a:latin typeface="Calibri"/>
                        </a:defRPr>
                      </a:pPr>
                      <a:r>
                        <a:t>SCRAM / EVACUATE</a:t>
                      </a:r>
                    </a:p>
                  </a:txBody>
                  <a:tcPr>
                    <a:solidFill>
                      <a:srgbClr val="FFFFFF"/>
                    </a:solidFill>
                  </a:tcPr>
                </a:tc>
                <a:tc>
                  <a:txBody>
                    <a:bodyPr/>
                    <a:lstStyle/>
                    <a:p>
                      <a:pPr>
                        <a:defRPr sz="800">
                          <a:solidFill>
                            <a:srgbClr val="333333"/>
                          </a:solidFill>
                          <a:latin typeface="Calibri"/>
                        </a:defRPr>
                      </a:pPr>
                      <a:r>
                        <a:t>NEVER</a:t>
                      </a:r>
                    </a:p>
                  </a:txBody>
                  <a:tcPr>
                    <a:solidFill>
                      <a:srgbClr val="FFFFFF"/>
                    </a:solidFill>
                  </a:tcPr>
                </a:tc>
                <a:tc>
                  <a:txBody>
                    <a:bodyPr/>
                    <a:lstStyle/>
                    <a:p>
                      <a:pPr>
                        <a:defRPr sz="800">
                          <a:solidFill>
                            <a:srgbClr val="333333"/>
                          </a:solidFill>
                          <a:latin typeface="Calibri"/>
                        </a:defRPr>
                      </a:pPr>
                      <a:r>
                        <a:t>Hard guardrails are non-negotiable</a:t>
                      </a:r>
                    </a:p>
                  </a:txBody>
                  <a:tcPr>
                    <a:solidFill>
                      <a:srgbClr val="FFFFFF"/>
                    </a:solidFill>
                  </a:tcPr>
                </a:tc>
                <a:tc>
                  <a:txBody>
                    <a:bodyPr/>
                    <a:lstStyle/>
                    <a:p>
                      <a:pPr>
                        <a:defRPr sz="800">
                          <a:solidFill>
                            <a:srgbClr val="333333"/>
                          </a:solidFill>
                          <a:latin typeface="Calibri"/>
                        </a:defRPr>
                      </a:pPr>
                      <a:r>
                        <a:t>Executes immediately, logged as rule-sourced</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llm</a:t>
                      </a:r>
                    </a:p>
                  </a:txBody>
                  <a:tcPr>
                    <a:solidFill>
                      <a:srgbClr val="F2F2F2"/>
                    </a:solidFill>
                  </a:tcPr>
                </a:tc>
                <a:tc>
                  <a:txBody>
                    <a:bodyPr/>
                    <a:lstStyle/>
                    <a:p>
                      <a:pPr>
                        <a:defRPr sz="800">
                          <a:solidFill>
                            <a:srgbClr val="333333"/>
                          </a:solidFill>
                          <a:latin typeface="Calibri"/>
                        </a:defRPr>
                      </a:pPr>
                      <a:r>
                        <a:t>SCRAM / EVACUATE</a:t>
                      </a:r>
                    </a:p>
                  </a:txBody>
                  <a:tcPr>
                    <a:solidFill>
                      <a:srgbClr val="F2F2F2"/>
                    </a:solidFill>
                  </a:tcPr>
                </a:tc>
                <a:tc>
                  <a:txBody>
                    <a:bodyPr/>
                    <a:lstStyle/>
                    <a:p>
                      <a:pPr>
                        <a:defRPr sz="800">
                          <a:solidFill>
                            <a:srgbClr val="333333"/>
                          </a:solidFill>
                          <a:latin typeface="Calibri"/>
                        </a:defRPr>
                      </a:pPr>
                      <a:r>
                        <a:t>NEVER</a:t>
                      </a:r>
                    </a:p>
                  </a:txBody>
                  <a:tcPr>
                    <a:solidFill>
                      <a:srgbClr val="F2F2F2"/>
                    </a:solidFill>
                  </a:tcPr>
                </a:tc>
                <a:tc>
                  <a:txBody>
                    <a:bodyPr/>
                    <a:lstStyle/>
                    <a:p>
                      <a:pPr>
                        <a:defRPr sz="800">
                          <a:solidFill>
                            <a:srgbClr val="333333"/>
                          </a:solidFill>
                          <a:latin typeface="Calibri"/>
                        </a:defRPr>
                      </a:pPr>
                      <a:r>
                        <a:t>Even LLM-sourced critical actions pass through</a:t>
                      </a:r>
                    </a:p>
                  </a:txBody>
                  <a:tcPr>
                    <a:solidFill>
                      <a:srgbClr val="F2F2F2"/>
                    </a:solidFill>
                  </a:tcPr>
                </a:tc>
                <a:tc>
                  <a:txBody>
                    <a:bodyPr/>
                    <a:lstStyle/>
                    <a:p>
                      <a:pPr>
                        <a:defRPr sz="800">
                          <a:solidFill>
                            <a:srgbClr val="333333"/>
                          </a:solidFill>
                          <a:latin typeface="Calibri"/>
                        </a:defRPr>
                      </a:pPr>
                      <a:r>
                        <a:t>AI critical decisions also protected</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llm</a:t>
                      </a:r>
                    </a:p>
                  </a:txBody>
                  <a:tcPr>
                    <a:solidFill>
                      <a:srgbClr val="FFFFFF"/>
                    </a:solidFill>
                  </a:tcPr>
                </a:tc>
                <a:tc>
                  <a:txBody>
                    <a:bodyPr/>
                    <a:lstStyle/>
                    <a:p>
                      <a:pPr>
                        <a:defRPr sz="800">
                          <a:solidFill>
                            <a:srgbClr val="333333"/>
                          </a:solidFill>
                          <a:latin typeface="Calibri"/>
                        </a:defRPr>
                      </a:pPr>
                      <a:r>
                        <a:t>WARN / ABORT (non-critical)</a:t>
                      </a:r>
                    </a:p>
                  </a:txBody>
                  <a:tcPr>
                    <a:solidFill>
                      <a:srgbClr val="FFFFFF"/>
                    </a:solidFill>
                  </a:tcPr>
                </a:tc>
                <a:tc>
                  <a:txBody>
                    <a:bodyPr/>
                    <a:lstStyle/>
                    <a:p>
                      <a:pPr>
                        <a:defRPr sz="800">
                          <a:solidFill>
                            <a:srgbClr val="333333"/>
                          </a:solidFill>
                          <a:latin typeface="Calibri"/>
                        </a:defRPr>
                      </a:pPr>
                      <a:r>
                        <a:t>Delayed 2-3 ticks</a:t>
                      </a:r>
                    </a:p>
                  </a:txBody>
                  <a:tcPr>
                    <a:solidFill>
                      <a:srgbClr val="FFFFFF"/>
                    </a:solidFill>
                  </a:tcPr>
                </a:tc>
                <a:tc>
                  <a:txBody>
                    <a:bodyPr/>
                    <a:lstStyle/>
                    <a:p>
                      <a:pPr>
                        <a:defRPr sz="800">
                          <a:solidFill>
                            <a:srgbClr val="333333"/>
                          </a:solidFill>
                          <a:latin typeface="Calibri"/>
                        </a:defRPr>
                      </a:pPr>
                      <a:r>
                        <a:t>Only if pressure &gt; 50 AND phase ≤ 2</a:t>
                      </a:r>
                    </a:p>
                  </a:txBody>
                  <a:tcPr>
                    <a:solidFill>
                      <a:srgbClr val="FFFFFF"/>
                    </a:solidFill>
                  </a:tcPr>
                </a:tc>
                <a:tc>
                  <a:txBody>
                    <a:bodyPr/>
                    <a:lstStyle/>
                    <a:p>
                      <a:pPr>
                        <a:defRPr sz="800">
                          <a:solidFill>
                            <a:srgbClr val="333333"/>
                          </a:solidFill>
                          <a:latin typeface="Calibri"/>
                        </a:defRPr>
                      </a:pPr>
                      <a:r>
                        <a:t>Decision queued, reinjected after delay</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any</a:t>
                      </a:r>
                    </a:p>
                  </a:txBody>
                  <a:tcPr>
                    <a:solidFill>
                      <a:srgbClr val="F2F2F2"/>
                    </a:solidFill>
                  </a:tcPr>
                </a:tc>
                <a:tc>
                  <a:txBody>
                    <a:bodyPr/>
                    <a:lstStyle/>
                    <a:p>
                      <a:pPr>
                        <a:defRPr sz="800">
                          <a:solidFill>
                            <a:srgbClr val="333333"/>
                          </a:solidFill>
                          <a:latin typeface="Calibri"/>
                        </a:defRPr>
                      </a:pPr>
                      <a:r>
                        <a:rPr dirty="0"/>
                        <a:t>Any action</a:t>
                      </a:r>
                    </a:p>
                  </a:txBody>
                  <a:tcPr>
                    <a:solidFill>
                      <a:srgbClr val="F2F2F2"/>
                    </a:solidFill>
                  </a:tcPr>
                </a:tc>
                <a:tc>
                  <a:txBody>
                    <a:bodyPr/>
                    <a:lstStyle/>
                    <a:p>
                      <a:pPr>
                        <a:defRPr sz="800">
                          <a:solidFill>
                            <a:srgbClr val="333333"/>
                          </a:solidFill>
                          <a:latin typeface="Calibri"/>
                        </a:defRPr>
                      </a:pPr>
                      <a:r>
                        <a:t>NEVER</a:t>
                      </a:r>
                    </a:p>
                  </a:txBody>
                  <a:tcPr>
                    <a:solidFill>
                      <a:srgbClr val="F2F2F2"/>
                    </a:solidFill>
                  </a:tcPr>
                </a:tc>
                <a:tc>
                  <a:txBody>
                    <a:bodyPr/>
                    <a:lstStyle/>
                    <a:p>
                      <a:pPr>
                        <a:defRPr sz="800">
                          <a:solidFill>
                            <a:srgbClr val="333333"/>
                          </a:solidFill>
                          <a:latin typeface="Calibri"/>
                        </a:defRPr>
                      </a:pPr>
                      <a:r>
                        <a:t>If risk ≥ 85 at time of reinjection</a:t>
                      </a:r>
                    </a:p>
                  </a:txBody>
                  <a:tcPr>
                    <a:solidFill>
                      <a:srgbClr val="F2F2F2"/>
                    </a:solidFill>
                  </a:tcPr>
                </a:tc>
                <a:tc>
                  <a:txBody>
                    <a:bodyPr/>
                    <a:lstStyle/>
                    <a:p>
                      <a:pPr>
                        <a:defRPr sz="800">
                          <a:solidFill>
                            <a:srgbClr val="333333"/>
                          </a:solidFill>
                          <a:latin typeface="Calibri"/>
                        </a:defRPr>
                      </a:pPr>
                      <a:r>
                        <a:rPr dirty="0"/>
                        <a:t>Delayed decisions reactivate at threshold</a:t>
                      </a:r>
                    </a:p>
                  </a:txBody>
                  <a:tcPr>
                    <a:solidFill>
                      <a:srgbClr val="F2F2F2"/>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1" name="TextBox 10"/>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10/20</a:t>
            </a:r>
          </a:p>
        </p:txBody>
      </p:sp>
      <p:sp>
        <p:nvSpPr>
          <p:cNvPr id="8" name="Rounded Rectangle 7"/>
          <p:cNvSpPr/>
          <p:nvPr/>
        </p:nvSpPr>
        <p:spPr>
          <a:xfrm>
            <a:off x="457200" y="5921502"/>
            <a:ext cx="11277295" cy="50292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000" b="1">
                <a:solidFill>
                  <a:srgbClr val="0C2340"/>
                </a:solidFill>
                <a:latin typeface="Calibri"/>
              </a:defRPr>
            </a:pPr>
            <a:r>
              <a:rPr dirty="0"/>
              <a:t>Why Adversarial Testing? </a:t>
            </a:r>
            <a:r>
              <a:rPr dirty="0" err="1"/>
              <a:t>DyatlovAgent</a:t>
            </a:r>
            <a:r>
              <a:rPr dirty="0"/>
              <a:t> validates the entire guardrail architecture under realistic human pressure. It proves that AI safety decisions survive authority gradient, production pressure, and career threats</a:t>
            </a:r>
            <a:r>
              <a:rPr lang="en-US" dirty="0"/>
              <a:t>,</a:t>
            </a:r>
            <a:r>
              <a:rPr dirty="0"/>
              <a:t> the exact conditions that caused the real disaster. This is a stress test for the Guardrail-Union pattern.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Azure Architecture </a:t>
            </a:r>
            <a:r>
              <a:rPr lang="en-US" dirty="0"/>
              <a:t>-</a:t>
            </a:r>
            <a:r>
              <a:rPr dirty="0"/>
              <a:t> Track A: GitHub + Azure</a:t>
            </a:r>
          </a:p>
          <a:p>
            <a:pPr algn="l">
              <a:spcBef>
                <a:spcPts val="100"/>
              </a:spcBef>
              <a:spcAft>
                <a:spcPts val="100"/>
              </a:spcAft>
              <a:defRPr sz="1300" b="0">
                <a:solidFill>
                  <a:srgbClr val="88BBDD"/>
                </a:solidFill>
                <a:latin typeface="Calibri"/>
              </a:defRPr>
            </a:pPr>
            <a:r>
              <a:rPr dirty="0"/>
              <a:t>Every Azure service matched to its workload characteristic per Well-Architected Framework</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54252"/>
            <a:ext cx="11277295" cy="36576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100" b="1">
                <a:solidFill>
                  <a:srgbClr val="FFFFFF"/>
                </a:solidFill>
                <a:latin typeface="Calibri"/>
              </a:defRPr>
            </a:pPr>
            <a:r>
              <a:t>TRACK A: GitHub + Azure  —  All services are Azure-native. No Power Platform / Copilot Studio dependencies in core pipeline.</a:t>
            </a:r>
          </a:p>
        </p:txBody>
      </p:sp>
      <p:graphicFrame>
        <p:nvGraphicFramePr>
          <p:cNvPr id="5" name="Table 4"/>
          <p:cNvGraphicFramePr>
            <a:graphicFrameLocks noGrp="1"/>
          </p:cNvGraphicFramePr>
          <p:nvPr/>
        </p:nvGraphicFramePr>
        <p:xfrm>
          <a:off x="457200" y="1711452"/>
          <a:ext cx="11277295" cy="298704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Azure Service</a:t>
                      </a:r>
                    </a:p>
                  </a:txBody>
                  <a:tcPr>
                    <a:solidFill>
                      <a:srgbClr val="009B8D"/>
                    </a:solidFill>
                  </a:tcPr>
                </a:tc>
                <a:tc>
                  <a:txBody>
                    <a:bodyPr/>
                    <a:lstStyle/>
                    <a:p>
                      <a:pPr>
                        <a:defRPr sz="900" b="1">
                          <a:solidFill>
                            <a:srgbClr val="FFFFFF"/>
                          </a:solidFill>
                          <a:latin typeface="Calibri"/>
                        </a:defRPr>
                      </a:pPr>
                      <a:r>
                        <a:t>Purpose in Pipeline</a:t>
                      </a:r>
                    </a:p>
                  </a:txBody>
                  <a:tcPr>
                    <a:solidFill>
                      <a:srgbClr val="009B8D"/>
                    </a:solidFill>
                  </a:tcPr>
                </a:tc>
                <a:tc>
                  <a:txBody>
                    <a:bodyPr/>
                    <a:lstStyle/>
                    <a:p>
                      <a:pPr>
                        <a:defRPr sz="900" b="1">
                          <a:solidFill>
                            <a:srgbClr val="FFFFFF"/>
                          </a:solidFill>
                          <a:latin typeface="Calibri"/>
                        </a:defRPr>
                      </a:pPr>
                      <a:r>
                        <a:t>WAF Pillar</a:t>
                      </a:r>
                    </a:p>
                  </a:txBody>
                  <a:tcPr>
                    <a:solidFill>
                      <a:srgbClr val="009B8D"/>
                    </a:solidFill>
                  </a:tcPr>
                </a:tc>
                <a:tc>
                  <a:txBody>
                    <a:bodyPr/>
                    <a:lstStyle/>
                    <a:p>
                      <a:pPr>
                        <a:defRPr sz="900" b="1">
                          <a:solidFill>
                            <a:srgbClr val="FFFFFF"/>
                          </a:solidFill>
                          <a:latin typeface="Calibri"/>
                        </a:defRPr>
                      </a:pPr>
                      <a:r>
                        <a:t>Status</a:t>
                      </a:r>
                    </a:p>
                  </a:txBody>
                  <a:tcPr>
                    <a:solidFill>
                      <a:srgbClr val="009B8D"/>
                    </a:solidFill>
                  </a:tcPr>
                </a:tc>
                <a:tc>
                  <a:txBody>
                    <a:bodyPr/>
                    <a:lstStyle/>
                    <a:p>
                      <a:pPr>
                        <a:defRPr sz="900" b="1">
                          <a:solidFill>
                            <a:srgbClr val="FFFFFF"/>
                          </a:solidFill>
                          <a:latin typeface="Calibri"/>
                        </a:defRPr>
                      </a:pPr>
                      <a:r>
                        <a:t>Cost Tier</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Azure OpenAI</a:t>
                      </a:r>
                      <a:br/>
                      <a:r>
                        <a:t>(GPT-4o)</a:t>
                      </a:r>
                    </a:p>
                  </a:txBody>
                  <a:tcPr>
                    <a:solidFill>
                      <a:srgbClr val="FFFFFF"/>
                    </a:solidFill>
                  </a:tcPr>
                </a:tc>
                <a:tc>
                  <a:txBody>
                    <a:bodyPr/>
                    <a:lstStyle/>
                    <a:p>
                      <a:pPr>
                        <a:defRPr sz="800">
                          <a:solidFill>
                            <a:srgbClr val="333333"/>
                          </a:solidFill>
                          <a:latin typeface="Calibri"/>
                        </a:defRPr>
                      </a:pPr>
                      <a:r>
                        <a:t>RiskAgent, DecisionAgent, DyatlovAgent LLM calls.</a:t>
                      </a:r>
                      <a:br/>
                      <a:r>
                        <a:t>Structured JSON outputs via response_format.</a:t>
                      </a:r>
                    </a:p>
                  </a:txBody>
                  <a:tcPr>
                    <a:solidFill>
                      <a:srgbClr val="FFFFFF"/>
                    </a:solidFill>
                  </a:tcPr>
                </a:tc>
                <a:tc>
                  <a:txBody>
                    <a:bodyPr/>
                    <a:lstStyle/>
                    <a:p>
                      <a:pPr>
                        <a:defRPr sz="800">
                          <a:solidFill>
                            <a:srgbClr val="333333"/>
                          </a:solidFill>
                          <a:latin typeface="Calibri"/>
                        </a:defRPr>
                      </a:pPr>
                      <a:r>
                        <a:t>Performance</a:t>
                      </a:r>
                      <a:br/>
                      <a:r>
                        <a:t>Efficiency</a:t>
                      </a:r>
                    </a:p>
                  </a:txBody>
                  <a:tcPr>
                    <a:solidFill>
                      <a:srgbClr val="FFFFFF"/>
                    </a:solidFill>
                  </a:tcPr>
                </a:tc>
                <a:tc>
                  <a:txBody>
                    <a:bodyPr/>
                    <a:lstStyle/>
                    <a:p>
                      <a:pPr>
                        <a:defRPr sz="800">
                          <a:solidFill>
                            <a:srgbClr val="333333"/>
                          </a:solidFill>
                          <a:latin typeface="Calibri"/>
                        </a:defRPr>
                      </a:pPr>
                      <a:r>
                        <a:t>✅ Deployed</a:t>
                      </a:r>
                    </a:p>
                  </a:txBody>
                  <a:tcPr>
                    <a:solidFill>
                      <a:srgbClr val="FFFFFF"/>
                    </a:solidFill>
                  </a:tcPr>
                </a:tc>
                <a:tc>
                  <a:txBody>
                    <a:bodyPr/>
                    <a:lstStyle/>
                    <a:p>
                      <a:pPr>
                        <a:defRPr sz="800">
                          <a:solidFill>
                            <a:srgbClr val="333333"/>
                          </a:solidFill>
                          <a:latin typeface="Calibri"/>
                        </a:defRPr>
                      </a:pPr>
                      <a:r>
                        <a:t>Pay-per-token</a:t>
                      </a:r>
                      <a:br/>
                      <a:r>
                        <a:t>~$0.10/run</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AI Foundry</a:t>
                      </a:r>
                    </a:p>
                  </a:txBody>
                  <a:tcPr>
                    <a:solidFill>
                      <a:srgbClr val="F2F2F2"/>
                    </a:solidFill>
                  </a:tcPr>
                </a:tc>
                <a:tc>
                  <a:txBody>
                    <a:bodyPr/>
                    <a:lstStyle/>
                    <a:p>
                      <a:pPr>
                        <a:defRPr sz="800">
                          <a:solidFill>
                            <a:srgbClr val="333333"/>
                          </a:solidFill>
                          <a:latin typeface="Calibri"/>
                        </a:defRPr>
                      </a:pPr>
                      <a:r>
                        <a:t>3 agent evaluation playgrounds (Risk, Decision, Dyatlov).</a:t>
                      </a:r>
                      <a:br/>
                      <a:r>
                        <a:t>Prompt versioning &amp; evaluation pipelines.</a:t>
                      </a:r>
                    </a:p>
                  </a:txBody>
                  <a:tcPr>
                    <a:solidFill>
                      <a:srgbClr val="F2F2F2"/>
                    </a:solidFill>
                  </a:tcPr>
                </a:tc>
                <a:tc>
                  <a:txBody>
                    <a:bodyPr/>
                    <a:lstStyle/>
                    <a:p>
                      <a:pPr>
                        <a:defRPr sz="800">
                          <a:solidFill>
                            <a:srgbClr val="333333"/>
                          </a:solidFill>
                          <a:latin typeface="Calibri"/>
                        </a:defRPr>
                      </a:pPr>
                      <a:r>
                        <a:t>Operational</a:t>
                      </a:r>
                      <a:br/>
                      <a:r>
                        <a:t>Excellence</a:t>
                      </a:r>
                    </a:p>
                  </a:txBody>
                  <a:tcPr>
                    <a:solidFill>
                      <a:srgbClr val="F2F2F2"/>
                    </a:solidFill>
                  </a:tcPr>
                </a:tc>
                <a:tc>
                  <a:txBody>
                    <a:bodyPr/>
                    <a:lstStyle/>
                    <a:p>
                      <a:pPr>
                        <a:defRPr sz="800">
                          <a:solidFill>
                            <a:srgbClr val="333333"/>
                          </a:solidFill>
                          <a:latin typeface="Calibri"/>
                        </a:defRPr>
                      </a:pPr>
                      <a:r>
                        <a:t>✅ Deployed</a:t>
                      </a:r>
                    </a:p>
                  </a:txBody>
                  <a:tcPr>
                    <a:solidFill>
                      <a:srgbClr val="F2F2F2"/>
                    </a:solidFill>
                  </a:tcPr>
                </a:tc>
                <a:tc>
                  <a:txBody>
                    <a:bodyPr/>
                    <a:lstStyle/>
                    <a:p>
                      <a:pPr>
                        <a:defRPr sz="800">
                          <a:solidFill>
                            <a:srgbClr val="333333"/>
                          </a:solidFill>
                          <a:latin typeface="Calibri"/>
                        </a:defRPr>
                      </a:pPr>
                      <a:r>
                        <a:t>Free tier</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Container Apps</a:t>
                      </a:r>
                      <a:br/>
                      <a:r>
                        <a:t>(Serverless)</a:t>
                      </a:r>
                    </a:p>
                  </a:txBody>
                  <a:tcPr>
                    <a:solidFill>
                      <a:srgbClr val="FFFFFF"/>
                    </a:solidFill>
                  </a:tcPr>
                </a:tc>
                <a:tc>
                  <a:txBody>
                    <a:bodyPr/>
                    <a:lstStyle/>
                    <a:p>
                      <a:pPr>
                        <a:defRPr sz="800">
                          <a:solidFill>
                            <a:srgbClr val="333333"/>
                          </a:solidFill>
                          <a:latin typeface="Calibri"/>
                        </a:defRPr>
                      </a:pPr>
                      <a:r>
                        <a:t>Live web dashboard hosting. Auto-scales to zero.</a:t>
                      </a:r>
                      <a:br/>
                      <a:r>
                        <a:t>FastAPI + WebSocket at 15 FPS.</a:t>
                      </a:r>
                    </a:p>
                  </a:txBody>
                  <a:tcPr>
                    <a:solidFill>
                      <a:srgbClr val="FFFFFF"/>
                    </a:solidFill>
                  </a:tcPr>
                </a:tc>
                <a:tc>
                  <a:txBody>
                    <a:bodyPr/>
                    <a:lstStyle/>
                    <a:p>
                      <a:pPr>
                        <a:defRPr sz="800">
                          <a:solidFill>
                            <a:srgbClr val="333333"/>
                          </a:solidFill>
                          <a:latin typeface="Calibri"/>
                        </a:defRPr>
                      </a:pPr>
                      <a:r>
                        <a:t>Cost</a:t>
                      </a:r>
                      <a:br/>
                      <a:r>
                        <a:t>Optimisation</a:t>
                      </a:r>
                    </a:p>
                  </a:txBody>
                  <a:tcPr>
                    <a:solidFill>
                      <a:srgbClr val="FFFFFF"/>
                    </a:solidFill>
                  </a:tcPr>
                </a:tc>
                <a:tc>
                  <a:txBody>
                    <a:bodyPr/>
                    <a:lstStyle/>
                    <a:p>
                      <a:pPr>
                        <a:defRPr sz="800">
                          <a:solidFill>
                            <a:srgbClr val="333333"/>
                          </a:solidFill>
                          <a:latin typeface="Calibri"/>
                        </a:defRPr>
                      </a:pPr>
                      <a:r>
                        <a:t>✅ Deployed</a:t>
                      </a:r>
                    </a:p>
                  </a:txBody>
                  <a:tcPr>
                    <a:solidFill>
                      <a:srgbClr val="FFFFFF"/>
                    </a:solidFill>
                  </a:tcPr>
                </a:tc>
                <a:tc>
                  <a:txBody>
                    <a:bodyPr/>
                    <a:lstStyle/>
                    <a:p>
                      <a:pPr>
                        <a:defRPr sz="800">
                          <a:solidFill>
                            <a:srgbClr val="333333"/>
                          </a:solidFill>
                          <a:latin typeface="Calibri"/>
                        </a:defRPr>
                      </a:pPr>
                      <a:r>
                        <a:t>Consumption</a:t>
                      </a:r>
                      <a:br/>
                      <a:r>
                        <a:t>(scale to 0)</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Cosmos DB</a:t>
                      </a:r>
                      <a:br/>
                      <a:r>
                        <a:t>(Serverless, NoSQL)</a:t>
                      </a:r>
                    </a:p>
                  </a:txBody>
                  <a:tcPr>
                    <a:solidFill>
                      <a:srgbClr val="F2F2F2"/>
                    </a:solidFill>
                  </a:tcPr>
                </a:tc>
                <a:tc>
                  <a:txBody>
                    <a:bodyPr/>
                    <a:lstStyle/>
                    <a:p>
                      <a:pPr>
                        <a:defRPr sz="800">
                          <a:solidFill>
                            <a:srgbClr val="333333"/>
                          </a:solidFill>
                          <a:latin typeface="Calibri"/>
                        </a:defRPr>
                      </a:pPr>
                      <a:r>
                        <a:t>Immutable audit trail: tick × agent × timestamp.</a:t>
                      </a:r>
                      <a:br/>
                      <a:r>
                        <a:t>5-year retention for compliance.</a:t>
                      </a:r>
                    </a:p>
                  </a:txBody>
                  <a:tcPr>
                    <a:solidFill>
                      <a:srgbClr val="F2F2F2"/>
                    </a:solidFill>
                  </a:tcPr>
                </a:tc>
                <a:tc>
                  <a:txBody>
                    <a:bodyPr/>
                    <a:lstStyle/>
                    <a:p>
                      <a:pPr>
                        <a:defRPr sz="800">
                          <a:solidFill>
                            <a:srgbClr val="333333"/>
                          </a:solidFill>
                          <a:latin typeface="Calibri"/>
                        </a:defRPr>
                      </a:pPr>
                      <a:r>
                        <a:t>Reliability +</a:t>
                      </a:r>
                      <a:br/>
                      <a:r>
                        <a:t>Security</a:t>
                      </a:r>
                    </a:p>
                  </a:txBody>
                  <a:tcPr>
                    <a:solidFill>
                      <a:srgbClr val="F2F2F2"/>
                    </a:solidFill>
                  </a:tcPr>
                </a:tc>
                <a:tc>
                  <a:txBody>
                    <a:bodyPr/>
                    <a:lstStyle/>
                    <a:p>
                      <a:pPr>
                        <a:defRPr sz="800">
                          <a:solidFill>
                            <a:srgbClr val="333333"/>
                          </a:solidFill>
                          <a:latin typeface="Calibri"/>
                        </a:defRPr>
                      </a:pPr>
                      <a:r>
                        <a:t>✅ Deployed</a:t>
                      </a:r>
                    </a:p>
                  </a:txBody>
                  <a:tcPr>
                    <a:solidFill>
                      <a:srgbClr val="F2F2F2"/>
                    </a:solidFill>
                  </a:tcPr>
                </a:tc>
                <a:tc>
                  <a:txBody>
                    <a:bodyPr/>
                    <a:lstStyle/>
                    <a:p>
                      <a:pPr>
                        <a:defRPr sz="800">
                          <a:solidFill>
                            <a:srgbClr val="333333"/>
                          </a:solidFill>
                          <a:latin typeface="Calibri"/>
                        </a:defRPr>
                      </a:pPr>
                      <a:r>
                        <a:t>Serverless</a:t>
                      </a:r>
                      <a:br/>
                      <a:r>
                        <a:t>(pay per RU)</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AI Search</a:t>
                      </a:r>
                      <a:br/>
                      <a:r>
                        <a:t>(Free tier)</a:t>
                      </a:r>
                    </a:p>
                  </a:txBody>
                  <a:tcPr>
                    <a:solidFill>
                      <a:srgbClr val="FFFFFF"/>
                    </a:solidFill>
                  </a:tcPr>
                </a:tc>
                <a:tc>
                  <a:txBody>
                    <a:bodyPr/>
                    <a:lstStyle/>
                    <a:p>
                      <a:pPr>
                        <a:defRPr sz="800">
                          <a:solidFill>
                            <a:srgbClr val="333333"/>
                          </a:solidFill>
                          <a:latin typeface="Calibri"/>
                        </a:defRPr>
                      </a:pPr>
                      <a:r>
                        <a:t>INSAG-7 document RAG. Keyword search over IAEA</a:t>
                      </a:r>
                      <a:br/>
                      <a:r>
                        <a:t>declassified reactor safety reports.</a:t>
                      </a:r>
                    </a:p>
                  </a:txBody>
                  <a:tcPr>
                    <a:solidFill>
                      <a:srgbClr val="FFFFFF"/>
                    </a:solidFill>
                  </a:tcPr>
                </a:tc>
                <a:tc>
                  <a:txBody>
                    <a:bodyPr/>
                    <a:lstStyle/>
                    <a:p>
                      <a:pPr>
                        <a:defRPr sz="800">
                          <a:solidFill>
                            <a:srgbClr val="333333"/>
                          </a:solidFill>
                          <a:latin typeface="Calibri"/>
                        </a:defRPr>
                      </a:pPr>
                      <a:r>
                        <a:t>Operational</a:t>
                      </a:r>
                      <a:br/>
                      <a:r>
                        <a:t>Excellence</a:t>
                      </a:r>
                    </a:p>
                  </a:txBody>
                  <a:tcPr>
                    <a:solidFill>
                      <a:srgbClr val="FFFFFF"/>
                    </a:solidFill>
                  </a:tcPr>
                </a:tc>
                <a:tc>
                  <a:txBody>
                    <a:bodyPr/>
                    <a:lstStyle/>
                    <a:p>
                      <a:pPr>
                        <a:defRPr sz="800">
                          <a:solidFill>
                            <a:srgbClr val="333333"/>
                          </a:solidFill>
                          <a:latin typeface="Calibri"/>
                        </a:defRPr>
                      </a:pPr>
                      <a:r>
                        <a:t>✅ Deployed</a:t>
                      </a:r>
                    </a:p>
                  </a:txBody>
                  <a:tcPr>
                    <a:solidFill>
                      <a:srgbClr val="FFFFFF"/>
                    </a:solidFill>
                  </a:tcPr>
                </a:tc>
                <a:tc>
                  <a:txBody>
                    <a:bodyPr/>
                    <a:lstStyle/>
                    <a:p>
                      <a:pPr>
                        <a:defRPr sz="800">
                          <a:solidFill>
                            <a:srgbClr val="333333"/>
                          </a:solidFill>
                          <a:latin typeface="Calibri"/>
                        </a:defRPr>
                      </a:pPr>
                      <a:r>
                        <a:t>Free tier</a:t>
                      </a:r>
                    </a:p>
                  </a:txBody>
                  <a:tcPr>
                    <a:solidFill>
                      <a:srgbClr val="FFFFFF"/>
                    </a:solidFill>
                  </a:tcPr>
                </a:tc>
                <a:extLst>
                  <a:ext uri="{0D108BD9-81ED-4DB2-BD59-A6C34878D82A}">
                    <a16:rowId xmlns:a16="http://schemas.microsoft.com/office/drawing/2014/main" val="10005"/>
                  </a:ext>
                </a:extLst>
              </a:tr>
              <a:tr h="274320">
                <a:tc>
                  <a:txBody>
                    <a:bodyPr/>
                    <a:lstStyle/>
                    <a:p>
                      <a:pPr>
                        <a:defRPr sz="800">
                          <a:solidFill>
                            <a:srgbClr val="333333"/>
                          </a:solidFill>
                          <a:latin typeface="Calibri"/>
                        </a:defRPr>
                      </a:pPr>
                      <a:r>
                        <a:t>Application</a:t>
                      </a:r>
                      <a:br/>
                      <a:r>
                        <a:t>Insights</a:t>
                      </a:r>
                    </a:p>
                  </a:txBody>
                  <a:tcPr>
                    <a:solidFill>
                      <a:srgbClr val="F2F2F2"/>
                    </a:solidFill>
                  </a:tcPr>
                </a:tc>
                <a:tc>
                  <a:txBody>
                    <a:bodyPr/>
                    <a:lstStyle/>
                    <a:p>
                      <a:pPr>
                        <a:defRPr sz="800">
                          <a:solidFill>
                            <a:srgbClr val="333333"/>
                          </a:solidFill>
                          <a:latin typeface="Calibri"/>
                        </a:defRPr>
                      </a:pPr>
                      <a:r>
                        <a:t>LLM trace logging, latency tracking per agent,</a:t>
                      </a:r>
                      <a:br/>
                      <a:r>
                        <a:t>error rate monitoring, custom metrics.</a:t>
                      </a:r>
                    </a:p>
                  </a:txBody>
                  <a:tcPr>
                    <a:solidFill>
                      <a:srgbClr val="F2F2F2"/>
                    </a:solidFill>
                  </a:tcPr>
                </a:tc>
                <a:tc>
                  <a:txBody>
                    <a:bodyPr/>
                    <a:lstStyle/>
                    <a:p>
                      <a:pPr>
                        <a:defRPr sz="800">
                          <a:solidFill>
                            <a:srgbClr val="333333"/>
                          </a:solidFill>
                          <a:latin typeface="Calibri"/>
                        </a:defRPr>
                      </a:pPr>
                      <a:r>
                        <a:t>Operational</a:t>
                      </a:r>
                      <a:br/>
                      <a:r>
                        <a:t>Excellence</a:t>
                      </a:r>
                    </a:p>
                  </a:txBody>
                  <a:tcPr>
                    <a:solidFill>
                      <a:srgbClr val="F2F2F2"/>
                    </a:solidFill>
                  </a:tcPr>
                </a:tc>
                <a:tc>
                  <a:txBody>
                    <a:bodyPr/>
                    <a:lstStyle/>
                    <a:p>
                      <a:pPr>
                        <a:defRPr sz="800">
                          <a:solidFill>
                            <a:srgbClr val="333333"/>
                          </a:solidFill>
                          <a:latin typeface="Calibri"/>
                        </a:defRPr>
                      </a:pPr>
                      <a:r>
                        <a:t>✅ Configured</a:t>
                      </a:r>
                    </a:p>
                  </a:txBody>
                  <a:tcPr>
                    <a:solidFill>
                      <a:srgbClr val="F2F2F2"/>
                    </a:solidFill>
                  </a:tcPr>
                </a:tc>
                <a:tc>
                  <a:txBody>
                    <a:bodyPr/>
                    <a:lstStyle/>
                    <a:p>
                      <a:pPr>
                        <a:defRPr sz="800">
                          <a:solidFill>
                            <a:srgbClr val="333333"/>
                          </a:solidFill>
                          <a:latin typeface="Calibri"/>
                        </a:defRPr>
                      </a:pPr>
                      <a:r>
                        <a:t>Included</a:t>
                      </a:r>
                    </a:p>
                  </a:txBody>
                  <a:tcPr>
                    <a:solidFill>
                      <a:srgbClr val="F2F2F2"/>
                    </a:solidFill>
                  </a:tcPr>
                </a:tc>
                <a:extLst>
                  <a:ext uri="{0D108BD9-81ED-4DB2-BD59-A6C34878D82A}">
                    <a16:rowId xmlns:a16="http://schemas.microsoft.com/office/drawing/2014/main" val="10006"/>
                  </a:ext>
                </a:extLst>
              </a:tr>
              <a:tr h="274320">
                <a:tc>
                  <a:txBody>
                    <a:bodyPr/>
                    <a:lstStyle/>
                    <a:p>
                      <a:pPr>
                        <a:defRPr sz="800">
                          <a:solidFill>
                            <a:srgbClr val="333333"/>
                          </a:solidFill>
                          <a:latin typeface="Calibri"/>
                        </a:defRPr>
                      </a:pPr>
                      <a:r>
                        <a:t>Container</a:t>
                      </a:r>
                      <a:br/>
                      <a:r>
                        <a:t>Registry (Basic)</a:t>
                      </a:r>
                    </a:p>
                  </a:txBody>
                  <a:tcPr>
                    <a:solidFill>
                      <a:srgbClr val="FFFFFF"/>
                    </a:solidFill>
                  </a:tcPr>
                </a:tc>
                <a:tc>
                  <a:txBody>
                    <a:bodyPr/>
                    <a:lstStyle/>
                    <a:p>
                      <a:pPr>
                        <a:defRPr sz="800">
                          <a:solidFill>
                            <a:srgbClr val="333333"/>
                          </a:solidFill>
                          <a:latin typeface="Calibri"/>
                        </a:defRPr>
                      </a:pPr>
                      <a:r>
                        <a:t>Docker image repository for CI/CD pipeline.</a:t>
                      </a:r>
                      <a:br/>
                      <a:r>
                        <a:t>Automated builds on push.</a:t>
                      </a:r>
                    </a:p>
                  </a:txBody>
                  <a:tcPr>
                    <a:solidFill>
                      <a:srgbClr val="FFFFFF"/>
                    </a:solidFill>
                  </a:tcPr>
                </a:tc>
                <a:tc>
                  <a:txBody>
                    <a:bodyPr/>
                    <a:lstStyle/>
                    <a:p>
                      <a:pPr>
                        <a:defRPr sz="800">
                          <a:solidFill>
                            <a:srgbClr val="333333"/>
                          </a:solidFill>
                          <a:latin typeface="Calibri"/>
                        </a:defRPr>
                      </a:pPr>
                      <a:r>
                        <a:t>Operational</a:t>
                      </a:r>
                      <a:br/>
                      <a:r>
                        <a:t>Excellence</a:t>
                      </a:r>
                    </a:p>
                  </a:txBody>
                  <a:tcPr>
                    <a:solidFill>
                      <a:srgbClr val="FFFFFF"/>
                    </a:solidFill>
                  </a:tcPr>
                </a:tc>
                <a:tc>
                  <a:txBody>
                    <a:bodyPr/>
                    <a:lstStyle/>
                    <a:p>
                      <a:pPr>
                        <a:defRPr sz="800">
                          <a:solidFill>
                            <a:srgbClr val="333333"/>
                          </a:solidFill>
                          <a:latin typeface="Calibri"/>
                        </a:defRPr>
                      </a:pPr>
                      <a:r>
                        <a:t>✅ Deployed</a:t>
                      </a:r>
                    </a:p>
                  </a:txBody>
                  <a:tcPr>
                    <a:solidFill>
                      <a:srgbClr val="FFFFFF"/>
                    </a:solidFill>
                  </a:tcPr>
                </a:tc>
                <a:tc>
                  <a:txBody>
                    <a:bodyPr/>
                    <a:lstStyle/>
                    <a:p>
                      <a:pPr>
                        <a:defRPr sz="800">
                          <a:solidFill>
                            <a:srgbClr val="333333"/>
                          </a:solidFill>
                          <a:latin typeface="Calibri"/>
                        </a:defRPr>
                      </a:pPr>
                      <a:r>
                        <a:t>Basic tier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Rounded Rectangle 5"/>
          <p:cNvSpPr/>
          <p:nvPr/>
        </p:nvSpPr>
        <p:spPr>
          <a:xfrm>
            <a:off x="457200" y="4763357"/>
            <a:ext cx="11277295" cy="123444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rPr b="1" dirty="0"/>
              <a:t>END-TO-END DATA FLOW:</a:t>
            </a:r>
          </a:p>
          <a:p>
            <a:pPr>
              <a:spcBef>
                <a:spcPts val="0"/>
              </a:spcBef>
              <a:spcAft>
                <a:spcPts val="0"/>
              </a:spcAft>
              <a:defRPr sz="900">
                <a:solidFill>
                  <a:srgbClr val="333333"/>
                </a:solidFill>
                <a:latin typeface="Consolas"/>
              </a:defRPr>
            </a:pPr>
            <a:r>
              <a:rPr dirty="0"/>
              <a:t>  timeline_data.py (INSAG-7 events) → </a:t>
            </a:r>
            <a:r>
              <a:rPr dirty="0" err="1"/>
              <a:t>EventSimulator</a:t>
            </a:r>
            <a:r>
              <a:rPr dirty="0"/>
              <a:t> (interpolation to 1s ticks)</a:t>
            </a:r>
          </a:p>
          <a:p>
            <a:pPr>
              <a:spcBef>
                <a:spcPts val="0"/>
              </a:spcBef>
              <a:spcAft>
                <a:spcPts val="0"/>
              </a:spcAft>
              <a:defRPr sz="900">
                <a:solidFill>
                  <a:srgbClr val="333333"/>
                </a:solidFill>
                <a:latin typeface="Consolas"/>
              </a:defRPr>
            </a:pPr>
            <a:r>
              <a:rPr dirty="0"/>
              <a:t>  → Orchestrator (6-agent pipeline per tick) → Azure OpenAI (GPT-4o structured JSON)</a:t>
            </a:r>
          </a:p>
          <a:p>
            <a:pPr>
              <a:spcBef>
                <a:spcPts val="0"/>
              </a:spcBef>
              <a:spcAft>
                <a:spcPts val="0"/>
              </a:spcAft>
              <a:defRPr sz="900">
                <a:solidFill>
                  <a:srgbClr val="333333"/>
                </a:solidFill>
                <a:latin typeface="Consolas"/>
              </a:defRPr>
            </a:pPr>
            <a:r>
              <a:rPr dirty="0"/>
              <a:t>  → Cosmos DB (immutable audit per tick) → AI Search (RAG knowledge retrieval)</a:t>
            </a:r>
          </a:p>
          <a:p>
            <a:pPr>
              <a:spcBef>
                <a:spcPts val="0"/>
              </a:spcBef>
              <a:spcAft>
                <a:spcPts val="0"/>
              </a:spcAft>
              <a:defRPr sz="900">
                <a:solidFill>
                  <a:srgbClr val="333333"/>
                </a:solidFill>
                <a:latin typeface="Consolas"/>
              </a:defRPr>
            </a:pPr>
            <a:r>
              <a:rPr dirty="0"/>
              <a:t>  → Container Apps (</a:t>
            </a:r>
            <a:r>
              <a:rPr dirty="0" err="1"/>
              <a:t>FastAPI</a:t>
            </a:r>
            <a:r>
              <a:rPr dirty="0"/>
              <a:t> WebSocket) → Browser Dashboard (Plotly.js WebGL)</a:t>
            </a:r>
          </a:p>
          <a:p>
            <a:pPr>
              <a:spcBef>
                <a:spcPts val="0"/>
              </a:spcBef>
              <a:spcAft>
                <a:spcPts val="0"/>
              </a:spcAft>
              <a:defRPr sz="900">
                <a:solidFill>
                  <a:srgbClr val="333333"/>
                </a:solidFill>
                <a:latin typeface="Consolas"/>
              </a:defRPr>
            </a:pPr>
            <a:r>
              <a:rPr dirty="0"/>
              <a:t>  → Application Insights (traces + metrics)</a:t>
            </a:r>
          </a:p>
          <a:p>
            <a:pPr>
              <a:spcBef>
                <a:spcPts val="0"/>
              </a:spcBef>
              <a:spcAft>
                <a:spcPts val="0"/>
              </a:spcAft>
              <a:defRPr sz="900">
                <a:solidFill>
                  <a:srgbClr val="333333"/>
                </a:solidFill>
                <a:latin typeface="Consolas"/>
              </a:defRPr>
            </a:pPr>
            <a:endParaRPr dirty="0"/>
          </a:p>
          <a:p>
            <a:pPr>
              <a:spcBef>
                <a:spcPts val="0"/>
              </a:spcBef>
              <a:spcAft>
                <a:spcPts val="0"/>
              </a:spcAft>
              <a:defRPr sz="900">
                <a:solidFill>
                  <a:srgbClr val="333333"/>
                </a:solidFill>
                <a:latin typeface="Consolas"/>
              </a:defRPr>
            </a:pPr>
            <a:r>
              <a:rPr dirty="0"/>
              <a:t>  7-Layer Architecture: </a:t>
            </a:r>
            <a:r>
              <a:rPr dirty="0" err="1"/>
              <a:t>timeline_data</a:t>
            </a:r>
            <a:r>
              <a:rPr dirty="0"/>
              <a:t> → simulator → config → </a:t>
            </a:r>
            <a:r>
              <a:rPr dirty="0" err="1"/>
              <a:t>llm_client</a:t>
            </a:r>
            <a:r>
              <a:rPr dirty="0"/>
              <a:t> → agents → orchestrator → UI</a:t>
            </a:r>
          </a:p>
        </p:txBody>
      </p:sp>
      <p:sp>
        <p:nvSpPr>
          <p:cNvPr id="7" name="Rounded Rectangle 6"/>
          <p:cNvSpPr/>
          <p:nvPr/>
        </p:nvSpPr>
        <p:spPr>
          <a:xfrm>
            <a:off x="457200" y="6062663"/>
            <a:ext cx="11277295" cy="320040"/>
          </a:xfrm>
          <a:prstGeom prst="roundRect">
            <a:avLst/>
          </a:prstGeom>
          <a:solidFill>
            <a:srgbClr val="E8F5E8"/>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1000" b="1">
                <a:solidFill>
                  <a:srgbClr val="228B22"/>
                </a:solidFill>
                <a:latin typeface="Calibri"/>
              </a:defRPr>
            </a:pPr>
            <a:r>
              <a:rPr dirty="0"/>
              <a:t>Total Azure Cost: ~$5-15 of $350 budget used. All services on free/consumption tiers. Single USE_AZURE=true flag activates full Azure stack.</a:t>
            </a:r>
          </a:p>
        </p:txBody>
      </p:sp>
      <p:sp>
        <p:nvSpPr>
          <p:cNvPr id="8" name="Rectangle 7"/>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0" name="TextBox 9"/>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11/20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AI Foundry &amp; Copilot Studio Integration</a:t>
            </a:r>
          </a:p>
          <a:p>
            <a:pPr algn="l">
              <a:spcBef>
                <a:spcPts val="100"/>
              </a:spcBef>
              <a:spcAft>
                <a:spcPts val="100"/>
              </a:spcAft>
              <a:defRPr sz="1300" b="0">
                <a:solidFill>
                  <a:srgbClr val="88BBDD"/>
                </a:solidFill>
                <a:latin typeface="Calibri"/>
              </a:defRPr>
            </a:pPr>
            <a:r>
              <a:t>Agent Evaluation Playgrounds + Operator Conversational Interface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72540"/>
            <a:ext cx="54864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Azure AI Foundry (Implemented ✅)</a:t>
            </a:r>
          </a:p>
        </p:txBody>
      </p:sp>
      <p:sp>
        <p:nvSpPr>
          <p:cNvPr id="5" name="Rounded Rectangle 4"/>
          <p:cNvSpPr/>
          <p:nvPr/>
        </p:nvSpPr>
        <p:spPr>
          <a:xfrm>
            <a:off x="457200" y="1546860"/>
            <a:ext cx="5486400" cy="26517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3 Agent Playgrounds deployed for interactive testing:</a:t>
            </a:r>
          </a:p>
          <a:p>
            <a:pPr>
              <a:spcBef>
                <a:spcPts val="100"/>
              </a:spcBef>
              <a:spcAft>
                <a:spcPts val="100"/>
              </a:spcAft>
              <a:defRPr sz="900" b="0">
                <a:solidFill>
                  <a:srgbClr val="333333"/>
                </a:solidFill>
                <a:latin typeface="Calibri"/>
              </a:defRPr>
            </a:pPr>
            <a:r>
              <a:rPr dirty="0"/>
              <a:t>  • </a:t>
            </a:r>
            <a:r>
              <a:rPr dirty="0" err="1"/>
              <a:t>RiskAgent</a:t>
            </a:r>
            <a:r>
              <a:rPr dirty="0"/>
              <a:t> Playground</a:t>
            </a:r>
            <a:r>
              <a:rPr lang="en-US" dirty="0"/>
              <a:t> :</a:t>
            </a:r>
            <a:r>
              <a:rPr dirty="0"/>
              <a:t> test compound risk scenarios, validate scoring</a:t>
            </a:r>
          </a:p>
          <a:p>
            <a:pPr>
              <a:spcBef>
                <a:spcPts val="100"/>
              </a:spcBef>
              <a:spcAft>
                <a:spcPts val="100"/>
              </a:spcAft>
              <a:defRPr sz="900" b="0">
                <a:solidFill>
                  <a:srgbClr val="333333"/>
                </a:solidFill>
                <a:latin typeface="Calibri"/>
              </a:defRPr>
            </a:pPr>
            <a:r>
              <a:rPr dirty="0"/>
              <a:t>  • </a:t>
            </a:r>
            <a:r>
              <a:rPr dirty="0" err="1"/>
              <a:t>DecisionAgent</a:t>
            </a:r>
            <a:r>
              <a:rPr dirty="0"/>
              <a:t> Playground </a:t>
            </a:r>
            <a:r>
              <a:rPr lang="en-US" dirty="0"/>
              <a:t>:</a:t>
            </a:r>
            <a:r>
              <a:rPr dirty="0"/>
              <a:t> test guardrail-union under edge cases</a:t>
            </a:r>
          </a:p>
          <a:p>
            <a:pPr>
              <a:spcBef>
                <a:spcPts val="100"/>
              </a:spcBef>
              <a:spcAft>
                <a:spcPts val="100"/>
              </a:spcAft>
              <a:defRPr sz="900" b="0">
                <a:solidFill>
                  <a:srgbClr val="333333"/>
                </a:solidFill>
                <a:latin typeface="Calibri"/>
              </a:defRPr>
            </a:pPr>
            <a:r>
              <a:rPr dirty="0"/>
              <a:t>  • </a:t>
            </a:r>
            <a:r>
              <a:rPr dirty="0" err="1"/>
              <a:t>DyatlovAgent</a:t>
            </a:r>
            <a:r>
              <a:rPr dirty="0"/>
              <a:t> Playground </a:t>
            </a:r>
            <a:r>
              <a:rPr lang="en-US" dirty="0"/>
              <a:t>:</a:t>
            </a:r>
            <a:r>
              <a:rPr dirty="0"/>
              <a:t> test adversarial pressure escalation</a:t>
            </a:r>
          </a:p>
          <a:p>
            <a:pPr>
              <a:spcBef>
                <a:spcPts val="100"/>
              </a:spcBef>
              <a:spcAft>
                <a:spcPts val="100"/>
              </a:spcAft>
              <a:defRPr sz="900" b="0">
                <a:solidFill>
                  <a:srgbClr val="333333"/>
                </a:solidFill>
                <a:latin typeface="Calibri"/>
              </a:defRPr>
            </a:pPr>
            <a:r>
              <a:rPr dirty="0"/>
              <a:t>Evaluation Pipelines:</a:t>
            </a:r>
          </a:p>
          <a:p>
            <a:pPr>
              <a:spcBef>
                <a:spcPts val="100"/>
              </a:spcBef>
              <a:spcAft>
                <a:spcPts val="100"/>
              </a:spcAft>
              <a:defRPr sz="900" b="0">
                <a:solidFill>
                  <a:srgbClr val="333333"/>
                </a:solidFill>
                <a:latin typeface="Calibri"/>
              </a:defRPr>
            </a:pPr>
            <a:r>
              <a:rPr dirty="0"/>
              <a:t>  • Automated prompt regression testing</a:t>
            </a:r>
          </a:p>
          <a:p>
            <a:pPr>
              <a:spcBef>
                <a:spcPts val="100"/>
              </a:spcBef>
              <a:spcAft>
                <a:spcPts val="100"/>
              </a:spcAft>
              <a:defRPr sz="900" b="0">
                <a:solidFill>
                  <a:srgbClr val="333333"/>
                </a:solidFill>
                <a:latin typeface="Calibri"/>
              </a:defRPr>
            </a:pPr>
            <a:r>
              <a:rPr dirty="0"/>
              <a:t>  • JSON schema compliance validation</a:t>
            </a:r>
          </a:p>
          <a:p>
            <a:pPr>
              <a:spcBef>
                <a:spcPts val="100"/>
              </a:spcBef>
              <a:spcAft>
                <a:spcPts val="100"/>
              </a:spcAft>
              <a:defRPr sz="900" b="0">
                <a:solidFill>
                  <a:srgbClr val="333333"/>
                </a:solidFill>
                <a:latin typeface="Calibri"/>
              </a:defRPr>
            </a:pPr>
            <a:r>
              <a:rPr dirty="0"/>
              <a:t>  • Risk score consistency across model versions</a:t>
            </a:r>
          </a:p>
          <a:p>
            <a:pPr>
              <a:spcBef>
                <a:spcPts val="100"/>
              </a:spcBef>
              <a:spcAft>
                <a:spcPts val="100"/>
              </a:spcAft>
              <a:defRPr sz="900" b="0">
                <a:solidFill>
                  <a:srgbClr val="333333"/>
                </a:solidFill>
                <a:latin typeface="Calibri"/>
              </a:defRPr>
            </a:pPr>
            <a:r>
              <a:rPr dirty="0"/>
              <a:t>Prompt Versioning:</a:t>
            </a:r>
          </a:p>
          <a:p>
            <a:pPr>
              <a:spcBef>
                <a:spcPts val="100"/>
              </a:spcBef>
              <a:spcAft>
                <a:spcPts val="100"/>
              </a:spcAft>
              <a:defRPr sz="900" b="0">
                <a:solidFill>
                  <a:srgbClr val="333333"/>
                </a:solidFill>
                <a:latin typeface="Calibri"/>
              </a:defRPr>
            </a:pPr>
            <a:r>
              <a:rPr dirty="0"/>
              <a:t>  • 3 system prompts (RISK, DECISION, DYATLOV) stored &amp; versioned</a:t>
            </a:r>
          </a:p>
          <a:p>
            <a:pPr>
              <a:spcBef>
                <a:spcPts val="100"/>
              </a:spcBef>
              <a:spcAft>
                <a:spcPts val="100"/>
              </a:spcAft>
              <a:defRPr sz="900" b="0">
                <a:solidFill>
                  <a:srgbClr val="333333"/>
                </a:solidFill>
                <a:latin typeface="Calibri"/>
              </a:defRPr>
            </a:pPr>
            <a:r>
              <a:rPr dirty="0"/>
              <a:t>  • A/B testing between prompt variants</a:t>
            </a:r>
          </a:p>
          <a:p>
            <a:pPr>
              <a:spcBef>
                <a:spcPts val="100"/>
              </a:spcBef>
              <a:spcAft>
                <a:spcPts val="100"/>
              </a:spcAft>
              <a:defRPr sz="900" b="0">
                <a:solidFill>
                  <a:srgbClr val="333333"/>
                </a:solidFill>
                <a:latin typeface="Calibri"/>
              </a:defRPr>
            </a:pPr>
            <a:r>
              <a:rPr dirty="0"/>
              <a:t>  • Model evaluation criteria: SCRAM timing ±2 ticks of baseline</a:t>
            </a:r>
          </a:p>
        </p:txBody>
      </p:sp>
      <p:sp>
        <p:nvSpPr>
          <p:cNvPr id="6" name="Rectangle 5"/>
          <p:cNvSpPr/>
          <p:nvPr/>
        </p:nvSpPr>
        <p:spPr>
          <a:xfrm>
            <a:off x="6080760" y="1272540"/>
            <a:ext cx="54864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Copilot Studio (Integration Point)</a:t>
            </a:r>
          </a:p>
        </p:txBody>
      </p:sp>
      <p:sp>
        <p:nvSpPr>
          <p:cNvPr id="7" name="Rounded Rectangle 6"/>
          <p:cNvSpPr/>
          <p:nvPr/>
        </p:nvSpPr>
        <p:spPr>
          <a:xfrm>
            <a:off x="6080760" y="1546860"/>
            <a:ext cx="5486400" cy="26517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Operator-facing conversational interface layered on top of dashboard:</a:t>
            </a:r>
          </a:p>
          <a:p>
            <a:pPr>
              <a:spcBef>
                <a:spcPts val="100"/>
              </a:spcBef>
              <a:spcAft>
                <a:spcPts val="100"/>
              </a:spcAft>
              <a:defRPr sz="900" b="0">
                <a:solidFill>
                  <a:srgbClr val="333333"/>
                </a:solidFill>
                <a:latin typeface="Calibri"/>
              </a:defRPr>
            </a:pPr>
            <a:r>
              <a:rPr dirty="0"/>
              <a:t>  • "Why is the risk score at 82?" → explains compound risks in natural language</a:t>
            </a:r>
          </a:p>
          <a:p>
            <a:pPr>
              <a:spcBef>
                <a:spcPts val="100"/>
              </a:spcBef>
              <a:spcAft>
                <a:spcPts val="100"/>
              </a:spcAft>
              <a:defRPr sz="900" b="0">
                <a:solidFill>
                  <a:srgbClr val="333333"/>
                </a:solidFill>
                <a:latin typeface="Calibri"/>
              </a:defRPr>
            </a:pPr>
            <a:r>
              <a:rPr dirty="0"/>
              <a:t>  • "What would happen if we increase power?" → predictive scenario analysis</a:t>
            </a:r>
          </a:p>
          <a:p>
            <a:pPr>
              <a:spcBef>
                <a:spcPts val="100"/>
              </a:spcBef>
              <a:spcAft>
                <a:spcPts val="100"/>
              </a:spcAft>
              <a:defRPr sz="900" b="0">
                <a:solidFill>
                  <a:srgbClr val="333333"/>
                </a:solidFill>
                <a:latin typeface="Calibri"/>
              </a:defRPr>
            </a:pPr>
            <a:r>
              <a:rPr dirty="0"/>
              <a:t>  • "Show me the last 5 decisions" → queries Cosmos DB audit trail</a:t>
            </a:r>
          </a:p>
          <a:p>
            <a:pPr>
              <a:spcBef>
                <a:spcPts val="100"/>
              </a:spcBef>
              <a:spcAft>
                <a:spcPts val="100"/>
              </a:spcAft>
              <a:defRPr sz="900" b="0">
                <a:solidFill>
                  <a:srgbClr val="333333"/>
                </a:solidFill>
                <a:latin typeface="Calibri"/>
              </a:defRPr>
            </a:pPr>
            <a:r>
              <a:rPr dirty="0"/>
              <a:t>Architecture Integration:</a:t>
            </a:r>
          </a:p>
          <a:p>
            <a:pPr>
              <a:spcBef>
                <a:spcPts val="100"/>
              </a:spcBef>
              <a:spcAft>
                <a:spcPts val="100"/>
              </a:spcAft>
              <a:defRPr sz="900" b="0">
                <a:solidFill>
                  <a:srgbClr val="333333"/>
                </a:solidFill>
                <a:latin typeface="Calibri"/>
              </a:defRPr>
            </a:pPr>
            <a:r>
              <a:rPr dirty="0"/>
              <a:t>  • Connects to Decision MCP Server (decide(), </a:t>
            </a:r>
            <a:r>
              <a:rPr dirty="0" err="1"/>
              <a:t>get_action_log</a:t>
            </a:r>
            <a:r>
              <a:rPr dirty="0"/>
              <a:t>())</a:t>
            </a:r>
          </a:p>
          <a:p>
            <a:pPr>
              <a:spcBef>
                <a:spcPts val="100"/>
              </a:spcBef>
              <a:spcAft>
                <a:spcPts val="100"/>
              </a:spcAft>
              <a:defRPr sz="900" b="0">
                <a:solidFill>
                  <a:srgbClr val="333333"/>
                </a:solidFill>
                <a:latin typeface="Calibri"/>
              </a:defRPr>
            </a:pPr>
            <a:r>
              <a:rPr dirty="0"/>
              <a:t>  • Connects to Risk MCP Server (</a:t>
            </a:r>
            <a:r>
              <a:rPr dirty="0" err="1"/>
              <a:t>get_score_history</a:t>
            </a:r>
            <a:r>
              <a:rPr dirty="0"/>
              <a:t>())</a:t>
            </a:r>
          </a:p>
          <a:p>
            <a:pPr>
              <a:spcBef>
                <a:spcPts val="100"/>
              </a:spcBef>
              <a:spcAft>
                <a:spcPts val="100"/>
              </a:spcAft>
              <a:defRPr sz="900" b="0">
                <a:solidFill>
                  <a:srgbClr val="333333"/>
                </a:solidFill>
                <a:latin typeface="Calibri"/>
              </a:defRPr>
            </a:pPr>
            <a:r>
              <a:rPr dirty="0"/>
              <a:t>  • Grounded in INSAG-7 knowledge base via AI Search</a:t>
            </a:r>
          </a:p>
          <a:p>
            <a:pPr>
              <a:spcBef>
                <a:spcPts val="100"/>
              </a:spcBef>
              <a:spcAft>
                <a:spcPts val="100"/>
              </a:spcAft>
              <a:defRPr sz="900" b="0">
                <a:solidFill>
                  <a:srgbClr val="333333"/>
                </a:solidFill>
                <a:latin typeface="Calibri"/>
              </a:defRPr>
            </a:pPr>
            <a:r>
              <a:rPr dirty="0"/>
              <a:t>Governance:</a:t>
            </a:r>
          </a:p>
          <a:p>
            <a:pPr>
              <a:spcBef>
                <a:spcPts val="100"/>
              </a:spcBef>
              <a:spcAft>
                <a:spcPts val="100"/>
              </a:spcAft>
              <a:defRPr sz="900" b="0">
                <a:solidFill>
                  <a:srgbClr val="333333"/>
                </a:solidFill>
                <a:latin typeface="Calibri"/>
              </a:defRPr>
            </a:pPr>
            <a:r>
              <a:rPr dirty="0"/>
              <a:t>  • Operator role restrictions (view-only, no override capability)</a:t>
            </a:r>
          </a:p>
          <a:p>
            <a:pPr>
              <a:spcBef>
                <a:spcPts val="100"/>
              </a:spcBef>
              <a:spcAft>
                <a:spcPts val="100"/>
              </a:spcAft>
              <a:defRPr sz="900" b="0">
                <a:solidFill>
                  <a:srgbClr val="333333"/>
                </a:solidFill>
                <a:latin typeface="Calibri"/>
              </a:defRPr>
            </a:pPr>
            <a:r>
              <a:rPr dirty="0"/>
              <a:t>  • All queries logged to audit trail</a:t>
            </a:r>
          </a:p>
          <a:p>
            <a:pPr>
              <a:spcBef>
                <a:spcPts val="100"/>
              </a:spcBef>
              <a:spcAft>
                <a:spcPts val="100"/>
              </a:spcAft>
              <a:defRPr sz="900" b="0">
                <a:solidFill>
                  <a:srgbClr val="333333"/>
                </a:solidFill>
                <a:latin typeface="Calibri"/>
              </a:defRPr>
            </a:pPr>
            <a:r>
              <a:rPr dirty="0"/>
              <a:t>  • Content safety filters applied to all responses</a:t>
            </a:r>
          </a:p>
        </p:txBody>
      </p:sp>
      <p:sp>
        <p:nvSpPr>
          <p:cNvPr id="8" name="TextBox 7"/>
          <p:cNvSpPr txBox="1"/>
          <p:nvPr/>
        </p:nvSpPr>
        <p:spPr>
          <a:xfrm>
            <a:off x="457200" y="4335780"/>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MCP Server Packaging (Model Context Protocol) — Composable with Any Orchestrator:</a:t>
            </a:r>
          </a:p>
        </p:txBody>
      </p:sp>
      <p:graphicFrame>
        <p:nvGraphicFramePr>
          <p:cNvPr id="9" name="Table 8"/>
          <p:cNvGraphicFramePr>
            <a:graphicFrameLocks noGrp="1"/>
          </p:cNvGraphicFramePr>
          <p:nvPr/>
        </p:nvGraphicFramePr>
        <p:xfrm>
          <a:off x="457200" y="4564380"/>
          <a:ext cx="11277295" cy="164592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MCP Server</a:t>
                      </a:r>
                    </a:p>
                  </a:txBody>
                  <a:tcPr>
                    <a:solidFill>
                      <a:srgbClr val="009B8D"/>
                    </a:solidFill>
                  </a:tcPr>
                </a:tc>
                <a:tc>
                  <a:txBody>
                    <a:bodyPr/>
                    <a:lstStyle/>
                    <a:p>
                      <a:pPr>
                        <a:defRPr sz="900" b="1">
                          <a:solidFill>
                            <a:srgbClr val="FFFFFF"/>
                          </a:solidFill>
                          <a:latin typeface="Calibri"/>
                        </a:defRPr>
                      </a:pPr>
                      <a:r>
                        <a:t>Tools Exposed</a:t>
                      </a:r>
                    </a:p>
                  </a:txBody>
                  <a:tcPr>
                    <a:solidFill>
                      <a:srgbClr val="009B8D"/>
                    </a:solidFill>
                  </a:tcPr>
                </a:tc>
                <a:tc>
                  <a:txBody>
                    <a:bodyPr/>
                    <a:lstStyle/>
                    <a:p>
                      <a:pPr>
                        <a:defRPr sz="900" b="1">
                          <a:solidFill>
                            <a:srgbClr val="FFFFFF"/>
                          </a:solidFill>
                          <a:latin typeface="Calibri"/>
                        </a:defRPr>
                      </a:pPr>
                      <a:r>
                        <a:t>Input Schema</a:t>
                      </a:r>
                    </a:p>
                  </a:txBody>
                  <a:tcPr>
                    <a:solidFill>
                      <a:srgbClr val="009B8D"/>
                    </a:solidFill>
                  </a:tcPr>
                </a:tc>
                <a:tc>
                  <a:txBody>
                    <a:bodyPr/>
                    <a:lstStyle/>
                    <a:p>
                      <a:pPr>
                        <a:defRPr sz="900" b="1">
                          <a:solidFill>
                            <a:srgbClr val="FFFFFF"/>
                          </a:solidFill>
                          <a:latin typeface="Calibri"/>
                        </a:defRPr>
                      </a:pPr>
                      <a:r>
                        <a:t>Output Schema</a:t>
                      </a:r>
                    </a:p>
                  </a:txBody>
                  <a:tcPr>
                    <a:solidFill>
                      <a:srgbClr val="009B8D"/>
                    </a:solidFill>
                  </a:tcPr>
                </a:tc>
                <a:tc>
                  <a:txBody>
                    <a:bodyPr/>
                    <a:lstStyle/>
                    <a:p>
                      <a:pPr>
                        <a:defRPr sz="900" b="1">
                          <a:solidFill>
                            <a:srgbClr val="FFFFFF"/>
                          </a:solidFill>
                          <a:latin typeface="Calibri"/>
                        </a:defRPr>
                      </a:pPr>
                      <a:r>
                        <a:t>Compatible With</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sensor-mcp</a:t>
                      </a:r>
                    </a:p>
                  </a:txBody>
                  <a:tcPr>
                    <a:solidFill>
                      <a:srgbClr val="FFFFFF"/>
                    </a:solidFill>
                  </a:tcPr>
                </a:tc>
                <a:tc>
                  <a:txBody>
                    <a:bodyPr/>
                    <a:lstStyle/>
                    <a:p>
                      <a:pPr>
                        <a:defRPr sz="800">
                          <a:solidFill>
                            <a:srgbClr val="333333"/>
                          </a:solidFill>
                          <a:latin typeface="Calibri"/>
                        </a:defRPr>
                      </a:pPr>
                      <a:r>
                        <a:t>check_thresholds(state), get_alerts()</a:t>
                      </a:r>
                    </a:p>
                  </a:txBody>
                  <a:tcPr>
                    <a:solidFill>
                      <a:srgbClr val="FFFFFF"/>
                    </a:solidFill>
                  </a:tcPr>
                </a:tc>
                <a:tc>
                  <a:txBody>
                    <a:bodyPr/>
                    <a:lstStyle/>
                    <a:p>
                      <a:pPr>
                        <a:defRPr sz="800">
                          <a:solidFill>
                            <a:srgbClr val="333333"/>
                          </a:solidFill>
                          <a:latin typeface="Calibri"/>
                        </a:defRPr>
                      </a:pPr>
                      <a:r>
                        <a:t>ReactorState</a:t>
                      </a:r>
                    </a:p>
                  </a:txBody>
                  <a:tcPr>
                    <a:solidFill>
                      <a:srgbClr val="FFFFFF"/>
                    </a:solidFill>
                  </a:tcPr>
                </a:tc>
                <a:tc>
                  <a:txBody>
                    <a:bodyPr/>
                    <a:lstStyle/>
                    <a:p>
                      <a:pPr>
                        <a:defRPr sz="800">
                          <a:solidFill>
                            <a:srgbClr val="333333"/>
                          </a:solidFill>
                          <a:latin typeface="Calibri"/>
                        </a:defRPr>
                      </a:pPr>
                      <a:r>
                        <a:t>Alert[]</a:t>
                      </a:r>
                    </a:p>
                  </a:txBody>
                  <a:tcPr>
                    <a:solidFill>
                      <a:srgbClr val="FFFFFF"/>
                    </a:solidFill>
                  </a:tcPr>
                </a:tc>
                <a:tc>
                  <a:txBody>
                    <a:bodyPr/>
                    <a:lstStyle/>
                    <a:p>
                      <a:pPr>
                        <a:defRPr sz="800">
                          <a:solidFill>
                            <a:srgbClr val="333333"/>
                          </a:solidFill>
                          <a:latin typeface="Calibri"/>
                        </a:defRPr>
                      </a:pPr>
                      <a:r>
                        <a:t>AI Foundry, Semantic Kernel</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risk-mcp</a:t>
                      </a:r>
                    </a:p>
                  </a:txBody>
                  <a:tcPr>
                    <a:solidFill>
                      <a:srgbClr val="F2F2F2"/>
                    </a:solidFill>
                  </a:tcPr>
                </a:tc>
                <a:tc>
                  <a:txBody>
                    <a:bodyPr/>
                    <a:lstStyle/>
                    <a:p>
                      <a:pPr>
                        <a:defRPr sz="800">
                          <a:solidFill>
                            <a:srgbClr val="333333"/>
                          </a:solidFill>
                          <a:latin typeface="Calibri"/>
                        </a:defRPr>
                      </a:pPr>
                      <a:r>
                        <a:t>assess_risk(state, alerts), get_score_history()</a:t>
                      </a:r>
                    </a:p>
                  </a:txBody>
                  <a:tcPr>
                    <a:solidFill>
                      <a:srgbClr val="F2F2F2"/>
                    </a:solidFill>
                  </a:tcPr>
                </a:tc>
                <a:tc>
                  <a:txBody>
                    <a:bodyPr/>
                    <a:lstStyle/>
                    <a:p>
                      <a:pPr>
                        <a:defRPr sz="800">
                          <a:solidFill>
                            <a:srgbClr val="333333"/>
                          </a:solidFill>
                          <a:latin typeface="Calibri"/>
                        </a:defRPr>
                      </a:pPr>
                      <a:r>
                        <a:t>State + Alerts</a:t>
                      </a:r>
                    </a:p>
                  </a:txBody>
                  <a:tcPr>
                    <a:solidFill>
                      <a:srgbClr val="F2F2F2"/>
                    </a:solidFill>
                  </a:tcPr>
                </a:tc>
                <a:tc>
                  <a:txBody>
                    <a:bodyPr/>
                    <a:lstStyle/>
                    <a:p>
                      <a:pPr>
                        <a:defRPr sz="800">
                          <a:solidFill>
                            <a:srgbClr val="333333"/>
                          </a:solidFill>
                          <a:latin typeface="Calibri"/>
                        </a:defRPr>
                      </a:pPr>
                      <a:r>
                        <a:t>RiskScore + Reasoning</a:t>
                      </a:r>
                    </a:p>
                  </a:txBody>
                  <a:tcPr>
                    <a:solidFill>
                      <a:srgbClr val="F2F2F2"/>
                    </a:solidFill>
                  </a:tcPr>
                </a:tc>
                <a:tc>
                  <a:txBody>
                    <a:bodyPr/>
                    <a:lstStyle/>
                    <a:p>
                      <a:pPr>
                        <a:defRPr sz="800">
                          <a:solidFill>
                            <a:srgbClr val="333333"/>
                          </a:solidFill>
                          <a:latin typeface="Calibri"/>
                        </a:defRPr>
                      </a:pPr>
                      <a:r>
                        <a:t>AI Foundry, AutoGen</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decision-mcp</a:t>
                      </a:r>
                    </a:p>
                  </a:txBody>
                  <a:tcPr>
                    <a:solidFill>
                      <a:srgbClr val="FFFFFF"/>
                    </a:solidFill>
                  </a:tcPr>
                </a:tc>
                <a:tc>
                  <a:txBody>
                    <a:bodyPr/>
                    <a:lstStyle/>
                    <a:p>
                      <a:pPr>
                        <a:defRPr sz="800">
                          <a:solidFill>
                            <a:srgbClr val="333333"/>
                          </a:solidFill>
                          <a:latin typeface="Calibri"/>
                        </a:defRPr>
                      </a:pPr>
                      <a:r>
                        <a:t>decide(state, risk_score), get_action_log()</a:t>
                      </a:r>
                    </a:p>
                  </a:txBody>
                  <a:tcPr>
                    <a:solidFill>
                      <a:srgbClr val="FFFFFF"/>
                    </a:solidFill>
                  </a:tcPr>
                </a:tc>
                <a:tc>
                  <a:txBody>
                    <a:bodyPr/>
                    <a:lstStyle/>
                    <a:p>
                      <a:pPr>
                        <a:defRPr sz="800">
                          <a:solidFill>
                            <a:srgbClr val="333333"/>
                          </a:solidFill>
                          <a:latin typeface="Calibri"/>
                        </a:defRPr>
                      </a:pPr>
                      <a:r>
                        <a:t>State + Risk</a:t>
                      </a:r>
                    </a:p>
                  </a:txBody>
                  <a:tcPr>
                    <a:solidFill>
                      <a:srgbClr val="FFFFFF"/>
                    </a:solidFill>
                  </a:tcPr>
                </a:tc>
                <a:tc>
                  <a:txBody>
                    <a:bodyPr/>
                    <a:lstStyle/>
                    <a:p>
                      <a:pPr>
                        <a:defRPr sz="800">
                          <a:solidFill>
                            <a:srgbClr val="333333"/>
                          </a:solidFill>
                          <a:latin typeface="Calibri"/>
                        </a:defRPr>
                      </a:pPr>
                      <a:r>
                        <a:t>Decision[] + Source</a:t>
                      </a:r>
                    </a:p>
                  </a:txBody>
                  <a:tcPr>
                    <a:solidFill>
                      <a:srgbClr val="FFFFFF"/>
                    </a:solidFill>
                  </a:tcPr>
                </a:tc>
                <a:tc>
                  <a:txBody>
                    <a:bodyPr/>
                    <a:lstStyle/>
                    <a:p>
                      <a:pPr>
                        <a:defRPr sz="800">
                          <a:solidFill>
                            <a:srgbClr val="333333"/>
                          </a:solidFill>
                          <a:latin typeface="Calibri"/>
                        </a:defRPr>
                      </a:pPr>
                      <a:r>
                        <a:t>Copilot Studio, Foundry</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evacuation-mcp</a:t>
                      </a:r>
                    </a:p>
                  </a:txBody>
                  <a:tcPr>
                    <a:solidFill>
                      <a:srgbClr val="F2F2F2"/>
                    </a:solidFill>
                  </a:tcPr>
                </a:tc>
                <a:tc>
                  <a:txBody>
                    <a:bodyPr/>
                    <a:lstStyle/>
                    <a:p>
                      <a:pPr>
                        <a:defRPr sz="800">
                          <a:solidFill>
                            <a:srgbClr val="333333"/>
                          </a:solidFill>
                          <a:latin typeface="Calibri"/>
                        </a:defRPr>
                      </a:pPr>
                      <a:r>
                        <a:t>plan_evacuation(pop, routes), get_progress()</a:t>
                      </a:r>
                    </a:p>
                  </a:txBody>
                  <a:tcPr>
                    <a:solidFill>
                      <a:srgbClr val="F2F2F2"/>
                    </a:solidFill>
                  </a:tcPr>
                </a:tc>
                <a:tc>
                  <a:txBody>
                    <a:bodyPr/>
                    <a:lstStyle/>
                    <a:p>
                      <a:pPr>
                        <a:defRPr sz="800">
                          <a:solidFill>
                            <a:srgbClr val="333333"/>
                          </a:solidFill>
                          <a:latin typeface="Calibri"/>
                        </a:defRPr>
                      </a:pPr>
                      <a:r>
                        <a:t>Population + Routes</a:t>
                      </a:r>
                    </a:p>
                  </a:txBody>
                  <a:tcPr>
                    <a:solidFill>
                      <a:srgbClr val="F2F2F2"/>
                    </a:solidFill>
                  </a:tcPr>
                </a:tc>
                <a:tc>
                  <a:txBody>
                    <a:bodyPr/>
                    <a:lstStyle/>
                    <a:p>
                      <a:pPr>
                        <a:defRPr sz="800">
                          <a:solidFill>
                            <a:srgbClr val="333333"/>
                          </a:solidFill>
                          <a:latin typeface="Calibri"/>
                        </a:defRPr>
                      </a:pPr>
                      <a:r>
                        <a:t>EvacPlan + ETAs</a:t>
                      </a:r>
                    </a:p>
                  </a:txBody>
                  <a:tcPr>
                    <a:solidFill>
                      <a:srgbClr val="F2F2F2"/>
                    </a:solidFill>
                  </a:tcPr>
                </a:tc>
                <a:tc>
                  <a:txBody>
                    <a:bodyPr/>
                    <a:lstStyle/>
                    <a:p>
                      <a:pPr>
                        <a:defRPr sz="800">
                          <a:solidFill>
                            <a:srgbClr val="333333"/>
                          </a:solidFill>
                          <a:latin typeface="Calibri"/>
                        </a:defRPr>
                      </a:pPr>
                      <a:r>
                        <a:t>Semantic Kernel</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comms-mcp</a:t>
                      </a:r>
                    </a:p>
                  </a:txBody>
                  <a:tcPr>
                    <a:solidFill>
                      <a:srgbClr val="FFFFFF"/>
                    </a:solidFill>
                  </a:tcPr>
                </a:tc>
                <a:tc>
                  <a:txBody>
                    <a:bodyPr/>
                    <a:lstStyle/>
                    <a:p>
                      <a:pPr>
                        <a:defRPr sz="800">
                          <a:solidFill>
                            <a:srgbClr val="333333"/>
                          </a:solidFill>
                          <a:latin typeface="Calibri"/>
                        </a:defRPr>
                      </a:pPr>
                      <a:r>
                        <a:t>draft_alert(state, decisions), model_plume()</a:t>
                      </a:r>
                    </a:p>
                  </a:txBody>
                  <a:tcPr>
                    <a:solidFill>
                      <a:srgbClr val="FFFFFF"/>
                    </a:solidFill>
                  </a:tcPr>
                </a:tc>
                <a:tc>
                  <a:txBody>
                    <a:bodyPr/>
                    <a:lstStyle/>
                    <a:p>
                      <a:pPr>
                        <a:defRPr sz="800">
                          <a:solidFill>
                            <a:srgbClr val="333333"/>
                          </a:solidFill>
                          <a:latin typeface="Calibri"/>
                        </a:defRPr>
                      </a:pPr>
                      <a:r>
                        <a:t>State + Decisions</a:t>
                      </a:r>
                    </a:p>
                  </a:txBody>
                  <a:tcPr>
                    <a:solidFill>
                      <a:srgbClr val="FFFFFF"/>
                    </a:solidFill>
                  </a:tcPr>
                </a:tc>
                <a:tc>
                  <a:txBody>
                    <a:bodyPr/>
                    <a:lstStyle/>
                    <a:p>
                      <a:pPr>
                        <a:defRPr sz="800">
                          <a:solidFill>
                            <a:srgbClr val="333333"/>
                          </a:solidFill>
                          <a:latin typeface="Calibri"/>
                        </a:defRPr>
                      </a:pPr>
                      <a:r>
                        <a:t>AlertMsg + PlumeData</a:t>
                      </a:r>
                    </a:p>
                  </a:txBody>
                  <a:tcPr>
                    <a:solidFill>
                      <a:srgbClr val="FFFFFF"/>
                    </a:solidFill>
                  </a:tcPr>
                </a:tc>
                <a:tc>
                  <a:txBody>
                    <a:bodyPr/>
                    <a:lstStyle/>
                    <a:p>
                      <a:pPr>
                        <a:defRPr sz="800">
                          <a:solidFill>
                            <a:srgbClr val="333333"/>
                          </a:solidFill>
                          <a:latin typeface="Calibri"/>
                        </a:defRPr>
                      </a:pPr>
                      <a:r>
                        <a:t>AutoGen, Foundry</a:t>
                      </a:r>
                    </a:p>
                  </a:txBody>
                  <a:tcPr>
                    <a:solidFill>
                      <a:srgbClr val="FFFFFF"/>
                    </a:solidFill>
                  </a:tcPr>
                </a:tc>
                <a:extLst>
                  <a:ext uri="{0D108BD9-81ED-4DB2-BD59-A6C34878D82A}">
                    <a16:rowId xmlns:a16="http://schemas.microsoft.com/office/drawing/2014/main" val="10005"/>
                  </a:ext>
                </a:extLst>
              </a:tr>
            </a:tbl>
          </a:graphicData>
        </a:graphic>
      </p:graphicFrame>
      <p:sp>
        <p:nvSpPr>
          <p:cNvPr id="10" name="Rectangle 9"/>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2" name="TextBox 11"/>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12/20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Data Governance &amp; Security Model</a:t>
            </a:r>
          </a:p>
          <a:p>
            <a:pPr algn="l">
              <a:spcBef>
                <a:spcPts val="100"/>
              </a:spcBef>
              <a:spcAft>
                <a:spcPts val="100"/>
              </a:spcAft>
              <a:defRPr sz="1300" b="0">
                <a:solidFill>
                  <a:srgbClr val="88BBDD"/>
                </a:solidFill>
                <a:latin typeface="Calibri"/>
              </a:defRPr>
            </a:pPr>
            <a:r>
              <a:t>Microsoft-native security controls: Entra ID, RBAC, Key Vault, VNET, WAF</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254252"/>
            <a:ext cx="3657600"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Role-Based Access Control (Azure Entra ID):</a:t>
            </a:r>
          </a:p>
        </p:txBody>
      </p:sp>
      <p:graphicFrame>
        <p:nvGraphicFramePr>
          <p:cNvPr id="5" name="Table 4"/>
          <p:cNvGraphicFramePr>
            <a:graphicFrameLocks noGrp="1"/>
          </p:cNvGraphicFramePr>
          <p:nvPr/>
        </p:nvGraphicFramePr>
        <p:xfrm>
          <a:off x="457200" y="1482852"/>
          <a:ext cx="5486400" cy="170688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274320">
                <a:tc>
                  <a:txBody>
                    <a:bodyPr/>
                    <a:lstStyle/>
                    <a:p>
                      <a:pPr>
                        <a:defRPr sz="900" b="1">
                          <a:solidFill>
                            <a:srgbClr val="FFFFFF"/>
                          </a:solidFill>
                          <a:latin typeface="Calibri"/>
                        </a:defRPr>
                      </a:pPr>
                      <a:r>
                        <a:t>Role</a:t>
                      </a:r>
                    </a:p>
                  </a:txBody>
                  <a:tcPr>
                    <a:solidFill>
                      <a:srgbClr val="009B8D"/>
                    </a:solidFill>
                  </a:tcPr>
                </a:tc>
                <a:tc>
                  <a:txBody>
                    <a:bodyPr/>
                    <a:lstStyle/>
                    <a:p>
                      <a:pPr>
                        <a:defRPr sz="900" b="1">
                          <a:solidFill>
                            <a:srgbClr val="FFFFFF"/>
                          </a:solidFill>
                          <a:latin typeface="Calibri"/>
                        </a:defRPr>
                      </a:pPr>
                      <a:r>
                        <a:t>View Dashboard</a:t>
                      </a:r>
                    </a:p>
                  </a:txBody>
                  <a:tcPr>
                    <a:solidFill>
                      <a:srgbClr val="009B8D"/>
                    </a:solidFill>
                  </a:tcPr>
                </a:tc>
                <a:tc>
                  <a:txBody>
                    <a:bodyPr/>
                    <a:lstStyle/>
                    <a:p>
                      <a:pPr>
                        <a:defRPr sz="900" b="1">
                          <a:solidFill>
                            <a:srgbClr val="FFFFFF"/>
                          </a:solidFill>
                          <a:latin typeface="Calibri"/>
                        </a:defRPr>
                      </a:pPr>
                      <a:r>
                        <a:t>Toggle AI</a:t>
                      </a:r>
                    </a:p>
                  </a:txBody>
                  <a:tcPr>
                    <a:solidFill>
                      <a:srgbClr val="009B8D"/>
                    </a:solidFill>
                  </a:tcPr>
                </a:tc>
                <a:tc>
                  <a:txBody>
                    <a:bodyPr/>
                    <a:lstStyle/>
                    <a:p>
                      <a:pPr>
                        <a:defRPr sz="900" b="1">
                          <a:solidFill>
                            <a:srgbClr val="FFFFFF"/>
                          </a:solidFill>
                          <a:latin typeface="Calibri"/>
                        </a:defRPr>
                      </a:pPr>
                      <a:r>
                        <a:t>Override Decisions</a:t>
                      </a:r>
                    </a:p>
                  </a:txBody>
                  <a:tcPr>
                    <a:solidFill>
                      <a:srgbClr val="009B8D"/>
                    </a:solidFill>
                  </a:tcPr>
                </a:tc>
                <a:tc>
                  <a:txBody>
                    <a:bodyPr/>
                    <a:lstStyle/>
                    <a:p>
                      <a:pPr>
                        <a:defRPr sz="900" b="1">
                          <a:solidFill>
                            <a:srgbClr val="FFFFFF"/>
                          </a:solidFill>
                          <a:latin typeface="Calibri"/>
                        </a:defRPr>
                      </a:pPr>
                      <a:r>
                        <a:t>Modify Config</a:t>
                      </a:r>
                    </a:p>
                  </a:txBody>
                  <a:tcPr>
                    <a:solidFill>
                      <a:srgbClr val="009B8D"/>
                    </a:solidFill>
                  </a:tcPr>
                </a:tc>
                <a:tc>
                  <a:txBody>
                    <a:bodyPr/>
                    <a:lstStyle/>
                    <a:p>
                      <a:pPr>
                        <a:defRPr sz="900" b="1">
                          <a:solidFill>
                            <a:srgbClr val="FFFFFF"/>
                          </a:solidFill>
                          <a:latin typeface="Calibri"/>
                        </a:defRPr>
                      </a:pPr>
                      <a:r>
                        <a:t>Audit Access</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Operator</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 (cannot override SCRAM)</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Supervisor</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 (risk 60-85 only)</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Admin</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tc>
                  <a:txBody>
                    <a:bodyPr/>
                    <a:lstStyle/>
                    <a:p>
                      <a:pPr>
                        <a:defRPr sz="800">
                          <a:solidFill>
                            <a:srgbClr val="333333"/>
                          </a:solidFill>
                          <a:latin typeface="Calibri"/>
                        </a:defRPr>
                      </a:pPr>
                      <a:r>
                        <a:t>✅ (thresholds, deploy)</a:t>
                      </a:r>
                    </a:p>
                  </a:txBody>
                  <a:tcPr>
                    <a:solidFill>
                      <a:srgbClr val="FFFFFF"/>
                    </a:solidFill>
                  </a:tcPr>
                </a:tc>
                <a:tc>
                  <a:txBody>
                    <a:bodyPr/>
                    <a:lstStyle/>
                    <a:p>
                      <a:pPr>
                        <a:defRPr sz="800">
                          <a:solidFill>
                            <a:srgbClr val="333333"/>
                          </a:solidFill>
                          <a:latin typeface="Calibri"/>
                        </a:defRPr>
                      </a:pPr>
                      <a:r>
                        <a:t>✅</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Auditor</a:t>
                      </a:r>
                    </a:p>
                  </a:txBody>
                  <a:tcPr>
                    <a:solidFill>
                      <a:srgbClr val="F2F2F2"/>
                    </a:solidFill>
                  </a:tcPr>
                </a:tc>
                <a:tc>
                  <a:txBody>
                    <a:bodyPr/>
                    <a:lstStyle/>
                    <a:p>
                      <a:pPr>
                        <a:defRPr sz="800">
                          <a:solidFill>
                            <a:srgbClr val="333333"/>
                          </a:solidFill>
                          <a:latin typeface="Calibri"/>
                        </a:defRPr>
                      </a:pPr>
                      <a:r>
                        <a:t>✅ (read-only)</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a:t>
                      </a:r>
                    </a:p>
                  </a:txBody>
                  <a:tcPr>
                    <a:solidFill>
                      <a:srgbClr val="F2F2F2"/>
                    </a:solidFill>
                  </a:tcPr>
                </a:tc>
                <a:tc>
                  <a:txBody>
                    <a:bodyPr/>
                    <a:lstStyle/>
                    <a:p>
                      <a:pPr>
                        <a:defRPr sz="800">
                          <a:solidFill>
                            <a:srgbClr val="333333"/>
                          </a:solidFill>
                          <a:latin typeface="Calibri"/>
                        </a:defRPr>
                      </a:pPr>
                      <a:r>
                        <a:t>✅ (full compliance)</a:t>
                      </a:r>
                    </a:p>
                  </a:txBody>
                  <a:tcPr>
                    <a:solidFill>
                      <a:srgbClr val="F2F2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6080760" y="1254252"/>
            <a:ext cx="3657600"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Data Classification &amp; Retention:</a:t>
            </a:r>
          </a:p>
        </p:txBody>
      </p:sp>
      <p:graphicFrame>
        <p:nvGraphicFramePr>
          <p:cNvPr id="7" name="Table 6"/>
          <p:cNvGraphicFramePr>
            <a:graphicFrameLocks noGrp="1"/>
          </p:cNvGraphicFramePr>
          <p:nvPr/>
        </p:nvGraphicFramePr>
        <p:xfrm>
          <a:off x="6080760" y="1482852"/>
          <a:ext cx="5486400" cy="164592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74320">
                <a:tc>
                  <a:txBody>
                    <a:bodyPr/>
                    <a:lstStyle/>
                    <a:p>
                      <a:pPr>
                        <a:defRPr sz="900" b="1">
                          <a:solidFill>
                            <a:srgbClr val="FFFFFF"/>
                          </a:solidFill>
                          <a:latin typeface="Calibri"/>
                        </a:defRPr>
                      </a:pPr>
                      <a:r>
                        <a:t>Data Type</a:t>
                      </a:r>
                    </a:p>
                  </a:txBody>
                  <a:tcPr>
                    <a:solidFill>
                      <a:srgbClr val="009B8D"/>
                    </a:solidFill>
                  </a:tcPr>
                </a:tc>
                <a:tc>
                  <a:txBody>
                    <a:bodyPr/>
                    <a:lstStyle/>
                    <a:p>
                      <a:pPr>
                        <a:defRPr sz="900" b="1">
                          <a:solidFill>
                            <a:srgbClr val="FFFFFF"/>
                          </a:solidFill>
                          <a:latin typeface="Calibri"/>
                        </a:defRPr>
                      </a:pPr>
                      <a:r>
                        <a:t>Classification</a:t>
                      </a:r>
                    </a:p>
                  </a:txBody>
                  <a:tcPr>
                    <a:solidFill>
                      <a:srgbClr val="009B8D"/>
                    </a:solidFill>
                  </a:tcPr>
                </a:tc>
                <a:tc>
                  <a:txBody>
                    <a:bodyPr/>
                    <a:lstStyle/>
                    <a:p>
                      <a:pPr>
                        <a:defRPr sz="900" b="1">
                          <a:solidFill>
                            <a:srgbClr val="FFFFFF"/>
                          </a:solidFill>
                          <a:latin typeface="Calibri"/>
                        </a:defRPr>
                      </a:pPr>
                      <a:r>
                        <a:t>Retention</a:t>
                      </a:r>
                    </a:p>
                  </a:txBody>
                  <a:tcPr>
                    <a:solidFill>
                      <a:srgbClr val="009B8D"/>
                    </a:solidFill>
                  </a:tcPr>
                </a:tc>
                <a:tc>
                  <a:txBody>
                    <a:bodyPr/>
                    <a:lstStyle/>
                    <a:p>
                      <a:pPr>
                        <a:defRPr sz="900" b="1">
                          <a:solidFill>
                            <a:srgbClr val="FFFFFF"/>
                          </a:solidFill>
                          <a:latin typeface="Calibri"/>
                        </a:defRPr>
                      </a:pPr>
                      <a:r>
                        <a:t>Encryption</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Reactor telemetry</a:t>
                      </a:r>
                    </a:p>
                  </a:txBody>
                  <a:tcPr>
                    <a:solidFill>
                      <a:srgbClr val="FFFFFF"/>
                    </a:solidFill>
                  </a:tcPr>
                </a:tc>
                <a:tc>
                  <a:txBody>
                    <a:bodyPr/>
                    <a:lstStyle/>
                    <a:p>
                      <a:pPr>
                        <a:defRPr sz="800">
                          <a:solidFill>
                            <a:srgbClr val="333333"/>
                          </a:solidFill>
                          <a:latin typeface="Calibri"/>
                        </a:defRPr>
                      </a:pPr>
                      <a:r>
                        <a:t>Confidential</a:t>
                      </a:r>
                    </a:p>
                  </a:txBody>
                  <a:tcPr>
                    <a:solidFill>
                      <a:srgbClr val="FFFFFF"/>
                    </a:solidFill>
                  </a:tcPr>
                </a:tc>
                <a:tc>
                  <a:txBody>
                    <a:bodyPr/>
                    <a:lstStyle/>
                    <a:p>
                      <a:pPr>
                        <a:defRPr sz="800">
                          <a:solidFill>
                            <a:srgbClr val="333333"/>
                          </a:solidFill>
                          <a:latin typeface="Calibri"/>
                        </a:defRPr>
                      </a:pPr>
                      <a:r>
                        <a:t>90d hot + 1yr archive</a:t>
                      </a:r>
                    </a:p>
                  </a:txBody>
                  <a:tcPr>
                    <a:solidFill>
                      <a:srgbClr val="FFFFFF"/>
                    </a:solidFill>
                  </a:tcPr>
                </a:tc>
                <a:tc>
                  <a:txBody>
                    <a:bodyPr/>
                    <a:lstStyle/>
                    <a:p>
                      <a:pPr>
                        <a:defRPr sz="800">
                          <a:solidFill>
                            <a:srgbClr val="333333"/>
                          </a:solidFill>
                          <a:latin typeface="Calibri"/>
                        </a:defRPr>
                      </a:pPr>
                      <a:r>
                        <a:t>AES-256 + TLS 1.3</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Agent decisions</a:t>
                      </a:r>
                    </a:p>
                  </a:txBody>
                  <a:tcPr>
                    <a:solidFill>
                      <a:srgbClr val="F2F2F2"/>
                    </a:solidFill>
                  </a:tcPr>
                </a:tc>
                <a:tc>
                  <a:txBody>
                    <a:bodyPr/>
                    <a:lstStyle/>
                    <a:p>
                      <a:pPr>
                        <a:defRPr sz="800">
                          <a:solidFill>
                            <a:srgbClr val="333333"/>
                          </a:solidFill>
                          <a:latin typeface="Calibri"/>
                        </a:defRPr>
                      </a:pPr>
                      <a:r>
                        <a:t>Internal</a:t>
                      </a:r>
                    </a:p>
                  </a:txBody>
                  <a:tcPr>
                    <a:solidFill>
                      <a:srgbClr val="F2F2F2"/>
                    </a:solidFill>
                  </a:tcPr>
                </a:tc>
                <a:tc>
                  <a:txBody>
                    <a:bodyPr/>
                    <a:lstStyle/>
                    <a:p>
                      <a:pPr>
                        <a:defRPr sz="800">
                          <a:solidFill>
                            <a:srgbClr val="333333"/>
                          </a:solidFill>
                          <a:latin typeface="Calibri"/>
                        </a:defRPr>
                      </a:pPr>
                      <a:r>
                        <a:t>1 year</a:t>
                      </a:r>
                    </a:p>
                  </a:txBody>
                  <a:tcPr>
                    <a:solidFill>
                      <a:srgbClr val="F2F2F2"/>
                    </a:solidFill>
                  </a:tcPr>
                </a:tc>
                <a:tc>
                  <a:txBody>
                    <a:bodyPr/>
                    <a:lstStyle/>
                    <a:p>
                      <a:pPr>
                        <a:defRPr sz="800">
                          <a:solidFill>
                            <a:srgbClr val="333333"/>
                          </a:solidFill>
                          <a:latin typeface="Calibri"/>
                        </a:defRPr>
                      </a:pPr>
                      <a:r>
                        <a:t>AES-256 + TLS 1.3</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Audit trail</a:t>
                      </a:r>
                    </a:p>
                  </a:txBody>
                  <a:tcPr>
                    <a:solidFill>
                      <a:srgbClr val="FFFFFF"/>
                    </a:solidFill>
                  </a:tcPr>
                </a:tc>
                <a:tc>
                  <a:txBody>
                    <a:bodyPr/>
                    <a:lstStyle/>
                    <a:p>
                      <a:pPr>
                        <a:defRPr sz="800">
                          <a:solidFill>
                            <a:srgbClr val="333333"/>
                          </a:solidFill>
                          <a:latin typeface="Calibri"/>
                        </a:defRPr>
                      </a:pPr>
                      <a:r>
                        <a:t>Internal</a:t>
                      </a:r>
                    </a:p>
                  </a:txBody>
                  <a:tcPr>
                    <a:solidFill>
                      <a:srgbClr val="FFFFFF"/>
                    </a:solidFill>
                  </a:tcPr>
                </a:tc>
                <a:tc>
                  <a:txBody>
                    <a:bodyPr/>
                    <a:lstStyle/>
                    <a:p>
                      <a:pPr>
                        <a:defRPr sz="800">
                          <a:solidFill>
                            <a:srgbClr val="333333"/>
                          </a:solidFill>
                          <a:latin typeface="Calibri"/>
                        </a:defRPr>
                      </a:pPr>
                      <a:r>
                        <a:t>5 years (compliance)</a:t>
                      </a:r>
                    </a:p>
                  </a:txBody>
                  <a:tcPr>
                    <a:solidFill>
                      <a:srgbClr val="FFFFFF"/>
                    </a:solidFill>
                  </a:tcPr>
                </a:tc>
                <a:tc>
                  <a:txBody>
                    <a:bodyPr/>
                    <a:lstStyle/>
                    <a:p>
                      <a:pPr>
                        <a:defRPr sz="800">
                          <a:solidFill>
                            <a:srgbClr val="333333"/>
                          </a:solidFill>
                          <a:latin typeface="Calibri"/>
                        </a:defRPr>
                      </a:pPr>
                      <a:r>
                        <a:t>AES-256, immutable</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LLM prompts/responses</a:t>
                      </a:r>
                    </a:p>
                  </a:txBody>
                  <a:tcPr>
                    <a:solidFill>
                      <a:srgbClr val="F2F2F2"/>
                    </a:solidFill>
                  </a:tcPr>
                </a:tc>
                <a:tc>
                  <a:txBody>
                    <a:bodyPr/>
                    <a:lstStyle/>
                    <a:p>
                      <a:pPr>
                        <a:defRPr sz="800">
                          <a:solidFill>
                            <a:srgbClr val="333333"/>
                          </a:solidFill>
                          <a:latin typeface="Calibri"/>
                        </a:defRPr>
                      </a:pPr>
                      <a:r>
                        <a:t>Confidential</a:t>
                      </a:r>
                    </a:p>
                  </a:txBody>
                  <a:tcPr>
                    <a:solidFill>
                      <a:srgbClr val="F2F2F2"/>
                    </a:solidFill>
                  </a:tcPr>
                </a:tc>
                <a:tc>
                  <a:txBody>
                    <a:bodyPr/>
                    <a:lstStyle/>
                    <a:p>
                      <a:pPr>
                        <a:defRPr sz="800">
                          <a:solidFill>
                            <a:srgbClr val="333333"/>
                          </a:solidFill>
                          <a:latin typeface="Calibri"/>
                        </a:defRPr>
                      </a:pPr>
                      <a:r>
                        <a:t>30 days</a:t>
                      </a:r>
                    </a:p>
                  </a:txBody>
                  <a:tcPr>
                    <a:solidFill>
                      <a:srgbClr val="F2F2F2"/>
                    </a:solidFill>
                  </a:tcPr>
                </a:tc>
                <a:tc>
                  <a:txBody>
                    <a:bodyPr/>
                    <a:lstStyle/>
                    <a:p>
                      <a:pPr>
                        <a:defRPr sz="800">
                          <a:solidFill>
                            <a:srgbClr val="333333"/>
                          </a:solidFill>
                          <a:latin typeface="Calibri"/>
                        </a:defRPr>
                      </a:pPr>
                      <a:r>
                        <a:t>AES-256 at rest</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Evacuation plans</a:t>
                      </a:r>
                    </a:p>
                  </a:txBody>
                  <a:tcPr>
                    <a:solidFill>
                      <a:srgbClr val="FFFFFF"/>
                    </a:solidFill>
                  </a:tcPr>
                </a:tc>
                <a:tc>
                  <a:txBody>
                    <a:bodyPr/>
                    <a:lstStyle/>
                    <a:p>
                      <a:pPr>
                        <a:defRPr sz="800">
                          <a:solidFill>
                            <a:srgbClr val="333333"/>
                          </a:solidFill>
                          <a:latin typeface="Calibri"/>
                        </a:defRPr>
                      </a:pPr>
                      <a:r>
                        <a:t>Restricted</a:t>
                      </a:r>
                    </a:p>
                  </a:txBody>
                  <a:tcPr>
                    <a:solidFill>
                      <a:srgbClr val="FFFFFF"/>
                    </a:solidFill>
                  </a:tcPr>
                </a:tc>
                <a:tc>
                  <a:txBody>
                    <a:bodyPr/>
                    <a:lstStyle/>
                    <a:p>
                      <a:pPr>
                        <a:defRPr sz="800">
                          <a:solidFill>
                            <a:srgbClr val="333333"/>
                          </a:solidFill>
                          <a:latin typeface="Calibri"/>
                        </a:defRPr>
                      </a:pPr>
                      <a:r>
                        <a:t>Active + 5 years</a:t>
                      </a:r>
                    </a:p>
                  </a:txBody>
                  <a:tcPr>
                    <a:solidFill>
                      <a:srgbClr val="FFFFFF"/>
                    </a:solidFill>
                  </a:tcPr>
                </a:tc>
                <a:tc>
                  <a:txBody>
                    <a:bodyPr/>
                    <a:lstStyle/>
                    <a:p>
                      <a:pPr>
                        <a:defRPr sz="800">
                          <a:solidFill>
                            <a:srgbClr val="333333"/>
                          </a:solidFill>
                          <a:latin typeface="Calibri"/>
                        </a:defRPr>
                      </a:pPr>
                      <a:r>
                        <a:t>AES-256 + TLS 1.3</a:t>
                      </a:r>
                    </a:p>
                  </a:txBody>
                  <a:tcP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457200" y="3174492"/>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Microsoft Security Controls:</a:t>
            </a:r>
          </a:p>
        </p:txBody>
      </p:sp>
      <p:sp>
        <p:nvSpPr>
          <p:cNvPr id="9" name="Rectangle 8"/>
          <p:cNvSpPr/>
          <p:nvPr/>
        </p:nvSpPr>
        <p:spPr>
          <a:xfrm>
            <a:off x="457200" y="3403092"/>
            <a:ext cx="36576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Identity &amp; Access</a:t>
            </a:r>
          </a:p>
        </p:txBody>
      </p:sp>
      <p:sp>
        <p:nvSpPr>
          <p:cNvPr id="10" name="Rounded Rectangle 9"/>
          <p:cNvSpPr/>
          <p:nvPr/>
        </p:nvSpPr>
        <p:spPr>
          <a:xfrm>
            <a:off x="457200" y="3677412"/>
            <a:ext cx="36576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Azure Entra ID for all authentication</a:t>
            </a:r>
          </a:p>
          <a:p>
            <a:pPr>
              <a:spcBef>
                <a:spcPts val="100"/>
              </a:spcBef>
              <a:spcAft>
                <a:spcPts val="100"/>
              </a:spcAft>
              <a:defRPr sz="900" b="0">
                <a:solidFill>
                  <a:srgbClr val="333333"/>
                </a:solidFill>
                <a:latin typeface="Calibri"/>
              </a:defRPr>
            </a:pPr>
            <a:r>
              <a:rPr dirty="0"/>
              <a:t>Managed Identities for service-to-service auth</a:t>
            </a:r>
          </a:p>
          <a:p>
            <a:pPr>
              <a:spcBef>
                <a:spcPts val="100"/>
              </a:spcBef>
              <a:spcAft>
                <a:spcPts val="100"/>
              </a:spcAft>
              <a:defRPr sz="900" b="0">
                <a:solidFill>
                  <a:srgbClr val="333333"/>
                </a:solidFill>
                <a:latin typeface="Calibri"/>
              </a:defRPr>
            </a:pPr>
            <a:r>
              <a:rPr dirty="0"/>
              <a:t>No API keys in code </a:t>
            </a:r>
            <a:r>
              <a:rPr lang="en-US" dirty="0"/>
              <a:t>:</a:t>
            </a:r>
            <a:r>
              <a:rPr dirty="0"/>
              <a:t> Key Vault only</a:t>
            </a:r>
          </a:p>
          <a:p>
            <a:pPr>
              <a:spcBef>
                <a:spcPts val="100"/>
              </a:spcBef>
              <a:spcAft>
                <a:spcPts val="100"/>
              </a:spcAft>
              <a:defRPr sz="900" b="0">
                <a:solidFill>
                  <a:srgbClr val="333333"/>
                </a:solidFill>
                <a:latin typeface="Calibri"/>
              </a:defRPr>
            </a:pPr>
            <a:r>
              <a:rPr dirty="0"/>
              <a:t>90-day automatic key rotation</a:t>
            </a:r>
          </a:p>
          <a:p>
            <a:pPr>
              <a:spcBef>
                <a:spcPts val="100"/>
              </a:spcBef>
              <a:spcAft>
                <a:spcPts val="100"/>
              </a:spcAft>
              <a:defRPr sz="900" b="0">
                <a:solidFill>
                  <a:srgbClr val="333333"/>
                </a:solidFill>
                <a:latin typeface="Calibri"/>
              </a:defRPr>
            </a:pPr>
            <a:r>
              <a:rPr dirty="0"/>
              <a:t>Conditional Access policies enforced</a:t>
            </a:r>
          </a:p>
        </p:txBody>
      </p:sp>
      <p:sp>
        <p:nvSpPr>
          <p:cNvPr id="11" name="Rectangle 10"/>
          <p:cNvSpPr/>
          <p:nvPr/>
        </p:nvSpPr>
        <p:spPr>
          <a:xfrm>
            <a:off x="4206240" y="3403092"/>
            <a:ext cx="36576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Network &amp; Infrastructure</a:t>
            </a:r>
          </a:p>
        </p:txBody>
      </p:sp>
      <p:sp>
        <p:nvSpPr>
          <p:cNvPr id="12" name="Rounded Rectangle 11"/>
          <p:cNvSpPr/>
          <p:nvPr/>
        </p:nvSpPr>
        <p:spPr>
          <a:xfrm>
            <a:off x="4206240" y="3677412"/>
            <a:ext cx="36576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All PaaS services behind VNET + private endpoints</a:t>
            </a:r>
          </a:p>
          <a:p>
            <a:pPr>
              <a:spcBef>
                <a:spcPts val="100"/>
              </a:spcBef>
              <a:spcAft>
                <a:spcPts val="100"/>
              </a:spcAft>
              <a:defRPr sz="900" b="0">
                <a:solidFill>
                  <a:srgbClr val="333333"/>
                </a:solidFill>
                <a:latin typeface="Calibri"/>
              </a:defRPr>
            </a:pPr>
            <a:r>
              <a:rPr dirty="0"/>
              <a:t>App Gateway + WAF v2 (OWASP 3.2 ruleset)</a:t>
            </a:r>
          </a:p>
          <a:p>
            <a:pPr>
              <a:spcBef>
                <a:spcPts val="100"/>
              </a:spcBef>
              <a:spcAft>
                <a:spcPts val="100"/>
              </a:spcAft>
              <a:defRPr sz="900" b="0">
                <a:solidFill>
                  <a:srgbClr val="333333"/>
                </a:solidFill>
                <a:latin typeface="Calibri"/>
              </a:defRPr>
            </a:pPr>
            <a:r>
              <a:rPr dirty="0"/>
              <a:t>No public endpoints for backend services</a:t>
            </a:r>
          </a:p>
          <a:p>
            <a:pPr>
              <a:spcBef>
                <a:spcPts val="100"/>
              </a:spcBef>
              <a:spcAft>
                <a:spcPts val="100"/>
              </a:spcAft>
              <a:defRPr sz="900" b="0">
                <a:solidFill>
                  <a:srgbClr val="333333"/>
                </a:solidFill>
                <a:latin typeface="Calibri"/>
              </a:defRPr>
            </a:pPr>
            <a:r>
              <a:rPr dirty="0"/>
              <a:t>DDoS Protection Standard on VNET</a:t>
            </a:r>
          </a:p>
          <a:p>
            <a:pPr>
              <a:spcBef>
                <a:spcPts val="100"/>
              </a:spcBef>
              <a:spcAft>
                <a:spcPts val="100"/>
              </a:spcAft>
              <a:defRPr sz="900" b="0">
                <a:solidFill>
                  <a:srgbClr val="333333"/>
                </a:solidFill>
                <a:latin typeface="Calibri"/>
              </a:defRPr>
            </a:pPr>
            <a:r>
              <a:rPr dirty="0"/>
              <a:t>NSG rules restrict east-west traffic</a:t>
            </a:r>
          </a:p>
        </p:txBody>
      </p:sp>
      <p:sp>
        <p:nvSpPr>
          <p:cNvPr id="13" name="Rectangle 12"/>
          <p:cNvSpPr/>
          <p:nvPr/>
        </p:nvSpPr>
        <p:spPr>
          <a:xfrm>
            <a:off x="7955280" y="3403092"/>
            <a:ext cx="3657600" cy="2743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Monitoring &amp; Audit</a:t>
            </a:r>
          </a:p>
        </p:txBody>
      </p:sp>
      <p:sp>
        <p:nvSpPr>
          <p:cNvPr id="14" name="Rounded Rectangle 13"/>
          <p:cNvSpPr/>
          <p:nvPr/>
        </p:nvSpPr>
        <p:spPr>
          <a:xfrm>
            <a:off x="7955280" y="3677412"/>
            <a:ext cx="365760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Application Insights: LLM traces + latency per agent</a:t>
            </a:r>
          </a:p>
          <a:p>
            <a:pPr>
              <a:spcBef>
                <a:spcPts val="100"/>
              </a:spcBef>
              <a:spcAft>
                <a:spcPts val="100"/>
              </a:spcAft>
              <a:defRPr sz="900" b="0">
                <a:solidFill>
                  <a:srgbClr val="333333"/>
                </a:solidFill>
                <a:latin typeface="Calibri"/>
              </a:defRPr>
            </a:pPr>
            <a:r>
              <a:rPr dirty="0"/>
              <a:t>Azure Monitor: service health + alerting rules</a:t>
            </a:r>
          </a:p>
          <a:p>
            <a:pPr>
              <a:spcBef>
                <a:spcPts val="100"/>
              </a:spcBef>
              <a:spcAft>
                <a:spcPts val="100"/>
              </a:spcAft>
              <a:defRPr sz="900" b="0">
                <a:solidFill>
                  <a:srgbClr val="333333"/>
                </a:solidFill>
                <a:latin typeface="Calibri"/>
              </a:defRPr>
            </a:pPr>
            <a:r>
              <a:rPr dirty="0"/>
              <a:t>Log Analytics Workspace: centralized log aggregation</a:t>
            </a:r>
          </a:p>
          <a:p>
            <a:pPr>
              <a:spcBef>
                <a:spcPts val="100"/>
              </a:spcBef>
              <a:spcAft>
                <a:spcPts val="100"/>
              </a:spcAft>
              <a:defRPr sz="900" b="0">
                <a:solidFill>
                  <a:srgbClr val="333333"/>
                </a:solidFill>
                <a:latin typeface="Calibri"/>
              </a:defRPr>
            </a:pPr>
            <a:r>
              <a:rPr dirty="0"/>
              <a:t>Cosmos DB: immutable audit (partition: </a:t>
            </a:r>
            <a:r>
              <a:rPr dirty="0" err="1"/>
              <a:t>tick_agent_ts</a:t>
            </a:r>
            <a:r>
              <a:rPr dirty="0"/>
              <a:t>)</a:t>
            </a:r>
          </a:p>
          <a:p>
            <a:pPr>
              <a:spcBef>
                <a:spcPts val="100"/>
              </a:spcBef>
              <a:spcAft>
                <a:spcPts val="100"/>
              </a:spcAft>
              <a:defRPr sz="900" b="0">
                <a:solidFill>
                  <a:srgbClr val="333333"/>
                </a:solidFill>
                <a:latin typeface="Calibri"/>
              </a:defRPr>
            </a:pPr>
            <a:r>
              <a:rPr dirty="0"/>
              <a:t>Microsoft Defender for Cloud: posture management</a:t>
            </a:r>
          </a:p>
        </p:txBody>
      </p:sp>
      <p:sp>
        <p:nvSpPr>
          <p:cNvPr id="15" name="Rounded Rectangle 14"/>
          <p:cNvSpPr/>
          <p:nvPr/>
        </p:nvSpPr>
        <p:spPr>
          <a:xfrm>
            <a:off x="457200" y="5003292"/>
            <a:ext cx="11277295" cy="411480"/>
          </a:xfrm>
          <a:prstGeom prst="round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900" b="1">
                <a:solidFill>
                  <a:srgbClr val="333333"/>
                </a:solidFill>
                <a:latin typeface="Calibri"/>
              </a:defRPr>
            </a:pPr>
            <a:r>
              <a:t>Compliance: NERC CIP (critical infrastructure), IAEA Safety Standards, ISO 27001 alignment. All LLM interactions logged with full prompt/response for audit. Zero PII in LLM prompts. Content safety filters on all Azure OpenAI deployments.</a:t>
            </a:r>
          </a:p>
        </p:txBody>
      </p:sp>
      <p:sp>
        <p:nvSpPr>
          <p:cNvPr id="16" name="Rectangle 15"/>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8" name="TextBox 17"/>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13/20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Responsible AI </a:t>
            </a:r>
            <a:r>
              <a:rPr lang="en-US" dirty="0"/>
              <a:t>:</a:t>
            </a:r>
            <a:r>
              <a:rPr dirty="0"/>
              <a:t> Azure RAI Principles Alignment</a:t>
            </a:r>
          </a:p>
          <a:p>
            <a:pPr algn="l">
              <a:spcBef>
                <a:spcPts val="100"/>
              </a:spcBef>
              <a:spcAft>
                <a:spcPts val="100"/>
              </a:spcAft>
              <a:defRPr sz="1300" b="0">
                <a:solidFill>
                  <a:srgbClr val="88BBDD"/>
                </a:solidFill>
                <a:latin typeface="Calibri"/>
              </a:defRPr>
            </a:pPr>
            <a:r>
              <a:rPr dirty="0"/>
              <a:t>Every design decision maps to a Responsible AI principle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54252"/>
            <a:ext cx="36576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Fairness</a:t>
            </a:r>
          </a:p>
        </p:txBody>
      </p:sp>
      <p:sp>
        <p:nvSpPr>
          <p:cNvPr id="5" name="Rounded Rectangle 4"/>
          <p:cNvSpPr/>
          <p:nvPr/>
        </p:nvSpPr>
        <p:spPr>
          <a:xfrm>
            <a:off x="457200" y="1528572"/>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All operators receive identical risk data regardless of shift/seniority</a:t>
            </a:r>
          </a:p>
          <a:p>
            <a:pPr>
              <a:spcBef>
                <a:spcPts val="100"/>
              </a:spcBef>
              <a:spcAft>
                <a:spcPts val="100"/>
              </a:spcAft>
              <a:defRPr sz="900" b="0">
                <a:solidFill>
                  <a:srgbClr val="333333"/>
                </a:solidFill>
                <a:latin typeface="Calibri"/>
              </a:defRPr>
            </a:pPr>
            <a:r>
              <a:rPr dirty="0"/>
              <a:t>Guardrails apply uniformly </a:t>
            </a:r>
            <a:r>
              <a:rPr lang="en-US" dirty="0"/>
              <a:t>:</a:t>
            </a:r>
            <a:r>
              <a:rPr dirty="0"/>
              <a:t> no role-based safety exceptions</a:t>
            </a:r>
          </a:p>
          <a:p>
            <a:pPr>
              <a:spcBef>
                <a:spcPts val="100"/>
              </a:spcBef>
              <a:spcAft>
                <a:spcPts val="100"/>
              </a:spcAft>
              <a:defRPr sz="900" b="0">
                <a:solidFill>
                  <a:srgbClr val="333333"/>
                </a:solidFill>
                <a:latin typeface="Calibri"/>
              </a:defRPr>
            </a:pPr>
            <a:r>
              <a:rPr dirty="0"/>
              <a:t>Dyatlov pressure affects AI decisions, never safety floor</a:t>
            </a:r>
          </a:p>
        </p:txBody>
      </p:sp>
      <p:sp>
        <p:nvSpPr>
          <p:cNvPr id="6" name="Rectangle 5"/>
          <p:cNvSpPr/>
          <p:nvPr/>
        </p:nvSpPr>
        <p:spPr>
          <a:xfrm>
            <a:off x="4206240" y="1254252"/>
            <a:ext cx="36576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Reliability &amp; Safety</a:t>
            </a:r>
          </a:p>
        </p:txBody>
      </p:sp>
      <p:sp>
        <p:nvSpPr>
          <p:cNvPr id="7" name="Rounded Rectangle 6"/>
          <p:cNvSpPr/>
          <p:nvPr/>
        </p:nvSpPr>
        <p:spPr>
          <a:xfrm>
            <a:off x="4206240" y="1528572"/>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Graceful degradation: LLM fails → 100% rule-based → ALWAYS safe</a:t>
            </a:r>
          </a:p>
          <a:p>
            <a:pPr>
              <a:spcBef>
                <a:spcPts val="100"/>
              </a:spcBef>
              <a:spcAft>
                <a:spcPts val="100"/>
              </a:spcAft>
              <a:defRPr sz="900" b="0">
                <a:solidFill>
                  <a:srgbClr val="333333"/>
                </a:solidFill>
                <a:latin typeface="Calibri"/>
              </a:defRPr>
            </a:pPr>
            <a:r>
              <a:rPr dirty="0"/>
              <a:t>Guardrail-Union ensures AI enhances but never weakens safety</a:t>
            </a:r>
          </a:p>
          <a:p>
            <a:pPr>
              <a:spcBef>
                <a:spcPts val="100"/>
              </a:spcBef>
              <a:spcAft>
                <a:spcPts val="100"/>
              </a:spcAft>
              <a:defRPr sz="900" b="0">
                <a:solidFill>
                  <a:srgbClr val="333333"/>
                </a:solidFill>
                <a:latin typeface="Calibri"/>
              </a:defRPr>
            </a:pPr>
            <a:r>
              <a:rPr dirty="0"/>
              <a:t>Anti-hallucination guards prevent false SCRAM/ABORT below thresholds</a:t>
            </a:r>
          </a:p>
        </p:txBody>
      </p:sp>
      <p:sp>
        <p:nvSpPr>
          <p:cNvPr id="8" name="Rectangle 7"/>
          <p:cNvSpPr/>
          <p:nvPr/>
        </p:nvSpPr>
        <p:spPr>
          <a:xfrm>
            <a:off x="7955280" y="1254252"/>
            <a:ext cx="3657600" cy="2743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Privacy &amp; Security</a:t>
            </a:r>
          </a:p>
        </p:txBody>
      </p:sp>
      <p:sp>
        <p:nvSpPr>
          <p:cNvPr id="9" name="Rounded Rectangle 8"/>
          <p:cNvSpPr/>
          <p:nvPr/>
        </p:nvSpPr>
        <p:spPr>
          <a:xfrm>
            <a:off x="7955280" y="1528572"/>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Zero PII in LLM prompts </a:t>
            </a:r>
            <a:r>
              <a:rPr lang="en-US" dirty="0"/>
              <a:t>:</a:t>
            </a:r>
            <a:r>
              <a:rPr dirty="0"/>
              <a:t> only reactor telemetry parameters</a:t>
            </a:r>
          </a:p>
          <a:p>
            <a:pPr>
              <a:spcBef>
                <a:spcPts val="100"/>
              </a:spcBef>
              <a:spcAft>
                <a:spcPts val="100"/>
              </a:spcAft>
              <a:defRPr sz="900" b="0">
                <a:solidFill>
                  <a:srgbClr val="333333"/>
                </a:solidFill>
                <a:latin typeface="Calibri"/>
              </a:defRPr>
            </a:pPr>
            <a:r>
              <a:rPr dirty="0"/>
              <a:t>AES-256 encryption at rest + TLS 1.3 in transit</a:t>
            </a:r>
          </a:p>
          <a:p>
            <a:pPr>
              <a:spcBef>
                <a:spcPts val="100"/>
              </a:spcBef>
              <a:spcAft>
                <a:spcPts val="100"/>
              </a:spcAft>
              <a:defRPr sz="900" b="0">
                <a:solidFill>
                  <a:srgbClr val="333333"/>
                </a:solidFill>
                <a:latin typeface="Calibri"/>
              </a:defRPr>
            </a:pPr>
            <a:r>
              <a:rPr dirty="0"/>
              <a:t>LLM prompts retained 30 days max, then purged</a:t>
            </a:r>
          </a:p>
        </p:txBody>
      </p:sp>
      <p:sp>
        <p:nvSpPr>
          <p:cNvPr id="10" name="Rectangle 9"/>
          <p:cNvSpPr/>
          <p:nvPr/>
        </p:nvSpPr>
        <p:spPr>
          <a:xfrm>
            <a:off x="457200" y="2699004"/>
            <a:ext cx="3657600" cy="274320"/>
          </a:xfrm>
          <a:prstGeom prst="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Inclusiveness</a:t>
            </a:r>
          </a:p>
        </p:txBody>
      </p:sp>
      <p:sp>
        <p:nvSpPr>
          <p:cNvPr id="11" name="Rounded Rectangle 10"/>
          <p:cNvSpPr/>
          <p:nvPr/>
        </p:nvSpPr>
        <p:spPr>
          <a:xfrm>
            <a:off x="457200" y="2973324"/>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Dashboard accessible via web (any device/browser)</a:t>
            </a:r>
          </a:p>
          <a:p>
            <a:pPr>
              <a:spcBef>
                <a:spcPts val="100"/>
              </a:spcBef>
              <a:spcAft>
                <a:spcPts val="100"/>
              </a:spcAft>
              <a:defRPr sz="900" b="0">
                <a:solidFill>
                  <a:srgbClr val="333333"/>
                </a:solidFill>
                <a:latin typeface="Calibri"/>
              </a:defRPr>
            </a:pPr>
            <a:r>
              <a:rPr dirty="0"/>
              <a:t>Color-coded risk indicators with text labels (colorblind-safe)</a:t>
            </a:r>
          </a:p>
          <a:p>
            <a:pPr>
              <a:spcBef>
                <a:spcPts val="100"/>
              </a:spcBef>
              <a:spcAft>
                <a:spcPts val="100"/>
              </a:spcAft>
              <a:defRPr sz="900" b="0">
                <a:solidFill>
                  <a:srgbClr val="333333"/>
                </a:solidFill>
                <a:latin typeface="Calibri"/>
              </a:defRPr>
            </a:pPr>
            <a:r>
              <a:rPr dirty="0"/>
              <a:t>Multi-language alert capability in </a:t>
            </a:r>
            <a:r>
              <a:rPr dirty="0" err="1"/>
              <a:t>CommsAgent</a:t>
            </a:r>
            <a:endParaRPr dirty="0"/>
          </a:p>
        </p:txBody>
      </p:sp>
      <p:sp>
        <p:nvSpPr>
          <p:cNvPr id="12" name="Rectangle 11"/>
          <p:cNvSpPr/>
          <p:nvPr/>
        </p:nvSpPr>
        <p:spPr>
          <a:xfrm>
            <a:off x="4206240" y="2699004"/>
            <a:ext cx="3657600"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Transparency</a:t>
            </a:r>
          </a:p>
        </p:txBody>
      </p:sp>
      <p:sp>
        <p:nvSpPr>
          <p:cNvPr id="13" name="Rounded Rectangle 12"/>
          <p:cNvSpPr/>
          <p:nvPr/>
        </p:nvSpPr>
        <p:spPr>
          <a:xfrm>
            <a:off x="4206240" y="2973324"/>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Every risk score accompanied by: </a:t>
            </a:r>
            <a:r>
              <a:rPr dirty="0" err="1"/>
              <a:t>primary_concern</a:t>
            </a:r>
            <a:r>
              <a:rPr dirty="0"/>
              <a:t>, </a:t>
            </a:r>
            <a:r>
              <a:rPr dirty="0" err="1"/>
              <a:t>compound_risks</a:t>
            </a:r>
            <a:r>
              <a:rPr dirty="0"/>
              <a:t>, reasoning</a:t>
            </a:r>
          </a:p>
          <a:p>
            <a:pPr>
              <a:spcBef>
                <a:spcPts val="100"/>
              </a:spcBef>
              <a:spcAft>
                <a:spcPts val="100"/>
              </a:spcAft>
              <a:defRPr sz="900" b="0">
                <a:solidFill>
                  <a:srgbClr val="333333"/>
                </a:solidFill>
                <a:latin typeface="Calibri"/>
              </a:defRPr>
            </a:pPr>
            <a:r>
              <a:rPr dirty="0"/>
              <a:t>Every decision tagged with source: "rule" or "</a:t>
            </a:r>
            <a:r>
              <a:rPr dirty="0" err="1"/>
              <a:t>llm</a:t>
            </a:r>
            <a:r>
              <a:rPr dirty="0"/>
              <a:t>" for attribution</a:t>
            </a:r>
          </a:p>
          <a:p>
            <a:pPr>
              <a:spcBef>
                <a:spcPts val="100"/>
              </a:spcBef>
              <a:spcAft>
                <a:spcPts val="100"/>
              </a:spcAft>
              <a:defRPr sz="900" b="0">
                <a:solidFill>
                  <a:srgbClr val="333333"/>
                </a:solidFill>
                <a:latin typeface="Calibri"/>
              </a:defRPr>
            </a:pPr>
            <a:r>
              <a:rPr dirty="0"/>
              <a:t>Dyatlov override decisions logged with full dialogue context</a:t>
            </a:r>
          </a:p>
        </p:txBody>
      </p:sp>
      <p:sp>
        <p:nvSpPr>
          <p:cNvPr id="14" name="Rectangle 13"/>
          <p:cNvSpPr/>
          <p:nvPr/>
        </p:nvSpPr>
        <p:spPr>
          <a:xfrm>
            <a:off x="7955280" y="2699004"/>
            <a:ext cx="36576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Accountability</a:t>
            </a:r>
          </a:p>
        </p:txBody>
      </p:sp>
      <p:sp>
        <p:nvSpPr>
          <p:cNvPr id="15" name="Rounded Rectangle 14"/>
          <p:cNvSpPr/>
          <p:nvPr/>
        </p:nvSpPr>
        <p:spPr>
          <a:xfrm>
            <a:off x="7955280" y="2973324"/>
            <a:ext cx="36576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Immutable audit trail in Cosmos DB (tick × agent × timestamp)</a:t>
            </a:r>
          </a:p>
          <a:p>
            <a:pPr>
              <a:spcBef>
                <a:spcPts val="100"/>
              </a:spcBef>
              <a:spcAft>
                <a:spcPts val="100"/>
              </a:spcAft>
              <a:defRPr sz="900" b="0">
                <a:solidFill>
                  <a:srgbClr val="333333"/>
                </a:solidFill>
                <a:latin typeface="Calibri"/>
              </a:defRPr>
            </a:pPr>
            <a:r>
              <a:rPr dirty="0"/>
              <a:t>Full prompt/response logging via Application Insights</a:t>
            </a:r>
          </a:p>
          <a:p>
            <a:pPr>
              <a:spcBef>
                <a:spcPts val="100"/>
              </a:spcBef>
              <a:spcAft>
                <a:spcPts val="100"/>
              </a:spcAft>
              <a:defRPr sz="900" b="0">
                <a:solidFill>
                  <a:srgbClr val="333333"/>
                </a:solidFill>
                <a:latin typeface="Calibri"/>
              </a:defRPr>
            </a:pPr>
            <a:r>
              <a:rPr dirty="0"/>
              <a:t>5-year retention for compliance and regulatory review</a:t>
            </a:r>
          </a:p>
        </p:txBody>
      </p:sp>
      <p:sp>
        <p:nvSpPr>
          <p:cNvPr id="16" name="TextBox 15"/>
          <p:cNvSpPr txBox="1"/>
          <p:nvPr/>
        </p:nvSpPr>
        <p:spPr>
          <a:xfrm>
            <a:off x="457200" y="4189476"/>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Model Lifecycle, Evaluation &amp; Observability:</a:t>
            </a:r>
          </a:p>
        </p:txBody>
      </p:sp>
      <p:graphicFrame>
        <p:nvGraphicFramePr>
          <p:cNvPr id="17" name="Table 16"/>
          <p:cNvGraphicFramePr>
            <a:graphicFrameLocks noGrp="1"/>
          </p:cNvGraphicFramePr>
          <p:nvPr/>
        </p:nvGraphicFramePr>
        <p:xfrm>
          <a:off x="457200" y="4418076"/>
          <a:ext cx="11277295" cy="1706880"/>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9">
                  <a:extLst>
                    <a:ext uri="{9D8B030D-6E8A-4147-A177-3AD203B41FA5}">
                      <a16:colId xmlns:a16="http://schemas.microsoft.com/office/drawing/2014/main" val="20002"/>
                    </a:ext>
                  </a:extLst>
                </a:gridCol>
              </a:tblGrid>
              <a:tr h="274320">
                <a:tc>
                  <a:txBody>
                    <a:bodyPr/>
                    <a:lstStyle/>
                    <a:p>
                      <a:pPr>
                        <a:defRPr sz="900" b="1">
                          <a:solidFill>
                            <a:srgbClr val="FFFFFF"/>
                          </a:solidFill>
                          <a:latin typeface="Calibri"/>
                        </a:defRPr>
                      </a:pPr>
                      <a:r>
                        <a:t>Lifecycle Stage</a:t>
                      </a:r>
                    </a:p>
                  </a:txBody>
                  <a:tcPr>
                    <a:solidFill>
                      <a:srgbClr val="009B8D"/>
                    </a:solidFill>
                  </a:tcPr>
                </a:tc>
                <a:tc>
                  <a:txBody>
                    <a:bodyPr/>
                    <a:lstStyle/>
                    <a:p>
                      <a:pPr>
                        <a:defRPr sz="900" b="1">
                          <a:solidFill>
                            <a:srgbClr val="FFFFFF"/>
                          </a:solidFill>
                          <a:latin typeface="Calibri"/>
                        </a:defRPr>
                      </a:pPr>
                      <a:r>
                        <a:t>Implementation</a:t>
                      </a:r>
                    </a:p>
                  </a:txBody>
                  <a:tcPr>
                    <a:solidFill>
                      <a:srgbClr val="009B8D"/>
                    </a:solidFill>
                  </a:tcPr>
                </a:tc>
                <a:tc>
                  <a:txBody>
                    <a:bodyPr/>
                    <a:lstStyle/>
                    <a:p>
                      <a:pPr>
                        <a:defRPr sz="900" b="1">
                          <a:solidFill>
                            <a:srgbClr val="FFFFFF"/>
                          </a:solidFill>
                          <a:latin typeface="Calibri"/>
                        </a:defRPr>
                      </a:pPr>
                      <a:r>
                        <a:t>Tooling</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Prompt Versioning</a:t>
                      </a:r>
                    </a:p>
                  </a:txBody>
                  <a:tcPr>
                    <a:solidFill>
                      <a:srgbClr val="FFFFFF"/>
                    </a:solidFill>
                  </a:tcPr>
                </a:tc>
                <a:tc>
                  <a:txBody>
                    <a:bodyPr/>
                    <a:lstStyle/>
                    <a:p>
                      <a:pPr>
                        <a:defRPr sz="800">
                          <a:solidFill>
                            <a:srgbClr val="333333"/>
                          </a:solidFill>
                          <a:latin typeface="Calibri"/>
                        </a:defRPr>
                      </a:pPr>
                      <a:r>
                        <a:t>3 system prompts (RISK, DECISION, DYATLOV) with pinned JSON schemas</a:t>
                      </a:r>
                    </a:p>
                  </a:txBody>
                  <a:tcPr>
                    <a:solidFill>
                      <a:srgbClr val="FFFFFF"/>
                    </a:solidFill>
                  </a:tcPr>
                </a:tc>
                <a:tc>
                  <a:txBody>
                    <a:bodyPr/>
                    <a:lstStyle/>
                    <a:p>
                      <a:pPr>
                        <a:defRPr sz="800">
                          <a:solidFill>
                            <a:srgbClr val="333333"/>
                          </a:solidFill>
                          <a:latin typeface="Calibri"/>
                        </a:defRPr>
                      </a:pPr>
                      <a:r>
                        <a:t>AI Foundry prompt management</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Evaluation</a:t>
                      </a:r>
                    </a:p>
                  </a:txBody>
                  <a:tcPr>
                    <a:solidFill>
                      <a:srgbClr val="F2F2F2"/>
                    </a:solidFill>
                  </a:tcPr>
                </a:tc>
                <a:tc>
                  <a:txBody>
                    <a:bodyPr/>
                    <a:lstStyle/>
                    <a:p>
                      <a:pPr>
                        <a:defRPr sz="800">
                          <a:solidFill>
                            <a:srgbClr val="333333"/>
                          </a:solidFill>
                          <a:latin typeface="Calibri"/>
                        </a:defRPr>
                      </a:pPr>
                      <a:r>
                        <a:t>Smoke test (5 ticks), full regression (SCRAM timing ±2 ticks of baseline)</a:t>
                      </a:r>
                    </a:p>
                  </a:txBody>
                  <a:tcPr>
                    <a:solidFill>
                      <a:srgbClr val="F2F2F2"/>
                    </a:solidFill>
                  </a:tcPr>
                </a:tc>
                <a:tc>
                  <a:txBody>
                    <a:bodyPr/>
                    <a:lstStyle/>
                    <a:p>
                      <a:pPr>
                        <a:defRPr sz="800">
                          <a:solidFill>
                            <a:srgbClr val="333333"/>
                          </a:solidFill>
                          <a:latin typeface="Calibri"/>
                        </a:defRPr>
                      </a:pPr>
                      <a:r>
                        <a:t>python main.py --smoke-test</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Observability</a:t>
                      </a:r>
                    </a:p>
                  </a:txBody>
                  <a:tcPr>
                    <a:solidFill>
                      <a:srgbClr val="FFFFFF"/>
                    </a:solidFill>
                  </a:tcPr>
                </a:tc>
                <a:tc>
                  <a:txBody>
                    <a:bodyPr/>
                    <a:lstStyle/>
                    <a:p>
                      <a:pPr>
                        <a:defRPr sz="800">
                          <a:solidFill>
                            <a:srgbClr val="333333"/>
                          </a:solidFill>
                          <a:latin typeface="Calibri"/>
                        </a:defRPr>
                      </a:pPr>
                      <a:r>
                        <a:t>Per-agent latency tracking, LLM call traces, error rates, token usage</a:t>
                      </a:r>
                    </a:p>
                  </a:txBody>
                  <a:tcPr>
                    <a:solidFill>
                      <a:srgbClr val="FFFFFF"/>
                    </a:solidFill>
                  </a:tcPr>
                </a:tc>
                <a:tc>
                  <a:txBody>
                    <a:bodyPr/>
                    <a:lstStyle/>
                    <a:p>
                      <a:pPr>
                        <a:defRPr sz="800">
                          <a:solidFill>
                            <a:srgbClr val="333333"/>
                          </a:solidFill>
                          <a:latin typeface="Calibri"/>
                        </a:defRPr>
                      </a:pPr>
                      <a:r>
                        <a:t>Application Insights custom metrics</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Human Oversight</a:t>
                      </a:r>
                    </a:p>
                  </a:txBody>
                  <a:tcPr>
                    <a:solidFill>
                      <a:srgbClr val="F2F2F2"/>
                    </a:solidFill>
                  </a:tcPr>
                </a:tc>
                <a:tc>
                  <a:txBody>
                    <a:bodyPr/>
                    <a:lstStyle/>
                    <a:p>
                      <a:pPr>
                        <a:defRPr sz="800">
                          <a:solidFill>
                            <a:srgbClr val="333333"/>
                          </a:solidFill>
                          <a:latin typeface="Calibri"/>
                        </a:defRPr>
                      </a:pPr>
                      <a:r>
                        <a:t>4-level decision ladder: Advisory → Informational → Confirmation → Auto-Execute</a:t>
                      </a:r>
                    </a:p>
                  </a:txBody>
                  <a:tcPr>
                    <a:solidFill>
                      <a:srgbClr val="F2F2F2"/>
                    </a:solidFill>
                  </a:tcPr>
                </a:tc>
                <a:tc>
                  <a:txBody>
                    <a:bodyPr/>
                    <a:lstStyle/>
                    <a:p>
                      <a:pPr>
                        <a:defRPr sz="800">
                          <a:solidFill>
                            <a:srgbClr val="333333"/>
                          </a:solidFill>
                          <a:latin typeface="Calibri"/>
                        </a:defRPr>
                      </a:pPr>
                      <a:r>
                        <a:t>Dashboard + Copilot Studio</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Failure Mode</a:t>
                      </a:r>
                    </a:p>
                  </a:txBody>
                  <a:tcPr>
                    <a:solidFill>
                      <a:srgbClr val="FFFFFF"/>
                    </a:solidFill>
                  </a:tcPr>
                </a:tc>
                <a:tc>
                  <a:txBody>
                    <a:bodyPr/>
                    <a:lstStyle/>
                    <a:p>
                      <a:pPr>
                        <a:defRPr sz="800">
                          <a:solidFill>
                            <a:srgbClr val="333333"/>
                          </a:solidFill>
                          <a:latin typeface="Calibri"/>
                        </a:defRPr>
                      </a:pPr>
                      <a:r>
                        <a:t>All failures degrade toward MORE safety. "Safer without AI than with compromised AI."</a:t>
                      </a:r>
                    </a:p>
                  </a:txBody>
                  <a:tcPr>
                    <a:solidFill>
                      <a:srgbClr val="FFFFFF"/>
                    </a:solidFill>
                  </a:tcPr>
                </a:tc>
                <a:tc>
                  <a:txBody>
                    <a:bodyPr/>
                    <a:lstStyle/>
                    <a:p>
                      <a:pPr>
                        <a:defRPr sz="800">
                          <a:solidFill>
                            <a:srgbClr val="333333"/>
                          </a:solidFill>
                          <a:latin typeface="Calibri"/>
                        </a:defRPr>
                      </a:pPr>
                      <a:r>
                        <a:t>Deterministic fallback pipeline</a:t>
                      </a:r>
                    </a:p>
                  </a:txBody>
                  <a:tcPr>
                    <a:solidFill>
                      <a:srgbClr val="FFFFFF"/>
                    </a:solidFill>
                  </a:tcPr>
                </a:tc>
                <a:extLst>
                  <a:ext uri="{0D108BD9-81ED-4DB2-BD59-A6C34878D82A}">
                    <a16:rowId xmlns:a16="http://schemas.microsoft.com/office/drawing/2014/main" val="10005"/>
                  </a:ext>
                </a:extLst>
              </a:tr>
            </a:tbl>
          </a:graphicData>
        </a:graphic>
      </p:graphicFrame>
      <p:sp>
        <p:nvSpPr>
          <p:cNvPr id="18" name="Rectangle 17"/>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20" name="TextBox 19"/>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14/20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rPr dirty="0"/>
              <a:t>Operator UX </a:t>
            </a:r>
            <a:r>
              <a:rPr lang="en-US" dirty="0"/>
              <a:t>:</a:t>
            </a:r>
            <a:r>
              <a:rPr dirty="0"/>
              <a:t> Dashboard, Workflow &amp; Alert Design</a:t>
            </a:r>
          </a:p>
          <a:p>
            <a:pPr algn="l">
              <a:spcBef>
                <a:spcPts val="100"/>
              </a:spcBef>
              <a:spcAft>
                <a:spcPts val="100"/>
              </a:spcAft>
              <a:defRPr sz="1300" b="0">
                <a:solidFill>
                  <a:srgbClr val="88BBDD"/>
                </a:solidFill>
                <a:latin typeface="Calibri"/>
              </a:defRPr>
            </a:pPr>
            <a:r>
              <a:rPr dirty="0"/>
              <a:t>What the operator sees, when they see it, and what actions they can take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54252"/>
            <a:ext cx="54864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Dashboard Components (Web UI)</a:t>
            </a:r>
          </a:p>
        </p:txBody>
      </p:sp>
      <p:sp>
        <p:nvSpPr>
          <p:cNvPr id="5" name="Rounded Rectangle 4"/>
          <p:cNvSpPr/>
          <p:nvPr/>
        </p:nvSpPr>
        <p:spPr>
          <a:xfrm>
            <a:off x="457200" y="1528572"/>
            <a:ext cx="5486400" cy="173736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6 Real-time Plotly.js Charts (WebGL </a:t>
            </a:r>
            <a:r>
              <a:rPr dirty="0" err="1"/>
              <a:t>scattergl</a:t>
            </a:r>
            <a:r>
              <a:rPr dirty="0"/>
              <a:t>, 2000-point rolling buffers):</a:t>
            </a:r>
          </a:p>
          <a:p>
            <a:pPr>
              <a:spcBef>
                <a:spcPts val="100"/>
              </a:spcBef>
              <a:spcAft>
                <a:spcPts val="100"/>
              </a:spcAft>
              <a:defRPr sz="900" b="0">
                <a:solidFill>
                  <a:srgbClr val="333333"/>
                </a:solidFill>
                <a:latin typeface="Calibri"/>
              </a:defRPr>
            </a:pPr>
            <a:r>
              <a:rPr dirty="0"/>
              <a:t>  • Power (MW), Control Rods, Coolant Flow (m³/h), Steam Pressure (MPa), Temperature (°C), Radiation</a:t>
            </a:r>
          </a:p>
          <a:p>
            <a:pPr>
              <a:spcBef>
                <a:spcPts val="100"/>
              </a:spcBef>
              <a:spcAft>
                <a:spcPts val="100"/>
              </a:spcAft>
              <a:defRPr sz="900" b="0">
                <a:solidFill>
                  <a:srgbClr val="333333"/>
                </a:solidFill>
                <a:latin typeface="Calibri"/>
              </a:defRPr>
            </a:pPr>
            <a:r>
              <a:rPr dirty="0"/>
              <a:t>Risk Gauge: 0-100 with color zones (Green/Yellow/Orange/Red)</a:t>
            </a:r>
          </a:p>
          <a:p>
            <a:pPr>
              <a:spcBef>
                <a:spcPts val="100"/>
              </a:spcBef>
              <a:spcAft>
                <a:spcPts val="100"/>
              </a:spcAft>
              <a:defRPr sz="900" b="0">
                <a:solidFill>
                  <a:srgbClr val="333333"/>
                </a:solidFill>
                <a:latin typeface="Calibri"/>
              </a:defRPr>
            </a:pPr>
            <a:r>
              <a:rPr dirty="0"/>
              <a:t>Agent Pipeline Visualization: real-time step tracking (which agent is running now)</a:t>
            </a:r>
          </a:p>
          <a:p>
            <a:pPr>
              <a:spcBef>
                <a:spcPts val="100"/>
              </a:spcBef>
              <a:spcAft>
                <a:spcPts val="100"/>
              </a:spcAft>
              <a:defRPr sz="900" b="0">
                <a:solidFill>
                  <a:srgbClr val="333333"/>
                </a:solidFill>
                <a:latin typeface="Calibri"/>
              </a:defRPr>
            </a:pPr>
            <a:r>
              <a:rPr dirty="0"/>
              <a:t>Dyatlov Panel: adversarial dialogue + override status + pressure meter</a:t>
            </a:r>
          </a:p>
          <a:p>
            <a:pPr>
              <a:spcBef>
                <a:spcPts val="100"/>
              </a:spcBef>
              <a:spcAft>
                <a:spcPts val="100"/>
              </a:spcAft>
              <a:defRPr sz="900" b="0">
                <a:solidFill>
                  <a:srgbClr val="333333"/>
                </a:solidFill>
                <a:latin typeface="Calibri"/>
              </a:defRPr>
            </a:pPr>
            <a:r>
              <a:rPr dirty="0"/>
              <a:t>Decision Log: chronological list with source attribution (rule/LLM), reasoning, timestamps</a:t>
            </a:r>
          </a:p>
          <a:p>
            <a:pPr>
              <a:spcBef>
                <a:spcPts val="100"/>
              </a:spcBef>
              <a:spcAft>
                <a:spcPts val="100"/>
              </a:spcAft>
              <a:defRPr sz="900" b="0">
                <a:solidFill>
                  <a:srgbClr val="333333"/>
                </a:solidFill>
                <a:latin typeface="Calibri"/>
              </a:defRPr>
            </a:pPr>
            <a:r>
              <a:rPr dirty="0"/>
              <a:t>Dual Timeline Comparison: historical vs. AI-intervened side-by-side</a:t>
            </a:r>
          </a:p>
        </p:txBody>
      </p:sp>
      <p:sp>
        <p:nvSpPr>
          <p:cNvPr id="6" name="Rectangle 5"/>
          <p:cNvSpPr/>
          <p:nvPr/>
        </p:nvSpPr>
        <p:spPr>
          <a:xfrm>
            <a:off x="6080760" y="1254252"/>
            <a:ext cx="54864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Performance Specs</a:t>
            </a:r>
          </a:p>
        </p:txBody>
      </p:sp>
      <p:sp>
        <p:nvSpPr>
          <p:cNvPr id="7" name="Rounded Rectangle 6"/>
          <p:cNvSpPr/>
          <p:nvPr/>
        </p:nvSpPr>
        <p:spPr>
          <a:xfrm>
            <a:off x="6080760" y="1528572"/>
            <a:ext cx="548640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WebSocket streaming at 15 FPS (batched ticks at high speeds)</a:t>
            </a:r>
          </a:p>
          <a:p>
            <a:pPr>
              <a:spcBef>
                <a:spcPts val="100"/>
              </a:spcBef>
              <a:spcAft>
                <a:spcPts val="100"/>
              </a:spcAft>
              <a:defRPr sz="900" b="0">
                <a:solidFill>
                  <a:srgbClr val="333333"/>
                </a:solidFill>
                <a:latin typeface="Calibri"/>
              </a:defRPr>
            </a:pPr>
            <a:r>
              <a:rPr dirty="0"/>
              <a:t>Chart throttling: 5 FPS render, 5 FPS DOM updates, 2 FPS quotes</a:t>
            </a:r>
          </a:p>
          <a:p>
            <a:pPr>
              <a:spcBef>
                <a:spcPts val="100"/>
              </a:spcBef>
              <a:spcAft>
                <a:spcPts val="100"/>
              </a:spcAft>
              <a:defRPr sz="900" b="0">
                <a:solidFill>
                  <a:srgbClr val="333333"/>
                </a:solidFill>
                <a:latin typeface="Calibri"/>
              </a:defRPr>
            </a:pPr>
            <a:r>
              <a:rPr dirty="0"/>
              <a:t>Controls: Play/Pause/Reset, Speed 1-2500×, Intervention Toggle, Timeline Scrubber</a:t>
            </a:r>
          </a:p>
          <a:p>
            <a:pPr>
              <a:spcBef>
                <a:spcPts val="100"/>
              </a:spcBef>
              <a:spcAft>
                <a:spcPts val="100"/>
              </a:spcAft>
              <a:defRPr sz="900" b="0">
                <a:solidFill>
                  <a:srgbClr val="333333"/>
                </a:solidFill>
                <a:latin typeface="Calibri"/>
              </a:defRPr>
            </a:pPr>
            <a:r>
              <a:rPr dirty="0"/>
              <a:t>REST API: POST /</a:t>
            </a:r>
            <a:r>
              <a:rPr dirty="0" err="1"/>
              <a:t>api</a:t>
            </a:r>
            <a:r>
              <a:rPr dirty="0"/>
              <a:t>/control </a:t>
            </a:r>
            <a:r>
              <a:rPr lang="en-US" dirty="0"/>
              <a:t>:</a:t>
            </a:r>
            <a:r>
              <a:rPr dirty="0"/>
              <a:t> play, pause, reset, step, </a:t>
            </a:r>
            <a:r>
              <a:rPr dirty="0" err="1"/>
              <a:t>set_speed</a:t>
            </a:r>
            <a:r>
              <a:rPr dirty="0"/>
              <a:t>, toggle, seek</a:t>
            </a:r>
          </a:p>
          <a:p>
            <a:pPr>
              <a:spcBef>
                <a:spcPts val="100"/>
              </a:spcBef>
              <a:spcAft>
                <a:spcPts val="100"/>
              </a:spcAft>
              <a:defRPr sz="900" b="0">
                <a:solidFill>
                  <a:srgbClr val="333333"/>
                </a:solidFill>
                <a:latin typeface="Calibri"/>
              </a:defRPr>
            </a:pPr>
            <a:r>
              <a:rPr dirty="0"/>
              <a:t>Terminal dashboard (Rich TUI): 2Hz refresh, works over SSH</a:t>
            </a:r>
          </a:p>
        </p:txBody>
      </p:sp>
      <p:sp>
        <p:nvSpPr>
          <p:cNvPr id="8" name="TextBox 7"/>
          <p:cNvSpPr txBox="1"/>
          <p:nvPr/>
        </p:nvSpPr>
        <p:spPr>
          <a:xfrm>
            <a:off x="457200" y="3403092"/>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Operator Workflow Under Pressure — Step by Step:</a:t>
            </a:r>
          </a:p>
        </p:txBody>
      </p:sp>
      <p:graphicFrame>
        <p:nvGraphicFramePr>
          <p:cNvPr id="9" name="Table 8"/>
          <p:cNvGraphicFramePr>
            <a:graphicFrameLocks noGrp="1"/>
          </p:cNvGraphicFramePr>
          <p:nvPr/>
        </p:nvGraphicFramePr>
        <p:xfrm>
          <a:off x="457200" y="3631692"/>
          <a:ext cx="11277295" cy="1859280"/>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74320">
                <a:tc>
                  <a:txBody>
                    <a:bodyPr/>
                    <a:lstStyle/>
                    <a:p>
                      <a:pPr>
                        <a:defRPr sz="900" b="1">
                          <a:solidFill>
                            <a:srgbClr val="FFFFFF"/>
                          </a:solidFill>
                          <a:latin typeface="Calibri"/>
                        </a:defRPr>
                      </a:pPr>
                      <a:r>
                        <a:t>Step</a:t>
                      </a:r>
                    </a:p>
                  </a:txBody>
                  <a:tcPr>
                    <a:solidFill>
                      <a:srgbClr val="009B8D"/>
                    </a:solidFill>
                  </a:tcPr>
                </a:tc>
                <a:tc>
                  <a:txBody>
                    <a:bodyPr/>
                    <a:lstStyle/>
                    <a:p>
                      <a:pPr>
                        <a:defRPr sz="900" b="1">
                          <a:solidFill>
                            <a:srgbClr val="FFFFFF"/>
                          </a:solidFill>
                          <a:latin typeface="Calibri"/>
                        </a:defRPr>
                      </a:pPr>
                      <a:r>
                        <a:rPr dirty="0"/>
                        <a:t>Risk Level</a:t>
                      </a:r>
                    </a:p>
                  </a:txBody>
                  <a:tcPr>
                    <a:solidFill>
                      <a:srgbClr val="009B8D"/>
                    </a:solidFill>
                  </a:tcPr>
                </a:tc>
                <a:tc>
                  <a:txBody>
                    <a:bodyPr/>
                    <a:lstStyle/>
                    <a:p>
                      <a:pPr>
                        <a:defRPr sz="900" b="1">
                          <a:solidFill>
                            <a:srgbClr val="FFFFFF"/>
                          </a:solidFill>
                          <a:latin typeface="Calibri"/>
                        </a:defRPr>
                      </a:pPr>
                      <a:r>
                        <a:t>What Operator Sees</a:t>
                      </a:r>
                    </a:p>
                  </a:txBody>
                  <a:tcPr>
                    <a:solidFill>
                      <a:srgbClr val="009B8D"/>
                    </a:solidFill>
                  </a:tcPr>
                </a:tc>
                <a:tc>
                  <a:txBody>
                    <a:bodyPr/>
                    <a:lstStyle/>
                    <a:p>
                      <a:pPr>
                        <a:defRPr sz="900" b="1">
                          <a:solidFill>
                            <a:srgbClr val="FFFFFF"/>
                          </a:solidFill>
                          <a:latin typeface="Calibri"/>
                        </a:defRPr>
                      </a:pPr>
                      <a:r>
                        <a:t>What Operator Does</a:t>
                      </a:r>
                    </a:p>
                  </a:txBody>
                  <a:tcPr>
                    <a:solidFill>
                      <a:srgbClr val="009B8D"/>
                    </a:solidFill>
                  </a:tcPr>
                </a:tc>
                <a:tc>
                  <a:txBody>
                    <a:bodyPr/>
                    <a:lstStyle/>
                    <a:p>
                      <a:pPr>
                        <a:defRPr sz="900" b="1">
                          <a:solidFill>
                            <a:srgbClr val="FFFFFF"/>
                          </a:solidFill>
                          <a:latin typeface="Calibri"/>
                        </a:defRPr>
                      </a:pPr>
                      <a:r>
                        <a:t>AI Behavior</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1. Normal</a:t>
                      </a:r>
                      <a:br/>
                      <a:r>
                        <a:t>Operations</a:t>
                      </a:r>
                    </a:p>
                  </a:txBody>
                  <a:tcPr>
                    <a:solidFill>
                      <a:srgbClr val="FFFFFF"/>
                    </a:solidFill>
                  </a:tcPr>
                </a:tc>
                <a:tc>
                  <a:txBody>
                    <a:bodyPr/>
                    <a:lstStyle/>
                    <a:p>
                      <a:pPr>
                        <a:defRPr sz="800">
                          <a:solidFill>
                            <a:srgbClr val="333333"/>
                          </a:solidFill>
                          <a:latin typeface="Calibri"/>
                        </a:defRPr>
                      </a:pPr>
                      <a:r>
                        <a:t>0-30</a:t>
                      </a:r>
                      <a:br/>
                      <a:r>
                        <a:t>(GREEN)</a:t>
                      </a:r>
                    </a:p>
                  </a:txBody>
                  <a:tcPr>
                    <a:solidFill>
                      <a:srgbClr val="FFFFFF"/>
                    </a:solidFill>
                  </a:tcPr>
                </a:tc>
                <a:tc>
                  <a:txBody>
                    <a:bodyPr/>
                    <a:lstStyle/>
                    <a:p>
                      <a:pPr>
                        <a:defRPr sz="800">
                          <a:solidFill>
                            <a:srgbClr val="333333"/>
                          </a:solidFill>
                          <a:latin typeface="Calibri"/>
                        </a:defRPr>
                      </a:pPr>
                      <a:r>
                        <a:t>Green indicators, normal telemetry charts.</a:t>
                      </a:r>
                      <a:br/>
                      <a:r>
                        <a:t>All parameters within nominal range.</a:t>
                      </a:r>
                    </a:p>
                  </a:txBody>
                  <a:tcPr>
                    <a:solidFill>
                      <a:srgbClr val="FFFFFF"/>
                    </a:solidFill>
                  </a:tcPr>
                </a:tc>
                <a:tc>
                  <a:txBody>
                    <a:bodyPr/>
                    <a:lstStyle/>
                    <a:p>
                      <a:pPr>
                        <a:defRPr sz="800">
                          <a:solidFill>
                            <a:srgbClr val="333333"/>
                          </a:solidFill>
                          <a:latin typeface="Calibri"/>
                        </a:defRPr>
                      </a:pPr>
                      <a:r>
                        <a:t>Passive monitoring.</a:t>
                      </a:r>
                      <a:br/>
                      <a:r>
                        <a:t>No action required.</a:t>
                      </a:r>
                    </a:p>
                  </a:txBody>
                  <a:tcPr>
                    <a:solidFill>
                      <a:srgbClr val="FFFFFF"/>
                    </a:solidFill>
                  </a:tcPr>
                </a:tc>
                <a:tc>
                  <a:txBody>
                    <a:bodyPr/>
                    <a:lstStyle/>
                    <a:p>
                      <a:pPr>
                        <a:defRPr sz="800">
                          <a:solidFill>
                            <a:srgbClr val="333333"/>
                          </a:solidFill>
                          <a:latin typeface="Calibri"/>
                        </a:defRPr>
                      </a:pPr>
                      <a:r>
                        <a:t>Continuous monitoring.</a:t>
                      </a:r>
                      <a:br/>
                      <a:r>
                        <a:t>No LLM calls.</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2. Alert</a:t>
                      </a:r>
                      <a:br/>
                      <a:r>
                        <a:t>Raised</a:t>
                      </a:r>
                    </a:p>
                  </a:txBody>
                  <a:tcPr>
                    <a:solidFill>
                      <a:srgbClr val="F2F2F2"/>
                    </a:solidFill>
                  </a:tcPr>
                </a:tc>
                <a:tc>
                  <a:txBody>
                    <a:bodyPr/>
                    <a:lstStyle/>
                    <a:p>
                      <a:pPr>
                        <a:defRPr sz="800">
                          <a:solidFill>
                            <a:srgbClr val="333333"/>
                          </a:solidFill>
                          <a:latin typeface="Calibri"/>
                        </a:defRPr>
                      </a:pPr>
                      <a:r>
                        <a:t>30-60</a:t>
                      </a:r>
                      <a:br/>
                      <a:r>
                        <a:t>(YELLOW)</a:t>
                      </a:r>
                    </a:p>
                  </a:txBody>
                  <a:tcPr>
                    <a:solidFill>
                      <a:srgbClr val="F2F2F2"/>
                    </a:solidFill>
                  </a:tcPr>
                </a:tc>
                <a:tc>
                  <a:txBody>
                    <a:bodyPr/>
                    <a:lstStyle/>
                    <a:p>
                      <a:pPr>
                        <a:defRPr sz="800">
                          <a:solidFill>
                            <a:srgbClr val="333333"/>
                          </a:solidFill>
                          <a:latin typeface="Calibri"/>
                        </a:defRPr>
                      </a:pPr>
                      <a:r>
                        <a:t>Yellow alert banner appears.</a:t>
                      </a:r>
                      <a:br/>
                      <a:r>
                        <a:t>AI recommendation shown with reasoning.</a:t>
                      </a:r>
                    </a:p>
                  </a:txBody>
                  <a:tcPr>
                    <a:solidFill>
                      <a:srgbClr val="F2F2F2"/>
                    </a:solidFill>
                  </a:tcPr>
                </a:tc>
                <a:tc>
                  <a:txBody>
                    <a:bodyPr/>
                    <a:lstStyle/>
                    <a:p>
                      <a:pPr>
                        <a:defRPr sz="800">
                          <a:solidFill>
                            <a:srgbClr val="333333"/>
                          </a:solidFill>
                          <a:latin typeface="Calibri"/>
                        </a:defRPr>
                      </a:pPr>
                      <a:r>
                        <a:t>Reviews recommendation.</a:t>
                      </a:r>
                      <a:br/>
                      <a:r>
                        <a:t>Acknowledges alert.</a:t>
                      </a:r>
                    </a:p>
                  </a:txBody>
                  <a:tcPr>
                    <a:solidFill>
                      <a:srgbClr val="F2F2F2"/>
                    </a:solidFill>
                  </a:tcPr>
                </a:tc>
                <a:tc>
                  <a:txBody>
                    <a:bodyPr/>
                    <a:lstStyle/>
                    <a:p>
                      <a:pPr>
                        <a:defRPr sz="800">
                          <a:solidFill>
                            <a:srgbClr val="333333"/>
                          </a:solidFill>
                          <a:latin typeface="Calibri"/>
                        </a:defRPr>
                      </a:pPr>
                      <a:r>
                        <a:t>AI suggests action.</a:t>
                      </a:r>
                      <a:br/>
                      <a:r>
                        <a:t>LLM reasoning displayed.</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3. Escalation</a:t>
                      </a:r>
                      <a:br/>
                      <a:r>
                        <a:t>Required</a:t>
                      </a:r>
                    </a:p>
                  </a:txBody>
                  <a:tcPr>
                    <a:solidFill>
                      <a:srgbClr val="FFFFFF"/>
                    </a:solidFill>
                  </a:tcPr>
                </a:tc>
                <a:tc>
                  <a:txBody>
                    <a:bodyPr/>
                    <a:lstStyle/>
                    <a:p>
                      <a:pPr>
                        <a:defRPr sz="800">
                          <a:solidFill>
                            <a:srgbClr val="333333"/>
                          </a:solidFill>
                          <a:latin typeface="Calibri"/>
                        </a:defRPr>
                      </a:pPr>
                      <a:r>
                        <a:t>60-85</a:t>
                      </a:r>
                      <a:br/>
                      <a:r>
                        <a:t>(ORANGE)</a:t>
                      </a:r>
                    </a:p>
                  </a:txBody>
                  <a:tcPr>
                    <a:solidFill>
                      <a:srgbClr val="FFFFFF"/>
                    </a:solidFill>
                  </a:tcPr>
                </a:tc>
                <a:tc>
                  <a:txBody>
                    <a:bodyPr/>
                    <a:lstStyle/>
                    <a:p>
                      <a:pPr>
                        <a:defRPr sz="800">
                          <a:solidFill>
                            <a:srgbClr val="333333"/>
                          </a:solidFill>
                          <a:latin typeface="Calibri"/>
                        </a:defRPr>
                      </a:pPr>
                      <a:r>
                        <a:t>Orange modal with full reasoning panel:</a:t>
                      </a:r>
                      <a:br/>
                      <a:r>
                        <a:t>primary_concern + compound_risks + reasoning.</a:t>
                      </a:r>
                    </a:p>
                  </a:txBody>
                  <a:tcPr>
                    <a:solidFill>
                      <a:srgbClr val="FFFFFF"/>
                    </a:solidFill>
                  </a:tcPr>
                </a:tc>
                <a:tc>
                  <a:txBody>
                    <a:bodyPr/>
                    <a:lstStyle/>
                    <a:p>
                      <a:pPr>
                        <a:defRPr sz="800">
                          <a:solidFill>
                            <a:srgbClr val="333333"/>
                          </a:solidFill>
                          <a:latin typeface="Calibri"/>
                        </a:defRPr>
                      </a:pPr>
                      <a:r>
                        <a:t>Must confirm or reject</a:t>
                      </a:r>
                      <a:br/>
                      <a:r>
                        <a:t>within 3 ticks (~3 min).</a:t>
                      </a:r>
                      <a:br/>
                      <a:r>
                        <a:t>Can request more info.</a:t>
                      </a:r>
                    </a:p>
                  </a:txBody>
                  <a:tcPr>
                    <a:solidFill>
                      <a:srgbClr val="FFFFFF"/>
                    </a:solidFill>
                  </a:tcPr>
                </a:tc>
                <a:tc>
                  <a:txBody>
                    <a:bodyPr/>
                    <a:lstStyle/>
                    <a:p>
                      <a:pPr>
                        <a:defRPr sz="800">
                          <a:solidFill>
                            <a:srgbClr val="333333"/>
                          </a:solidFill>
                          <a:latin typeface="Calibri"/>
                        </a:defRPr>
                      </a:pPr>
                      <a:r>
                        <a:t>AI recommends action.</a:t>
                      </a:r>
                      <a:br/>
                      <a:r>
                        <a:t>Awaits operator confirmation.</a:t>
                      </a:r>
                      <a:br/>
                      <a:r>
                        <a:t>Dyatlov pressure visible.</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rPr dirty="0"/>
                        <a:t>4. Emergency</a:t>
                      </a:r>
                      <a:br>
                        <a:rPr dirty="0"/>
                      </a:br>
                      <a:r>
                        <a:rPr dirty="0"/>
                        <a:t>Auto-Execute</a:t>
                      </a:r>
                    </a:p>
                  </a:txBody>
                  <a:tcPr>
                    <a:solidFill>
                      <a:srgbClr val="F2F2F2"/>
                    </a:solidFill>
                  </a:tcPr>
                </a:tc>
                <a:tc>
                  <a:txBody>
                    <a:bodyPr/>
                    <a:lstStyle/>
                    <a:p>
                      <a:pPr>
                        <a:defRPr sz="800">
                          <a:solidFill>
                            <a:srgbClr val="333333"/>
                          </a:solidFill>
                          <a:latin typeface="Calibri"/>
                        </a:defRPr>
                      </a:pPr>
                      <a:r>
                        <a:rPr dirty="0"/>
                        <a:t>&gt;85</a:t>
                      </a:r>
                      <a:br>
                        <a:rPr dirty="0"/>
                      </a:br>
                      <a:r>
                        <a:rPr dirty="0"/>
                        <a:t>(RED)</a:t>
                      </a:r>
                    </a:p>
                  </a:txBody>
                  <a:tcPr>
                    <a:solidFill>
                      <a:srgbClr val="F2F2F2"/>
                    </a:solidFill>
                  </a:tcPr>
                </a:tc>
                <a:tc>
                  <a:txBody>
                    <a:bodyPr/>
                    <a:lstStyle/>
                    <a:p>
                      <a:pPr>
                        <a:defRPr sz="800">
                          <a:solidFill>
                            <a:srgbClr val="333333"/>
                          </a:solidFill>
                          <a:latin typeface="Calibri"/>
                        </a:defRPr>
                      </a:pPr>
                      <a:r>
                        <a:t>RED flash. SCRAM fires immediately.</a:t>
                      </a:r>
                      <a:br/>
                      <a:r>
                        <a:t>Full reasoning displayed post-action.</a:t>
                      </a:r>
                    </a:p>
                  </a:txBody>
                  <a:tcPr>
                    <a:solidFill>
                      <a:srgbClr val="F2F2F2"/>
                    </a:solidFill>
                  </a:tcPr>
                </a:tc>
                <a:tc>
                  <a:txBody>
                    <a:bodyPr/>
                    <a:lstStyle/>
                    <a:p>
                      <a:pPr>
                        <a:defRPr sz="800">
                          <a:solidFill>
                            <a:srgbClr val="333333"/>
                          </a:solidFill>
                          <a:latin typeface="Calibri"/>
                        </a:defRPr>
                      </a:pPr>
                      <a:r>
                        <a:t>OBSERVE ONLY.</a:t>
                      </a:r>
                      <a:br/>
                      <a:r>
                        <a:t>Cannot override SCRAM.</a:t>
                      </a:r>
                      <a:br/>
                      <a:r>
                        <a:t>Review audit trail.</a:t>
                      </a:r>
                    </a:p>
                  </a:txBody>
                  <a:tcPr>
                    <a:solidFill>
                      <a:srgbClr val="F2F2F2"/>
                    </a:solidFill>
                  </a:tcPr>
                </a:tc>
                <a:tc>
                  <a:txBody>
                    <a:bodyPr/>
                    <a:lstStyle/>
                    <a:p>
                      <a:pPr>
                        <a:defRPr sz="800">
                          <a:solidFill>
                            <a:srgbClr val="333333"/>
                          </a:solidFill>
                          <a:latin typeface="Calibri"/>
                        </a:defRPr>
                      </a:pPr>
                      <a:r>
                        <a:rPr dirty="0"/>
                        <a:t>Auto-execute SCRAM.</a:t>
                      </a:r>
                      <a:br>
                        <a:rPr dirty="0"/>
                      </a:br>
                      <a:r>
                        <a:rPr dirty="0"/>
                        <a:t>Non-negotiable.</a:t>
                      </a:r>
                      <a:br>
                        <a:rPr dirty="0"/>
                      </a:br>
                      <a:r>
                        <a:rPr dirty="0"/>
                        <a:t>Logged as "rule" source.</a:t>
                      </a:r>
                    </a:p>
                  </a:txBody>
                  <a:tcPr>
                    <a:solidFill>
                      <a:srgbClr val="F2F2F2"/>
                    </a:solidFill>
                  </a:tcPr>
                </a:tc>
                <a:extLst>
                  <a:ext uri="{0D108BD9-81ED-4DB2-BD59-A6C34878D82A}">
                    <a16:rowId xmlns:a16="http://schemas.microsoft.com/office/drawing/2014/main" val="10004"/>
                  </a:ext>
                </a:extLst>
              </a:tr>
            </a:tbl>
          </a:graphicData>
        </a:graphic>
      </p:graphicFrame>
      <p:sp>
        <p:nvSpPr>
          <p:cNvPr id="10" name="Rounded Rectangle 9"/>
          <p:cNvSpPr/>
          <p:nvPr/>
        </p:nvSpPr>
        <p:spPr>
          <a:xfrm>
            <a:off x="442112" y="5603748"/>
            <a:ext cx="11277295" cy="50292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lIns="137160" rtlCol="0" anchor="ctr"/>
          <a:lstStyle/>
          <a:p>
            <a:pPr algn="l">
              <a:spcBef>
                <a:spcPts val="100"/>
              </a:spcBef>
              <a:spcAft>
                <a:spcPts val="100"/>
              </a:spcAft>
              <a:defRPr sz="900" b="1">
                <a:solidFill>
                  <a:srgbClr val="0C2340"/>
                </a:solidFill>
                <a:latin typeface="Calibri"/>
              </a:defRPr>
            </a:pPr>
            <a:r>
              <a:rPr dirty="0"/>
              <a:t>Building Operator Trust: Every AI recommendation includes structured reasoning (WHY). Decisions are source-attributed (rule vs LLM). Dyatlov's adversarial pressure is visible </a:t>
            </a:r>
            <a:r>
              <a:rPr lang="en-US" dirty="0"/>
              <a:t>:</a:t>
            </a:r>
            <a:r>
              <a:rPr dirty="0"/>
              <a:t> operators see the human bias being tested. The 4-level decision ladder gives humans control at 30-85 and reserves auto-execute only for unambiguous emergencies (&gt;85). This progressive autonomy builds trust through transparency.</a:t>
            </a:r>
          </a:p>
        </p:txBody>
      </p:sp>
      <p:sp>
        <p:nvSpPr>
          <p:cNvPr id="11" name="Rectangle 10"/>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3" name="TextBox 12"/>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15/20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Reliability, Performance &amp; Cost Optimisation</a:t>
            </a:r>
          </a:p>
          <a:p>
            <a:pPr algn="l">
              <a:spcBef>
                <a:spcPts val="100"/>
              </a:spcBef>
              <a:spcAft>
                <a:spcPts val="100"/>
              </a:spcAft>
              <a:defRPr sz="1300" b="0">
                <a:solidFill>
                  <a:srgbClr val="88BBDD"/>
                </a:solidFill>
                <a:latin typeface="Calibri"/>
              </a:defRPr>
            </a:pPr>
            <a:r>
              <a:t>Azure Well-Architected Framework: Reliability + Performance Efficiency + Cost Optimisation</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254252"/>
            <a:ext cx="36576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Service Level Objectives (SLOs)</a:t>
            </a:r>
          </a:p>
        </p:txBody>
      </p:sp>
      <p:sp>
        <p:nvSpPr>
          <p:cNvPr id="5" name="Rounded Rectangle 4"/>
          <p:cNvSpPr/>
          <p:nvPr/>
        </p:nvSpPr>
        <p:spPr>
          <a:xfrm>
            <a:off x="457200" y="1528572"/>
            <a:ext cx="3657600" cy="164592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Tick processing (deterministic): &lt; 100 </a:t>
            </a:r>
            <a:r>
              <a:rPr dirty="0" err="1"/>
              <a:t>ms</a:t>
            </a:r>
            <a:r>
              <a:rPr dirty="0"/>
              <a:t> per tick</a:t>
            </a:r>
          </a:p>
          <a:p>
            <a:pPr>
              <a:spcBef>
                <a:spcPts val="100"/>
              </a:spcBef>
              <a:spcAft>
                <a:spcPts val="100"/>
              </a:spcAft>
              <a:defRPr sz="900" b="0">
                <a:solidFill>
                  <a:srgbClr val="333333"/>
                </a:solidFill>
                <a:latin typeface="Calibri"/>
              </a:defRPr>
            </a:pPr>
            <a:r>
              <a:rPr dirty="0"/>
              <a:t>Tick processing (with LLM): &lt; 5.1 seconds (5s timeout + overhead)</a:t>
            </a:r>
          </a:p>
          <a:p>
            <a:pPr>
              <a:spcBef>
                <a:spcPts val="100"/>
              </a:spcBef>
              <a:spcAft>
                <a:spcPts val="100"/>
              </a:spcAft>
              <a:defRPr sz="900" b="0">
                <a:solidFill>
                  <a:srgbClr val="333333"/>
                </a:solidFill>
                <a:latin typeface="Calibri"/>
              </a:defRPr>
            </a:pPr>
            <a:r>
              <a:rPr dirty="0"/>
              <a:t>Dashboard refresh: 2 Hz (terminal), 15 FPS (web)</a:t>
            </a:r>
          </a:p>
          <a:p>
            <a:pPr>
              <a:spcBef>
                <a:spcPts val="100"/>
              </a:spcBef>
              <a:spcAft>
                <a:spcPts val="100"/>
              </a:spcAft>
              <a:defRPr sz="900" b="0">
                <a:solidFill>
                  <a:srgbClr val="333333"/>
                </a:solidFill>
                <a:latin typeface="Calibri"/>
              </a:defRPr>
            </a:pPr>
            <a:r>
              <a:rPr dirty="0"/>
              <a:t>LLM timeout: 5 seconds hard cap per call</a:t>
            </a:r>
          </a:p>
          <a:p>
            <a:pPr>
              <a:spcBef>
                <a:spcPts val="100"/>
              </a:spcBef>
              <a:spcAft>
                <a:spcPts val="100"/>
              </a:spcAft>
              <a:defRPr sz="900" b="0">
                <a:solidFill>
                  <a:srgbClr val="333333"/>
                </a:solidFill>
                <a:latin typeface="Calibri"/>
              </a:defRPr>
            </a:pPr>
            <a:r>
              <a:rPr dirty="0"/>
              <a:t>Uptime target: 99.9% (with deterministic fallback = 100% functional)</a:t>
            </a:r>
          </a:p>
          <a:p>
            <a:pPr>
              <a:spcBef>
                <a:spcPts val="100"/>
              </a:spcBef>
              <a:spcAft>
                <a:spcPts val="100"/>
              </a:spcAft>
              <a:defRPr sz="900" b="0">
                <a:solidFill>
                  <a:srgbClr val="333333"/>
                </a:solidFill>
                <a:latin typeface="Calibri"/>
              </a:defRPr>
            </a:pPr>
            <a:r>
              <a:rPr dirty="0"/>
              <a:t>Audit write: &lt; 50 </a:t>
            </a:r>
            <a:r>
              <a:rPr dirty="0" err="1"/>
              <a:t>ms</a:t>
            </a:r>
            <a:r>
              <a:rPr dirty="0"/>
              <a:t> to Cosmos DB (serverless)</a:t>
            </a:r>
          </a:p>
          <a:p>
            <a:pPr>
              <a:spcBef>
                <a:spcPts val="100"/>
              </a:spcBef>
              <a:spcAft>
                <a:spcPts val="100"/>
              </a:spcAft>
              <a:defRPr sz="900" b="0">
                <a:solidFill>
                  <a:srgbClr val="333333"/>
                </a:solidFill>
                <a:latin typeface="Calibri"/>
              </a:defRPr>
            </a:pPr>
            <a:r>
              <a:rPr dirty="0"/>
              <a:t>Alert latency: &lt; 1 tick from detection to operator notification</a:t>
            </a:r>
          </a:p>
        </p:txBody>
      </p:sp>
      <p:sp>
        <p:nvSpPr>
          <p:cNvPr id="6" name="Rectangle 5"/>
          <p:cNvSpPr/>
          <p:nvPr/>
        </p:nvSpPr>
        <p:spPr>
          <a:xfrm>
            <a:off x="4206240" y="1254252"/>
            <a:ext cx="3657600" cy="274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Graceful Degradation Chain</a:t>
            </a:r>
          </a:p>
        </p:txBody>
      </p:sp>
      <p:sp>
        <p:nvSpPr>
          <p:cNvPr id="7" name="Rounded Rectangle 6"/>
          <p:cNvSpPr/>
          <p:nvPr/>
        </p:nvSpPr>
        <p:spPr>
          <a:xfrm>
            <a:off x="4206240" y="1528572"/>
            <a:ext cx="3657600" cy="1645920"/>
          </a:xfrm>
          <a:prstGeom prst="roundRect">
            <a:avLst/>
          </a:prstGeom>
          <a:solidFill>
            <a:srgbClr val="FDE8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Level 1: Full AI </a:t>
            </a:r>
            <a:r>
              <a:rPr lang="en-US" dirty="0"/>
              <a:t>-</a:t>
            </a:r>
            <a:r>
              <a:rPr dirty="0"/>
              <a:t> 70% LLM + 30% rules (normal operation)</a:t>
            </a:r>
          </a:p>
          <a:p>
            <a:pPr>
              <a:spcBef>
                <a:spcPts val="100"/>
              </a:spcBef>
              <a:spcAft>
                <a:spcPts val="100"/>
              </a:spcAft>
              <a:defRPr sz="900" b="0">
                <a:solidFill>
                  <a:srgbClr val="333333"/>
                </a:solidFill>
                <a:latin typeface="Calibri"/>
              </a:defRPr>
            </a:pPr>
            <a:r>
              <a:rPr dirty="0"/>
              <a:t>Level 2: LLM timeout </a:t>
            </a:r>
            <a:r>
              <a:rPr lang="en-US" dirty="0"/>
              <a:t>- </a:t>
            </a:r>
            <a:r>
              <a:rPr dirty="0"/>
              <a:t>automatic fallback to 100% rule-based scoring</a:t>
            </a:r>
          </a:p>
          <a:p>
            <a:pPr>
              <a:spcBef>
                <a:spcPts val="100"/>
              </a:spcBef>
              <a:spcAft>
                <a:spcPts val="100"/>
              </a:spcAft>
              <a:defRPr sz="900" b="0">
                <a:solidFill>
                  <a:srgbClr val="333333"/>
                </a:solidFill>
                <a:latin typeface="Calibri"/>
              </a:defRPr>
            </a:pPr>
            <a:r>
              <a:rPr dirty="0"/>
              <a:t>Level 3: LLM unavailable </a:t>
            </a:r>
            <a:r>
              <a:rPr lang="en-US" dirty="0"/>
              <a:t>-</a:t>
            </a:r>
            <a:r>
              <a:rPr dirty="0"/>
              <a:t> full pipeline runs on deterministic logic</a:t>
            </a:r>
          </a:p>
          <a:p>
            <a:pPr>
              <a:spcBef>
                <a:spcPts val="100"/>
              </a:spcBef>
              <a:spcAft>
                <a:spcPts val="100"/>
              </a:spcAft>
              <a:defRPr sz="900" b="0">
                <a:solidFill>
                  <a:srgbClr val="333333"/>
                </a:solidFill>
                <a:latin typeface="Calibri"/>
              </a:defRPr>
            </a:pPr>
            <a:r>
              <a:rPr dirty="0"/>
              <a:t>Level 4: No API key </a:t>
            </a:r>
            <a:r>
              <a:rPr lang="en-US" dirty="0"/>
              <a:t>-</a:t>
            </a:r>
            <a:r>
              <a:rPr dirty="0"/>
              <a:t> system works identically with rules only</a:t>
            </a:r>
          </a:p>
          <a:p>
            <a:pPr>
              <a:spcBef>
                <a:spcPts val="100"/>
              </a:spcBef>
              <a:spcAft>
                <a:spcPts val="100"/>
              </a:spcAft>
              <a:defRPr sz="900" b="0">
                <a:solidFill>
                  <a:srgbClr val="333333"/>
                </a:solidFill>
                <a:latin typeface="Calibri"/>
              </a:defRPr>
            </a:pPr>
            <a:r>
              <a:rPr dirty="0"/>
              <a:t>Level 5: Network failure </a:t>
            </a:r>
            <a:r>
              <a:rPr lang="en-US" dirty="0"/>
              <a:t>-</a:t>
            </a:r>
            <a:r>
              <a:rPr dirty="0"/>
              <a:t> local simulation continues with cached state</a:t>
            </a:r>
          </a:p>
          <a:p>
            <a:pPr>
              <a:spcBef>
                <a:spcPts val="100"/>
              </a:spcBef>
              <a:spcAft>
                <a:spcPts val="100"/>
              </a:spcAft>
              <a:defRPr sz="900" b="0">
                <a:solidFill>
                  <a:srgbClr val="333333"/>
                </a:solidFill>
                <a:latin typeface="Calibri"/>
              </a:defRPr>
            </a:pPr>
            <a:r>
              <a:rPr dirty="0"/>
              <a:t>INVARIANT: Every degradation step increases safety, never decreases it</a:t>
            </a:r>
          </a:p>
        </p:txBody>
      </p:sp>
      <p:sp>
        <p:nvSpPr>
          <p:cNvPr id="8" name="Rectangle 7"/>
          <p:cNvSpPr/>
          <p:nvPr/>
        </p:nvSpPr>
        <p:spPr>
          <a:xfrm>
            <a:off x="7955280" y="1254252"/>
            <a:ext cx="36576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Resilience Testing</a:t>
            </a:r>
          </a:p>
        </p:txBody>
      </p:sp>
      <p:sp>
        <p:nvSpPr>
          <p:cNvPr id="9" name="Rounded Rectangle 8"/>
          <p:cNvSpPr/>
          <p:nvPr/>
        </p:nvSpPr>
        <p:spPr>
          <a:xfrm>
            <a:off x="7955280" y="1528572"/>
            <a:ext cx="3657600" cy="1645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--smoke-test: 5-tick pipeline validation (all agents, full pipeline)</a:t>
            </a:r>
          </a:p>
          <a:p>
            <a:pPr>
              <a:spcBef>
                <a:spcPts val="100"/>
              </a:spcBef>
              <a:spcAft>
                <a:spcPts val="100"/>
              </a:spcAft>
              <a:defRPr sz="900" b="0">
                <a:solidFill>
                  <a:srgbClr val="333333"/>
                </a:solidFill>
                <a:latin typeface="Calibri"/>
              </a:defRPr>
            </a:pPr>
            <a:r>
              <a:rPr dirty="0"/>
              <a:t>Full regression: SCRAM timing must occur within ±2 ticks of baseline</a:t>
            </a:r>
          </a:p>
          <a:p>
            <a:pPr>
              <a:spcBef>
                <a:spcPts val="100"/>
              </a:spcBef>
              <a:spcAft>
                <a:spcPts val="100"/>
              </a:spcAft>
              <a:defRPr sz="900" b="0">
                <a:solidFill>
                  <a:srgbClr val="333333"/>
                </a:solidFill>
                <a:latin typeface="Calibri"/>
              </a:defRPr>
            </a:pPr>
            <a:r>
              <a:rPr dirty="0"/>
              <a:t>No-API-key mode: complete simulation, pure deterministic rules</a:t>
            </a:r>
          </a:p>
          <a:p>
            <a:pPr>
              <a:spcBef>
                <a:spcPts val="100"/>
              </a:spcBef>
              <a:spcAft>
                <a:spcPts val="100"/>
              </a:spcAft>
              <a:defRPr sz="900" b="0">
                <a:solidFill>
                  <a:srgbClr val="333333"/>
                </a:solidFill>
                <a:latin typeface="Calibri"/>
              </a:defRPr>
            </a:pPr>
            <a:r>
              <a:rPr dirty="0"/>
              <a:t>LLM failure injection: verify fallback activates correctly</a:t>
            </a:r>
          </a:p>
          <a:p>
            <a:pPr>
              <a:spcBef>
                <a:spcPts val="100"/>
              </a:spcBef>
              <a:spcAft>
                <a:spcPts val="100"/>
              </a:spcAft>
              <a:defRPr sz="900" b="0">
                <a:solidFill>
                  <a:srgbClr val="333333"/>
                </a:solidFill>
                <a:latin typeface="Calibri"/>
              </a:defRPr>
            </a:pPr>
            <a:r>
              <a:rPr dirty="0"/>
              <a:t>Dyatlov edge cases: maximum pressure at SCRAM boundary</a:t>
            </a:r>
          </a:p>
          <a:p>
            <a:pPr>
              <a:spcBef>
                <a:spcPts val="100"/>
              </a:spcBef>
              <a:spcAft>
                <a:spcPts val="100"/>
              </a:spcAft>
              <a:defRPr sz="900" b="0">
                <a:solidFill>
                  <a:srgbClr val="333333"/>
                </a:solidFill>
                <a:latin typeface="Calibri"/>
              </a:defRPr>
            </a:pPr>
            <a:r>
              <a:rPr dirty="0"/>
              <a:t>Timeline integrity: verify 20 events play in correct sequence</a:t>
            </a:r>
          </a:p>
        </p:txBody>
      </p:sp>
      <p:sp>
        <p:nvSpPr>
          <p:cNvPr id="10" name="TextBox 9"/>
          <p:cNvSpPr txBox="1"/>
          <p:nvPr/>
        </p:nvSpPr>
        <p:spPr>
          <a:xfrm>
            <a:off x="457200" y="3311652"/>
            <a:ext cx="11277295" cy="228600"/>
          </a:xfrm>
          <a:prstGeom prst="rect">
            <a:avLst/>
          </a:prstGeom>
          <a:noFill/>
        </p:spPr>
        <p:txBody>
          <a:bodyPr wrap="square">
            <a:spAutoFit/>
          </a:bodyPr>
          <a:lstStyle/>
          <a:p>
            <a:pPr algn="l">
              <a:spcBef>
                <a:spcPts val="100"/>
              </a:spcBef>
              <a:spcAft>
                <a:spcPts val="100"/>
              </a:spcAft>
              <a:defRPr sz="1200" b="1">
                <a:solidFill>
                  <a:srgbClr val="0C2340"/>
                </a:solidFill>
                <a:latin typeface="Calibri"/>
              </a:defRPr>
            </a:pPr>
            <a:r>
              <a:t>Cost Optimisation Strategy — 20× Reduction:</a:t>
            </a:r>
          </a:p>
        </p:txBody>
      </p:sp>
      <p:graphicFrame>
        <p:nvGraphicFramePr>
          <p:cNvPr id="11" name="Table 10"/>
          <p:cNvGraphicFramePr>
            <a:graphicFrameLocks noGrp="1"/>
          </p:cNvGraphicFramePr>
          <p:nvPr/>
        </p:nvGraphicFramePr>
        <p:xfrm>
          <a:off x="457200" y="3540252"/>
          <a:ext cx="11277295" cy="1950720"/>
        </p:xfrm>
        <a:graphic>
          <a:graphicData uri="http://schemas.openxmlformats.org/drawingml/2006/table">
            <a:tbl>
              <a:tblPr firstRow="1" bandRow="1">
                <a:tableStyleId>{5C22544A-7EE6-4342-B048-85BDC9FD1C3A}</a:tableStyleId>
              </a:tblPr>
              <a:tblGrid>
                <a:gridCol w="3759098">
                  <a:extLst>
                    <a:ext uri="{9D8B030D-6E8A-4147-A177-3AD203B41FA5}">
                      <a16:colId xmlns:a16="http://schemas.microsoft.com/office/drawing/2014/main" val="20000"/>
                    </a:ext>
                  </a:extLst>
                </a:gridCol>
                <a:gridCol w="3759098">
                  <a:extLst>
                    <a:ext uri="{9D8B030D-6E8A-4147-A177-3AD203B41FA5}">
                      <a16:colId xmlns:a16="http://schemas.microsoft.com/office/drawing/2014/main" val="20001"/>
                    </a:ext>
                  </a:extLst>
                </a:gridCol>
                <a:gridCol w="3759099">
                  <a:extLst>
                    <a:ext uri="{9D8B030D-6E8A-4147-A177-3AD203B41FA5}">
                      <a16:colId xmlns:a16="http://schemas.microsoft.com/office/drawing/2014/main" val="20002"/>
                    </a:ext>
                  </a:extLst>
                </a:gridCol>
              </a:tblGrid>
              <a:tr h="274320">
                <a:tc>
                  <a:txBody>
                    <a:bodyPr/>
                    <a:lstStyle/>
                    <a:p>
                      <a:pPr>
                        <a:defRPr sz="900" b="1">
                          <a:solidFill>
                            <a:srgbClr val="FFFFFF"/>
                          </a:solidFill>
                          <a:latin typeface="Calibri"/>
                        </a:defRPr>
                      </a:pPr>
                      <a:r>
                        <a:t>Optimisation</a:t>
                      </a:r>
                    </a:p>
                  </a:txBody>
                  <a:tcPr>
                    <a:solidFill>
                      <a:srgbClr val="009B8D"/>
                    </a:solidFill>
                  </a:tcPr>
                </a:tc>
                <a:tc>
                  <a:txBody>
                    <a:bodyPr/>
                    <a:lstStyle/>
                    <a:p>
                      <a:pPr>
                        <a:defRPr sz="900" b="1">
                          <a:solidFill>
                            <a:srgbClr val="FFFFFF"/>
                          </a:solidFill>
                          <a:latin typeface="Calibri"/>
                        </a:defRPr>
                      </a:pPr>
                      <a:r>
                        <a:t>Mechanism</a:t>
                      </a:r>
                    </a:p>
                  </a:txBody>
                  <a:tcPr>
                    <a:solidFill>
                      <a:srgbClr val="009B8D"/>
                    </a:solidFill>
                  </a:tcPr>
                </a:tc>
                <a:tc>
                  <a:txBody>
                    <a:bodyPr/>
                    <a:lstStyle/>
                    <a:p>
                      <a:pPr>
                        <a:defRPr sz="900" b="1">
                          <a:solidFill>
                            <a:srgbClr val="FFFFFF"/>
                          </a:solidFill>
                          <a:latin typeface="Calibri"/>
                        </a:defRPr>
                      </a:pPr>
                      <a:r>
                        <a:t>Impact</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Decision-points-only LLM</a:t>
                      </a:r>
                    </a:p>
                  </a:txBody>
                  <a:tcPr>
                    <a:solidFill>
                      <a:srgbClr val="FFFFFF"/>
                    </a:solidFill>
                  </a:tcPr>
                </a:tc>
                <a:tc>
                  <a:txBody>
                    <a:bodyPr/>
                    <a:lstStyle/>
                    <a:p>
                      <a:pPr>
                        <a:defRPr sz="800">
                          <a:solidFill>
                            <a:srgbClr val="333333"/>
                          </a:solidFill>
                          <a:latin typeface="Calibri"/>
                        </a:defRPr>
                      </a:pPr>
                      <a:r>
                        <a:t>LLM called only when: event has tags (real event), event has description,</a:t>
                      </a:r>
                      <a:br/>
                      <a:r>
                        <a:t>or risk score crosses threshold boundary (30, 60, 85)</a:t>
                      </a:r>
                    </a:p>
                  </a:txBody>
                  <a:tcPr>
                    <a:solidFill>
                      <a:srgbClr val="FFFFFF"/>
                    </a:solidFill>
                  </a:tcPr>
                </a:tc>
                <a:tc>
                  <a:txBody>
                    <a:bodyPr/>
                    <a:lstStyle/>
                    <a:p>
                      <a:pPr>
                        <a:defRPr sz="800">
                          <a:solidFill>
                            <a:srgbClr val="333333"/>
                          </a:solidFill>
                          <a:latin typeface="Calibri"/>
                        </a:defRPr>
                      </a:pPr>
                      <a:r>
                        <a:t>~5% of ticks trigger LLM → ~15-20 calls/run</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3 of 6 agents deterministic</a:t>
                      </a:r>
                    </a:p>
                  </a:txBody>
                  <a:tcPr>
                    <a:solidFill>
                      <a:srgbClr val="F2F2F2"/>
                    </a:solidFill>
                  </a:tcPr>
                </a:tc>
                <a:tc>
                  <a:txBody>
                    <a:bodyPr/>
                    <a:lstStyle/>
                    <a:p>
                      <a:pPr>
                        <a:defRPr sz="800">
                          <a:solidFill>
                            <a:srgbClr val="333333"/>
                          </a:solidFill>
                          <a:latin typeface="Calibri"/>
                        </a:defRPr>
                      </a:pPr>
                      <a:r>
                        <a:t>SensorAgent, EvacuationAgent, CommsAgent are 100% rule-based.</a:t>
                      </a:r>
                      <a:br/>
                      <a:r>
                        <a:t>Zero API cost for these agents.</a:t>
                      </a:r>
                    </a:p>
                  </a:txBody>
                  <a:tcPr>
                    <a:solidFill>
                      <a:srgbClr val="F2F2F2"/>
                    </a:solidFill>
                  </a:tcPr>
                </a:tc>
                <a:tc>
                  <a:txBody>
                    <a:bodyPr/>
                    <a:lstStyle/>
                    <a:p>
                      <a:pPr>
                        <a:defRPr sz="800">
                          <a:solidFill>
                            <a:srgbClr val="333333"/>
                          </a:solidFill>
                          <a:latin typeface="Calibri"/>
                        </a:defRPr>
                      </a:pPr>
                      <a:r>
                        <a:t>50% of agents = $0 API cost</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Structured JSON outputs</a:t>
                      </a:r>
                    </a:p>
                  </a:txBody>
                  <a:tcPr>
                    <a:solidFill>
                      <a:srgbClr val="FFFFFF"/>
                    </a:solidFill>
                  </a:tcPr>
                </a:tc>
                <a:tc>
                  <a:txBody>
                    <a:bodyPr/>
                    <a:lstStyle/>
                    <a:p>
                      <a:pPr>
                        <a:defRPr sz="800">
                          <a:solidFill>
                            <a:srgbClr val="333333"/>
                          </a:solidFill>
                          <a:latin typeface="Calibri"/>
                        </a:defRPr>
                      </a:pPr>
                      <a:r>
                        <a:t>response_format forces valid JSON. No retries for parsing errors.</a:t>
                      </a:r>
                      <a:br/>
                      <a:r>
                        <a:t>Eliminate wasted tokens on malformed responses.</a:t>
                      </a:r>
                    </a:p>
                  </a:txBody>
                  <a:tcPr>
                    <a:solidFill>
                      <a:srgbClr val="FFFFFF"/>
                    </a:solidFill>
                  </a:tcPr>
                </a:tc>
                <a:tc>
                  <a:txBody>
                    <a:bodyPr/>
                    <a:lstStyle/>
                    <a:p>
                      <a:pPr>
                        <a:defRPr sz="800">
                          <a:solidFill>
                            <a:srgbClr val="333333"/>
                          </a:solidFill>
                          <a:latin typeface="Calibri"/>
                        </a:defRPr>
                      </a:pPr>
                      <a:r>
                        <a:rPr dirty="0"/>
                        <a:t>Zero retry overhead</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Serverless Azure services</a:t>
                      </a:r>
                    </a:p>
                  </a:txBody>
                  <a:tcPr>
                    <a:solidFill>
                      <a:srgbClr val="F2F2F2"/>
                    </a:solidFill>
                  </a:tcPr>
                </a:tc>
                <a:tc>
                  <a:txBody>
                    <a:bodyPr/>
                    <a:lstStyle/>
                    <a:p>
                      <a:pPr>
                        <a:defRPr sz="800">
                          <a:solidFill>
                            <a:srgbClr val="333333"/>
                          </a:solidFill>
                          <a:latin typeface="Calibri"/>
                        </a:defRPr>
                      </a:pPr>
                      <a:r>
                        <a:t>Container Apps (scale to 0), Cosmos DB (serverless), AI Search (free tier).</a:t>
                      </a:r>
                      <a:br/>
                      <a:r>
                        <a:t>No idle compute costs.</a:t>
                      </a:r>
                    </a:p>
                  </a:txBody>
                  <a:tcPr>
                    <a:solidFill>
                      <a:srgbClr val="F2F2F2"/>
                    </a:solidFill>
                  </a:tcPr>
                </a:tc>
                <a:tc>
                  <a:txBody>
                    <a:bodyPr/>
                    <a:lstStyle/>
                    <a:p>
                      <a:pPr>
                        <a:defRPr sz="800">
                          <a:solidFill>
                            <a:srgbClr val="333333"/>
                          </a:solidFill>
                          <a:latin typeface="Calibri"/>
                        </a:defRPr>
                      </a:pPr>
                      <a:r>
                        <a:t>Pay only during active simulation</a:t>
                      </a:r>
                    </a:p>
                  </a:txBody>
                  <a:tcPr>
                    <a:solidFill>
                      <a:srgbClr val="F2F2F2"/>
                    </a:solidFill>
                  </a:tcPr>
                </a:tc>
                <a:extLst>
                  <a:ext uri="{0D108BD9-81ED-4DB2-BD59-A6C34878D82A}">
                    <a16:rowId xmlns:a16="http://schemas.microsoft.com/office/drawing/2014/main" val="10004"/>
                  </a:ext>
                </a:extLst>
              </a:tr>
              <a:tr h="274320">
                <a:tc>
                  <a:txBody>
                    <a:bodyPr/>
                    <a:lstStyle/>
                    <a:p>
                      <a:pPr>
                        <a:defRPr sz="800">
                          <a:solidFill>
                            <a:srgbClr val="333333"/>
                          </a:solidFill>
                          <a:latin typeface="Calibri"/>
                        </a:defRPr>
                      </a:pPr>
                      <a:r>
                        <a:t>Low-temperature models</a:t>
                      </a:r>
                    </a:p>
                  </a:txBody>
                  <a:tcPr>
                    <a:solidFill>
                      <a:srgbClr val="FFFFFF"/>
                    </a:solidFill>
                  </a:tcPr>
                </a:tc>
                <a:tc>
                  <a:txBody>
                    <a:bodyPr/>
                    <a:lstStyle/>
                    <a:p>
                      <a:pPr>
                        <a:defRPr sz="800">
                          <a:solidFill>
                            <a:srgbClr val="333333"/>
                          </a:solidFill>
                          <a:latin typeface="Calibri"/>
                        </a:defRPr>
                      </a:pPr>
                      <a:r>
                        <a:t>Decision: 0.2, Risk: 0.3 — deterministic outputs reduce token variance.</a:t>
                      </a:r>
                      <a:br/>
                      <a:r>
                        <a:t>Dyatlov: 0.7 for creative dialogue only.</a:t>
                      </a:r>
                    </a:p>
                  </a:txBody>
                  <a:tcPr>
                    <a:solidFill>
                      <a:srgbClr val="FFFFFF"/>
                    </a:solidFill>
                  </a:tcPr>
                </a:tc>
                <a:tc>
                  <a:txBody>
                    <a:bodyPr/>
                    <a:lstStyle/>
                    <a:p>
                      <a:pPr>
                        <a:defRPr sz="800">
                          <a:solidFill>
                            <a:srgbClr val="333333"/>
                          </a:solidFill>
                          <a:latin typeface="Calibri"/>
                        </a:defRPr>
                      </a:pPr>
                      <a:r>
                        <a:rPr dirty="0"/>
                        <a:t>Consistent, predictable costs</a:t>
                      </a:r>
                    </a:p>
                  </a:txBody>
                  <a:tcPr>
                    <a:solidFill>
                      <a:srgbClr val="FFFFFF"/>
                    </a:solidFill>
                  </a:tcPr>
                </a:tc>
                <a:extLst>
                  <a:ext uri="{0D108BD9-81ED-4DB2-BD59-A6C34878D82A}">
                    <a16:rowId xmlns:a16="http://schemas.microsoft.com/office/drawing/2014/main" val="10005"/>
                  </a:ext>
                </a:extLst>
              </a:tr>
            </a:tbl>
          </a:graphicData>
        </a:graphic>
      </p:graphicFrame>
      <p:sp>
        <p:nvSpPr>
          <p:cNvPr id="12" name="Rounded Rectangle 11"/>
          <p:cNvSpPr/>
          <p:nvPr/>
        </p:nvSpPr>
        <p:spPr>
          <a:xfrm>
            <a:off x="457200" y="5500878"/>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&lt;$0.10</a:t>
            </a:r>
          </a:p>
          <a:p>
            <a:pPr algn="ctr">
              <a:spcBef>
                <a:spcPts val="100"/>
              </a:spcBef>
              <a:spcAft>
                <a:spcPts val="100"/>
              </a:spcAft>
              <a:defRPr sz="800" b="0">
                <a:solidFill>
                  <a:srgbClr val="333333"/>
                </a:solidFill>
                <a:latin typeface="Calibri"/>
              </a:defRPr>
            </a:pPr>
            <a:r>
              <a:t>Cost per full simulation run</a:t>
            </a:r>
          </a:p>
        </p:txBody>
      </p:sp>
      <p:sp>
        <p:nvSpPr>
          <p:cNvPr id="13" name="Rounded Rectangle 12"/>
          <p:cNvSpPr/>
          <p:nvPr/>
        </p:nvSpPr>
        <p:spPr>
          <a:xfrm>
            <a:off x="3200400" y="5500878"/>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20×</a:t>
            </a:r>
          </a:p>
          <a:p>
            <a:pPr algn="ctr">
              <a:spcBef>
                <a:spcPts val="100"/>
              </a:spcBef>
              <a:spcAft>
                <a:spcPts val="100"/>
              </a:spcAft>
              <a:defRPr sz="800" b="0">
                <a:solidFill>
                  <a:srgbClr val="333333"/>
                </a:solidFill>
                <a:latin typeface="Calibri"/>
              </a:defRPr>
            </a:pPr>
            <a:r>
              <a:t>Cost reduction vs. every-tick LLM</a:t>
            </a:r>
          </a:p>
        </p:txBody>
      </p:sp>
      <p:sp>
        <p:nvSpPr>
          <p:cNvPr id="14" name="Rounded Rectangle 13"/>
          <p:cNvSpPr/>
          <p:nvPr/>
        </p:nvSpPr>
        <p:spPr>
          <a:xfrm>
            <a:off x="5943600" y="5500878"/>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rPr dirty="0"/>
              <a:t>~$5-15</a:t>
            </a:r>
          </a:p>
          <a:p>
            <a:pPr algn="ctr">
              <a:spcBef>
                <a:spcPts val="100"/>
              </a:spcBef>
              <a:spcAft>
                <a:spcPts val="100"/>
              </a:spcAft>
              <a:defRPr sz="800" b="0">
                <a:solidFill>
                  <a:srgbClr val="333333"/>
                </a:solidFill>
                <a:latin typeface="Calibri"/>
              </a:defRPr>
            </a:pPr>
            <a:r>
              <a:rPr dirty="0"/>
              <a:t>Total Azure spend of $350 budget</a:t>
            </a:r>
          </a:p>
        </p:txBody>
      </p:sp>
      <p:sp>
        <p:nvSpPr>
          <p:cNvPr id="15" name="Rounded Rectangle 14"/>
          <p:cNvSpPr/>
          <p:nvPr/>
        </p:nvSpPr>
        <p:spPr>
          <a:xfrm>
            <a:off x="8686800" y="549097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15-20</a:t>
            </a:r>
          </a:p>
          <a:p>
            <a:pPr algn="ctr">
              <a:spcBef>
                <a:spcPts val="100"/>
              </a:spcBef>
              <a:spcAft>
                <a:spcPts val="100"/>
              </a:spcAft>
              <a:defRPr sz="800" b="0">
                <a:solidFill>
                  <a:srgbClr val="333333"/>
                </a:solidFill>
                <a:latin typeface="Calibri"/>
              </a:defRPr>
            </a:pPr>
            <a:r>
              <a:t>LLM calls per simulation run</a:t>
            </a:r>
          </a:p>
        </p:txBody>
      </p:sp>
      <p:sp>
        <p:nvSpPr>
          <p:cNvPr id="16" name="Rectangle 15"/>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8" name="TextBox 17"/>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16/20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Scalability, Integration &amp; Provisioning</a:t>
            </a:r>
          </a:p>
          <a:p>
            <a:pPr algn="l">
              <a:spcBef>
                <a:spcPts val="100"/>
              </a:spcBef>
              <a:spcAft>
                <a:spcPts val="100"/>
              </a:spcAft>
              <a:defRPr sz="1300" b="0">
                <a:solidFill>
                  <a:srgbClr val="88BBDD"/>
                </a:solidFill>
                <a:latin typeface="Calibri"/>
              </a:defRPr>
            </a:pPr>
            <a:r>
              <a:t>IaC Deployment, Environment Topology &amp; Integration Architecture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254252"/>
            <a:ext cx="5486400" cy="210312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t>BICEP TEMPLATE — INFRASTRUCTURE AS CODE:</a:t>
            </a:r>
          </a:p>
          <a:p>
            <a:pPr>
              <a:spcBef>
                <a:spcPts val="0"/>
              </a:spcBef>
              <a:spcAft>
                <a:spcPts val="0"/>
              </a:spcAft>
              <a:defRPr sz="900">
                <a:solidFill>
                  <a:srgbClr val="333333"/>
                </a:solidFill>
                <a:latin typeface="Consolas"/>
              </a:defRPr>
            </a:pPr>
            <a:r>
              <a:t>resource group: rg-pripyat-{env}</a:t>
            </a:r>
          </a:p>
          <a:p>
            <a:pPr>
              <a:spcBef>
                <a:spcPts val="0"/>
              </a:spcBef>
              <a:spcAft>
                <a:spcPts val="0"/>
              </a:spcAft>
              <a:defRPr sz="900">
                <a:solidFill>
                  <a:srgbClr val="333333"/>
                </a:solidFill>
                <a:latin typeface="Consolas"/>
              </a:defRPr>
            </a:pPr>
            <a:r>
              <a:t>├── Azure OpenAI (gpt-4o deployment)</a:t>
            </a:r>
          </a:p>
          <a:p>
            <a:pPr>
              <a:spcBef>
                <a:spcPts val="0"/>
              </a:spcBef>
              <a:spcAft>
                <a:spcPts val="0"/>
              </a:spcAft>
              <a:defRPr sz="900">
                <a:solidFill>
                  <a:srgbClr val="333333"/>
                </a:solidFill>
                <a:latin typeface="Consolas"/>
              </a:defRPr>
            </a:pPr>
            <a:r>
              <a:t>├── Container Apps Environment</a:t>
            </a:r>
          </a:p>
          <a:p>
            <a:pPr>
              <a:spcBef>
                <a:spcPts val="0"/>
              </a:spcBef>
              <a:spcAft>
                <a:spcPts val="0"/>
              </a:spcAft>
              <a:defRPr sz="900">
                <a:solidFill>
                  <a:srgbClr val="333333"/>
                </a:solidFill>
                <a:latin typeface="Consolas"/>
              </a:defRPr>
            </a:pPr>
            <a:r>
              <a:t>│   └── Container App: pripyat-1986 (FastAPI + WebSocket)</a:t>
            </a:r>
          </a:p>
          <a:p>
            <a:pPr>
              <a:spcBef>
                <a:spcPts val="0"/>
              </a:spcBef>
              <a:spcAft>
                <a:spcPts val="0"/>
              </a:spcAft>
              <a:defRPr sz="900">
                <a:solidFill>
                  <a:srgbClr val="333333"/>
                </a:solidFill>
                <a:latin typeface="Consolas"/>
              </a:defRPr>
            </a:pPr>
            <a:r>
              <a:t>├── Cosmos DB Account (serverless, NoSQL)</a:t>
            </a:r>
          </a:p>
          <a:p>
            <a:pPr>
              <a:spcBef>
                <a:spcPts val="0"/>
              </a:spcBef>
              <a:spcAft>
                <a:spcPts val="0"/>
              </a:spcAft>
              <a:defRPr sz="900">
                <a:solidFill>
                  <a:srgbClr val="333333"/>
                </a:solidFill>
                <a:latin typeface="Consolas"/>
              </a:defRPr>
            </a:pPr>
            <a:r>
              <a:t>│   └── Database: pripyat → Container: audit_trail (partition: /tick_agent)</a:t>
            </a:r>
          </a:p>
          <a:p>
            <a:pPr>
              <a:spcBef>
                <a:spcPts val="0"/>
              </a:spcBef>
              <a:spcAft>
                <a:spcPts val="0"/>
              </a:spcAft>
              <a:defRPr sz="900">
                <a:solidFill>
                  <a:srgbClr val="333333"/>
                </a:solidFill>
                <a:latin typeface="Consolas"/>
              </a:defRPr>
            </a:pPr>
            <a:r>
              <a:t>├── AI Search Service (free tier, keyword index: insag7-index)</a:t>
            </a:r>
          </a:p>
          <a:p>
            <a:pPr>
              <a:spcBef>
                <a:spcPts val="0"/>
              </a:spcBef>
              <a:spcAft>
                <a:spcPts val="0"/>
              </a:spcAft>
              <a:defRPr sz="900">
                <a:solidFill>
                  <a:srgbClr val="333333"/>
                </a:solidFill>
                <a:latin typeface="Consolas"/>
              </a:defRPr>
            </a:pPr>
            <a:r>
              <a:t>├── Container Registry (Basic SKU)</a:t>
            </a:r>
          </a:p>
          <a:p>
            <a:pPr>
              <a:spcBef>
                <a:spcPts val="0"/>
              </a:spcBef>
              <a:spcAft>
                <a:spcPts val="0"/>
              </a:spcAft>
              <a:defRPr sz="900">
                <a:solidFill>
                  <a:srgbClr val="333333"/>
                </a:solidFill>
                <a:latin typeface="Consolas"/>
              </a:defRPr>
            </a:pPr>
            <a:r>
              <a:t>├── Application Insights</a:t>
            </a:r>
          </a:p>
          <a:p>
            <a:pPr>
              <a:spcBef>
                <a:spcPts val="0"/>
              </a:spcBef>
              <a:spcAft>
                <a:spcPts val="0"/>
              </a:spcAft>
              <a:defRPr sz="900">
                <a:solidFill>
                  <a:srgbClr val="333333"/>
                </a:solidFill>
                <a:latin typeface="Consolas"/>
              </a:defRPr>
            </a:pPr>
            <a:r>
              <a:t>│   └── Log Analytics Workspace</a:t>
            </a:r>
          </a:p>
          <a:p>
            <a:pPr>
              <a:spcBef>
                <a:spcPts val="0"/>
              </a:spcBef>
              <a:spcAft>
                <a:spcPts val="0"/>
              </a:spcAft>
              <a:defRPr sz="900">
                <a:solidFill>
                  <a:srgbClr val="333333"/>
                </a:solidFill>
                <a:latin typeface="Consolas"/>
              </a:defRPr>
            </a:pPr>
            <a:r>
              <a:t>├── Key Vault (secrets: OPENAI_API_KEY, COSMOS_CONNECTION)</a:t>
            </a:r>
          </a:p>
          <a:p>
            <a:pPr>
              <a:spcBef>
                <a:spcPts val="0"/>
              </a:spcBef>
              <a:spcAft>
                <a:spcPts val="0"/>
              </a:spcAft>
              <a:defRPr sz="900">
                <a:solidFill>
                  <a:srgbClr val="333333"/>
                </a:solidFill>
                <a:latin typeface="Consolas"/>
              </a:defRPr>
            </a:pPr>
            <a:r>
              <a:t>└── Virtual Network (private endpoints for all PaaS services)</a:t>
            </a:r>
          </a:p>
        </p:txBody>
      </p:sp>
      <p:sp>
        <p:nvSpPr>
          <p:cNvPr id="5" name="Rectangle 4"/>
          <p:cNvSpPr/>
          <p:nvPr/>
        </p:nvSpPr>
        <p:spPr>
          <a:xfrm>
            <a:off x="6080760" y="1254252"/>
            <a:ext cx="5486400" cy="274320"/>
          </a:xfrm>
          <a:prstGeom prst="rect">
            <a:avLst/>
          </a:prstGeom>
          <a:solidFill>
            <a:srgbClr val="0070A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Environment Topology</a:t>
            </a:r>
          </a:p>
        </p:txBody>
      </p:sp>
      <p:sp>
        <p:nvSpPr>
          <p:cNvPr id="6" name="Rounded Rectangle 5"/>
          <p:cNvSpPr/>
          <p:nvPr/>
        </p:nvSpPr>
        <p:spPr>
          <a:xfrm>
            <a:off x="6080760" y="1528572"/>
            <a:ext cx="5486400" cy="914400"/>
          </a:xfrm>
          <a:prstGeom prst="roundRect">
            <a:avLst/>
          </a:prstGeom>
          <a:solidFill>
            <a:srgbClr val="E8F4FD"/>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Development: Local Python + .env file, no Azure dependencies</a:t>
            </a:r>
          </a:p>
          <a:p>
            <a:pPr>
              <a:spcBef>
                <a:spcPts val="100"/>
              </a:spcBef>
              <a:spcAft>
                <a:spcPts val="100"/>
              </a:spcAft>
              <a:defRPr sz="900" b="0">
                <a:solidFill>
                  <a:srgbClr val="333333"/>
                </a:solidFill>
                <a:latin typeface="Calibri"/>
              </a:defRPr>
            </a:pPr>
            <a:r>
              <a:rPr dirty="0"/>
              <a:t>Staging: Container Apps (staging slot) + shared Cosmos DB, AI Search</a:t>
            </a:r>
          </a:p>
          <a:p>
            <a:pPr>
              <a:spcBef>
                <a:spcPts val="100"/>
              </a:spcBef>
              <a:spcAft>
                <a:spcPts val="100"/>
              </a:spcAft>
              <a:defRPr sz="900" b="0">
                <a:solidFill>
                  <a:srgbClr val="333333"/>
                </a:solidFill>
                <a:latin typeface="Calibri"/>
              </a:defRPr>
            </a:pPr>
            <a:r>
              <a:rPr dirty="0"/>
              <a:t>Production: Container Apps + dedicated Cosmos + AI Search + Insights</a:t>
            </a:r>
          </a:p>
          <a:p>
            <a:pPr>
              <a:spcBef>
                <a:spcPts val="100"/>
              </a:spcBef>
              <a:spcAft>
                <a:spcPts val="100"/>
              </a:spcAft>
              <a:defRPr sz="900" b="0">
                <a:solidFill>
                  <a:srgbClr val="333333"/>
                </a:solidFill>
                <a:latin typeface="Calibri"/>
              </a:defRPr>
            </a:pPr>
            <a:r>
              <a:rPr dirty="0"/>
              <a:t>CI/CD: GitHub Actions → Container Registry → Container Apps (blue-green)</a:t>
            </a:r>
          </a:p>
        </p:txBody>
      </p:sp>
      <p:sp>
        <p:nvSpPr>
          <p:cNvPr id="7" name="Rectangle 6"/>
          <p:cNvSpPr/>
          <p:nvPr/>
        </p:nvSpPr>
        <p:spPr>
          <a:xfrm>
            <a:off x="6080760" y="2534412"/>
            <a:ext cx="5486400" cy="27432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Integration Points</a:t>
            </a:r>
          </a:p>
        </p:txBody>
      </p:sp>
      <p:sp>
        <p:nvSpPr>
          <p:cNvPr id="8" name="Rounded Rectangle 7"/>
          <p:cNvSpPr/>
          <p:nvPr/>
        </p:nvSpPr>
        <p:spPr>
          <a:xfrm>
            <a:off x="6080760" y="2808732"/>
            <a:ext cx="548640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SDK: </a:t>
            </a:r>
            <a:r>
              <a:rPr dirty="0" err="1"/>
              <a:t>openai</a:t>
            </a:r>
            <a:r>
              <a:rPr dirty="0"/>
              <a:t> (</a:t>
            </a:r>
            <a:r>
              <a:rPr dirty="0" err="1"/>
              <a:t>AsyncOpenAI</a:t>
            </a:r>
            <a:r>
              <a:rPr dirty="0"/>
              <a:t> / </a:t>
            </a:r>
            <a:r>
              <a:rPr dirty="0" err="1"/>
              <a:t>AsyncAzureOpenAI</a:t>
            </a:r>
            <a:r>
              <a:rPr dirty="0"/>
              <a:t> — single flag toggle)</a:t>
            </a:r>
          </a:p>
          <a:p>
            <a:pPr>
              <a:spcBef>
                <a:spcPts val="100"/>
              </a:spcBef>
              <a:spcAft>
                <a:spcPts val="100"/>
              </a:spcAft>
              <a:defRPr sz="900" b="0">
                <a:solidFill>
                  <a:srgbClr val="333333"/>
                </a:solidFill>
                <a:latin typeface="Calibri"/>
              </a:defRPr>
            </a:pPr>
            <a:r>
              <a:rPr dirty="0"/>
              <a:t>WebSocket: </a:t>
            </a:r>
            <a:r>
              <a:rPr dirty="0" err="1"/>
              <a:t>FastAPI</a:t>
            </a:r>
            <a:r>
              <a:rPr dirty="0"/>
              <a:t> → Browser dashboard (15 FPS real-time streaming)</a:t>
            </a:r>
          </a:p>
          <a:p>
            <a:pPr>
              <a:spcBef>
                <a:spcPts val="100"/>
              </a:spcBef>
              <a:spcAft>
                <a:spcPts val="100"/>
              </a:spcAft>
              <a:defRPr sz="900" b="0">
                <a:solidFill>
                  <a:srgbClr val="333333"/>
                </a:solidFill>
                <a:latin typeface="Calibri"/>
              </a:defRPr>
            </a:pPr>
            <a:r>
              <a:rPr dirty="0"/>
              <a:t>REST: POST /</a:t>
            </a:r>
            <a:r>
              <a:rPr dirty="0" err="1"/>
              <a:t>api</a:t>
            </a:r>
            <a:r>
              <a:rPr dirty="0"/>
              <a:t>/control (play, pause, reset, step, </a:t>
            </a:r>
            <a:r>
              <a:rPr dirty="0" err="1"/>
              <a:t>set_speed</a:t>
            </a:r>
            <a:r>
              <a:rPr dirty="0"/>
              <a:t>, seek)</a:t>
            </a:r>
          </a:p>
          <a:p>
            <a:pPr>
              <a:spcBef>
                <a:spcPts val="100"/>
              </a:spcBef>
              <a:spcAft>
                <a:spcPts val="100"/>
              </a:spcAft>
              <a:defRPr sz="900" b="0">
                <a:solidFill>
                  <a:srgbClr val="333333"/>
                </a:solidFill>
                <a:latin typeface="Calibri"/>
              </a:defRPr>
            </a:pPr>
            <a:r>
              <a:rPr dirty="0"/>
              <a:t>SSE: /events endpoint for lightweight dashboard streaming</a:t>
            </a:r>
          </a:p>
          <a:p>
            <a:pPr>
              <a:spcBef>
                <a:spcPts val="100"/>
              </a:spcBef>
              <a:spcAft>
                <a:spcPts val="100"/>
              </a:spcAft>
              <a:defRPr sz="900" b="0">
                <a:solidFill>
                  <a:srgbClr val="333333"/>
                </a:solidFill>
                <a:latin typeface="Calibri"/>
              </a:defRPr>
            </a:pPr>
            <a:r>
              <a:rPr dirty="0"/>
              <a:t>Cosmos: azure-cosmos SDK (async, partition key: </a:t>
            </a:r>
            <a:r>
              <a:rPr dirty="0" err="1"/>
              <a:t>tick_agent_timestamp</a:t>
            </a:r>
            <a:r>
              <a:rPr dirty="0"/>
              <a:t>)</a:t>
            </a:r>
          </a:p>
          <a:p>
            <a:pPr>
              <a:spcBef>
                <a:spcPts val="100"/>
              </a:spcBef>
              <a:spcAft>
                <a:spcPts val="100"/>
              </a:spcAft>
              <a:defRPr sz="900" b="0">
                <a:solidFill>
                  <a:srgbClr val="333333"/>
                </a:solidFill>
                <a:latin typeface="Calibri"/>
              </a:defRPr>
            </a:pPr>
            <a:r>
              <a:rPr dirty="0"/>
              <a:t>AI Search: azure-search-documents SDK (keyword queries)</a:t>
            </a:r>
          </a:p>
        </p:txBody>
      </p:sp>
      <p:sp>
        <p:nvSpPr>
          <p:cNvPr id="9" name="TextBox 8"/>
          <p:cNvSpPr txBox="1"/>
          <p:nvPr/>
        </p:nvSpPr>
        <p:spPr>
          <a:xfrm>
            <a:off x="457200" y="3494532"/>
            <a:ext cx="5486400"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Horizontal Scalability:</a:t>
            </a:r>
          </a:p>
        </p:txBody>
      </p:sp>
      <p:graphicFrame>
        <p:nvGraphicFramePr>
          <p:cNvPr id="10" name="Table 9"/>
          <p:cNvGraphicFramePr>
            <a:graphicFrameLocks noGrp="1"/>
          </p:cNvGraphicFramePr>
          <p:nvPr/>
        </p:nvGraphicFramePr>
        <p:xfrm>
          <a:off x="457200" y="3723132"/>
          <a:ext cx="5486400" cy="17373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274320">
                <a:tc>
                  <a:txBody>
                    <a:bodyPr/>
                    <a:lstStyle/>
                    <a:p>
                      <a:pPr>
                        <a:defRPr sz="900" b="1">
                          <a:solidFill>
                            <a:srgbClr val="FFFFFF"/>
                          </a:solidFill>
                          <a:latin typeface="Calibri"/>
                        </a:defRPr>
                      </a:pPr>
                      <a:r>
                        <a:t>Component</a:t>
                      </a:r>
                    </a:p>
                  </a:txBody>
                  <a:tcPr>
                    <a:solidFill>
                      <a:srgbClr val="009B8D"/>
                    </a:solidFill>
                  </a:tcPr>
                </a:tc>
                <a:tc>
                  <a:txBody>
                    <a:bodyPr/>
                    <a:lstStyle/>
                    <a:p>
                      <a:pPr>
                        <a:defRPr sz="900" b="1">
                          <a:solidFill>
                            <a:srgbClr val="FFFFFF"/>
                          </a:solidFill>
                          <a:latin typeface="Calibri"/>
                        </a:defRPr>
                      </a:pPr>
                      <a:r>
                        <a:t>Scaling Strategy</a:t>
                      </a:r>
                    </a:p>
                  </a:txBody>
                  <a:tcPr>
                    <a:solidFill>
                      <a:srgbClr val="009B8D"/>
                    </a:solidFill>
                  </a:tcPr>
                </a:tc>
                <a:tc>
                  <a:txBody>
                    <a:bodyPr/>
                    <a:lstStyle/>
                    <a:p>
                      <a:pPr>
                        <a:defRPr sz="900" b="1">
                          <a:solidFill>
                            <a:srgbClr val="FFFFFF"/>
                          </a:solidFill>
                          <a:latin typeface="Calibri"/>
                        </a:defRPr>
                      </a:pPr>
                      <a:r>
                        <a:t>Bottleneck Handling</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Agent Pipeline</a:t>
                      </a:r>
                    </a:p>
                  </a:txBody>
                  <a:tcPr>
                    <a:solidFill>
                      <a:srgbClr val="FFFFFF"/>
                    </a:solidFill>
                  </a:tcPr>
                </a:tc>
                <a:tc>
                  <a:txBody>
                    <a:bodyPr/>
                    <a:lstStyle/>
                    <a:p>
                      <a:pPr>
                        <a:defRPr sz="800">
                          <a:solidFill>
                            <a:srgbClr val="333333"/>
                          </a:solidFill>
                          <a:latin typeface="Calibri"/>
                        </a:defRPr>
                      </a:pPr>
                      <a:r>
                        <a:t>MessageBus decouples all 6 agents.</a:t>
                      </a:r>
                      <a:br/>
                      <a:r>
                        <a:t>Each can scale independently on AKS.</a:t>
                      </a:r>
                    </a:p>
                  </a:txBody>
                  <a:tcPr>
                    <a:solidFill>
                      <a:srgbClr val="FFFFFF"/>
                    </a:solidFill>
                  </a:tcPr>
                </a:tc>
                <a:tc>
                  <a:txBody>
                    <a:bodyPr/>
                    <a:lstStyle/>
                    <a:p>
                      <a:pPr>
                        <a:defRPr sz="800">
                          <a:solidFill>
                            <a:srgbClr val="333333"/>
                          </a:solidFill>
                          <a:latin typeface="Calibri"/>
                        </a:defRPr>
                      </a:pPr>
                      <a:r>
                        <a:t>Async processing via asyncio.</a:t>
                      </a:r>
                      <a:br/>
                      <a:r>
                        <a:t>No blocking between agents.</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Telemetry Ingestion</a:t>
                      </a:r>
                    </a:p>
                  </a:txBody>
                  <a:tcPr>
                    <a:solidFill>
                      <a:srgbClr val="F2F2F2"/>
                    </a:solidFill>
                  </a:tcPr>
                </a:tc>
                <a:tc>
                  <a:txBody>
                    <a:bodyPr/>
                    <a:lstStyle/>
                    <a:p>
                      <a:pPr>
                        <a:defRPr sz="800">
                          <a:solidFill>
                            <a:srgbClr val="333333"/>
                          </a:solidFill>
                          <a:latin typeface="Calibri"/>
                        </a:defRPr>
                      </a:pPr>
                      <a:r>
                        <a:t>EventSimulator → Azure Event Hubs.</a:t>
                      </a:r>
                      <a:br/>
                      <a:r>
                        <a:t>Supports millions of events/sec.</a:t>
                      </a:r>
                    </a:p>
                  </a:txBody>
                  <a:tcPr>
                    <a:solidFill>
                      <a:srgbClr val="F2F2F2"/>
                    </a:solidFill>
                  </a:tcPr>
                </a:tc>
                <a:tc>
                  <a:txBody>
                    <a:bodyPr/>
                    <a:lstStyle/>
                    <a:p>
                      <a:pPr>
                        <a:defRPr sz="800">
                          <a:solidFill>
                            <a:srgbClr val="333333"/>
                          </a:solidFill>
                          <a:latin typeface="Calibri"/>
                        </a:defRPr>
                      </a:pPr>
                      <a:r>
                        <a:t>Partitioned by reactor ID.</a:t>
                      </a:r>
                      <a:br/>
                      <a:r>
                        <a:t>Add reactors via timeline config.</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State Storage</a:t>
                      </a:r>
                    </a:p>
                  </a:txBody>
                  <a:tcPr>
                    <a:solidFill>
                      <a:srgbClr val="FFFFFF"/>
                    </a:solidFill>
                  </a:tcPr>
                </a:tc>
                <a:tc>
                  <a:txBody>
                    <a:bodyPr/>
                    <a:lstStyle/>
                    <a:p>
                      <a:pPr>
                        <a:defRPr sz="800">
                          <a:solidFill>
                            <a:srgbClr val="333333"/>
                          </a:solidFill>
                          <a:latin typeface="Calibri"/>
                        </a:defRPr>
                      </a:pPr>
                      <a:r>
                        <a:t>Cosmos DB auto-scales RU/s.</a:t>
                      </a:r>
                      <a:br/>
                      <a:r>
                        <a:t>Partition key: tick_agent_timestamp.</a:t>
                      </a:r>
                    </a:p>
                  </a:txBody>
                  <a:tcPr>
                    <a:solidFill>
                      <a:srgbClr val="FFFFFF"/>
                    </a:solidFill>
                  </a:tcPr>
                </a:tc>
                <a:tc>
                  <a:txBody>
                    <a:bodyPr/>
                    <a:lstStyle/>
                    <a:p>
                      <a:pPr>
                        <a:defRPr sz="800">
                          <a:solidFill>
                            <a:srgbClr val="333333"/>
                          </a:solidFill>
                          <a:latin typeface="Calibri"/>
                        </a:defRPr>
                      </a:pPr>
                      <a:r>
                        <a:t>Serverless: 0-50,000 RU/s.</a:t>
                      </a:r>
                      <a:br/>
                      <a:r>
                        <a:t>No capacity planning needed.</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Dashboard</a:t>
                      </a:r>
                    </a:p>
                  </a:txBody>
                  <a:tcPr>
                    <a:solidFill>
                      <a:srgbClr val="F2F2F2"/>
                    </a:solidFill>
                  </a:tcPr>
                </a:tc>
                <a:tc>
                  <a:txBody>
                    <a:bodyPr/>
                    <a:lstStyle/>
                    <a:p>
                      <a:pPr>
                        <a:defRPr sz="800">
                          <a:solidFill>
                            <a:srgbClr val="333333"/>
                          </a:solidFill>
                          <a:latin typeface="Calibri"/>
                        </a:defRPr>
                      </a:pPr>
                      <a:r>
                        <a:t>Container Apps auto-scales 0-N replicas.</a:t>
                      </a:r>
                      <a:br/>
                      <a:r>
                        <a:t>WebSocket sticky sessions.</a:t>
                      </a:r>
                    </a:p>
                  </a:txBody>
                  <a:tcPr>
                    <a:solidFill>
                      <a:srgbClr val="F2F2F2"/>
                    </a:solidFill>
                  </a:tcPr>
                </a:tc>
                <a:tc>
                  <a:txBody>
                    <a:bodyPr/>
                    <a:lstStyle/>
                    <a:p>
                      <a:pPr>
                        <a:defRPr sz="800">
                          <a:solidFill>
                            <a:srgbClr val="333333"/>
                          </a:solidFill>
                          <a:latin typeface="Calibri"/>
                        </a:defRPr>
                      </a:pPr>
                      <a:r>
                        <a:t>Plotly WebGL: 2000-point rolling</a:t>
                      </a:r>
                      <a:br/>
                      <a:r>
                        <a:t>buffers, client-side rendering.</a:t>
                      </a:r>
                    </a:p>
                  </a:txBody>
                  <a:tcPr>
                    <a:solidFill>
                      <a:srgbClr val="F2F2F2"/>
                    </a:solidFill>
                  </a:tcPr>
                </a:tc>
                <a:extLst>
                  <a:ext uri="{0D108BD9-81ED-4DB2-BD59-A6C34878D82A}">
                    <a16:rowId xmlns:a16="http://schemas.microsoft.com/office/drawing/2014/main" val="10004"/>
                  </a:ext>
                </a:extLst>
              </a:tr>
            </a:tbl>
          </a:graphicData>
        </a:graphic>
      </p:graphicFrame>
      <p:sp>
        <p:nvSpPr>
          <p:cNvPr id="11" name="Rectangle 10"/>
          <p:cNvSpPr/>
          <p:nvPr/>
        </p:nvSpPr>
        <p:spPr>
          <a:xfrm>
            <a:off x="6095847" y="4352544"/>
            <a:ext cx="5486400" cy="27432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Provisioning Checklist ✅</a:t>
            </a:r>
          </a:p>
        </p:txBody>
      </p:sp>
      <p:sp>
        <p:nvSpPr>
          <p:cNvPr id="12" name="Rounded Rectangle 11"/>
          <p:cNvSpPr/>
          <p:nvPr/>
        </p:nvSpPr>
        <p:spPr>
          <a:xfrm>
            <a:off x="6080760" y="4637532"/>
            <a:ext cx="5486400" cy="1645920"/>
          </a:xfrm>
          <a:prstGeom prst="roundRect">
            <a:avLst/>
          </a:prstGeom>
          <a:solidFill>
            <a:srgbClr val="E8F5E8"/>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 requirements.txt </a:t>
            </a:r>
            <a:r>
              <a:rPr lang="en-US" dirty="0"/>
              <a:t>:</a:t>
            </a:r>
            <a:r>
              <a:rPr dirty="0"/>
              <a:t> all dependencies pinned</a:t>
            </a:r>
          </a:p>
          <a:p>
            <a:pPr>
              <a:spcBef>
                <a:spcPts val="100"/>
              </a:spcBef>
              <a:spcAft>
                <a:spcPts val="100"/>
              </a:spcAft>
              <a:defRPr sz="900" b="0">
                <a:solidFill>
                  <a:srgbClr val="333333"/>
                </a:solidFill>
                <a:latin typeface="Calibri"/>
              </a:defRPr>
            </a:pPr>
            <a:r>
              <a:rPr dirty="0"/>
              <a:t>✅ </a:t>
            </a:r>
            <a:r>
              <a:rPr dirty="0" err="1"/>
              <a:t>Dockerfile</a:t>
            </a:r>
            <a:r>
              <a:rPr dirty="0"/>
              <a:t> </a:t>
            </a:r>
            <a:r>
              <a:rPr lang="en-US" dirty="0"/>
              <a:t>:</a:t>
            </a:r>
            <a:r>
              <a:rPr dirty="0"/>
              <a:t> containerized, multi-stage build</a:t>
            </a:r>
          </a:p>
          <a:p>
            <a:pPr>
              <a:spcBef>
                <a:spcPts val="100"/>
              </a:spcBef>
              <a:spcAft>
                <a:spcPts val="100"/>
              </a:spcAft>
              <a:defRPr sz="900" b="0">
                <a:solidFill>
                  <a:srgbClr val="333333"/>
                </a:solidFill>
                <a:latin typeface="Calibri"/>
              </a:defRPr>
            </a:pPr>
            <a:r>
              <a:rPr dirty="0"/>
              <a:t>✅ python main.py --smoke-test — 5-tick pipeline validation</a:t>
            </a:r>
          </a:p>
          <a:p>
            <a:pPr>
              <a:spcBef>
                <a:spcPts val="100"/>
              </a:spcBef>
              <a:spcAft>
                <a:spcPts val="100"/>
              </a:spcAft>
              <a:defRPr sz="900" b="0">
                <a:solidFill>
                  <a:srgbClr val="333333"/>
                </a:solidFill>
                <a:latin typeface="Calibri"/>
              </a:defRPr>
            </a:pPr>
            <a:r>
              <a:rPr dirty="0"/>
              <a:t>✅ USE_AZURE=true </a:t>
            </a:r>
            <a:r>
              <a:rPr lang="en-US" dirty="0"/>
              <a:t>:</a:t>
            </a:r>
            <a:r>
              <a:rPr dirty="0"/>
              <a:t> single flag activates full Azure stack</a:t>
            </a:r>
          </a:p>
          <a:p>
            <a:pPr>
              <a:spcBef>
                <a:spcPts val="100"/>
              </a:spcBef>
              <a:spcAft>
                <a:spcPts val="100"/>
              </a:spcAft>
              <a:defRPr sz="900" b="0">
                <a:solidFill>
                  <a:srgbClr val="333333"/>
                </a:solidFill>
                <a:latin typeface="Calibri"/>
              </a:defRPr>
            </a:pPr>
            <a:r>
              <a:rPr dirty="0"/>
              <a:t>✅ Container Registry + Container Apps deployed &amp; running</a:t>
            </a:r>
          </a:p>
          <a:p>
            <a:pPr>
              <a:spcBef>
                <a:spcPts val="100"/>
              </a:spcBef>
              <a:spcAft>
                <a:spcPts val="100"/>
              </a:spcAft>
              <a:defRPr sz="900" b="0">
                <a:solidFill>
                  <a:srgbClr val="333333"/>
                </a:solidFill>
                <a:latin typeface="Calibri"/>
              </a:defRPr>
            </a:pPr>
            <a:r>
              <a:rPr dirty="0"/>
              <a:t>✅ Cosmos DB + AI Search provisioned with data loaded</a:t>
            </a:r>
          </a:p>
          <a:p>
            <a:pPr>
              <a:spcBef>
                <a:spcPts val="100"/>
              </a:spcBef>
              <a:spcAft>
                <a:spcPts val="100"/>
              </a:spcAft>
              <a:defRPr sz="900" b="0">
                <a:solidFill>
                  <a:srgbClr val="333333"/>
                </a:solidFill>
                <a:latin typeface="Calibri"/>
              </a:defRPr>
            </a:pPr>
            <a:r>
              <a:rPr dirty="0"/>
              <a:t>✅ Application Insights configured with custom metrics</a:t>
            </a:r>
          </a:p>
        </p:txBody>
      </p:sp>
      <p:sp>
        <p:nvSpPr>
          <p:cNvPr id="13" name="Rectangle 12"/>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5" name="TextBox 14"/>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17/20</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MCP Packaging &amp; Cross-Industry Transfer</a:t>
            </a:r>
          </a:p>
          <a:p>
            <a:pPr algn="l">
              <a:spcBef>
                <a:spcPts val="100"/>
              </a:spcBef>
              <a:spcAft>
                <a:spcPts val="100"/>
              </a:spcAft>
              <a:defRPr sz="1300" b="0">
                <a:solidFill>
                  <a:srgbClr val="88BBDD"/>
                </a:solidFill>
                <a:latin typeface="Calibri"/>
              </a:defRPr>
            </a:pPr>
            <a:r>
              <a:t>Model Context Protocol servers + domain-agnostic safety pattern</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254252"/>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5 MCP Servers — Typed Input/Output Schemas, Composable with Any Orchestrator:</a:t>
            </a:r>
          </a:p>
        </p:txBody>
      </p:sp>
      <p:graphicFrame>
        <p:nvGraphicFramePr>
          <p:cNvPr id="5" name="Table 4"/>
          <p:cNvGraphicFramePr>
            <a:graphicFrameLocks noGrp="1"/>
          </p:cNvGraphicFramePr>
          <p:nvPr>
            <p:extLst>
              <p:ext uri="{D42A27DB-BD31-4B8C-83A1-F6EECF244321}">
                <p14:modId xmlns:p14="http://schemas.microsoft.com/office/powerpoint/2010/main" val="192454368"/>
              </p:ext>
            </p:extLst>
          </p:nvPr>
        </p:nvGraphicFramePr>
        <p:xfrm>
          <a:off x="457200" y="1482852"/>
          <a:ext cx="11277295" cy="1921329"/>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44929">
                <a:tc>
                  <a:txBody>
                    <a:bodyPr/>
                    <a:lstStyle/>
                    <a:p>
                      <a:pPr>
                        <a:defRPr sz="900" b="1">
                          <a:solidFill>
                            <a:srgbClr val="FFFFFF"/>
                          </a:solidFill>
                          <a:latin typeface="Calibri"/>
                        </a:defRPr>
                      </a:pPr>
                      <a:r>
                        <a:t>MCP Server</a:t>
                      </a:r>
                    </a:p>
                  </a:txBody>
                  <a:tcPr>
                    <a:solidFill>
                      <a:srgbClr val="009B8D"/>
                    </a:solidFill>
                  </a:tcPr>
                </a:tc>
                <a:tc>
                  <a:txBody>
                    <a:bodyPr/>
                    <a:lstStyle/>
                    <a:p>
                      <a:pPr>
                        <a:defRPr sz="900" b="1">
                          <a:solidFill>
                            <a:srgbClr val="FFFFFF"/>
                          </a:solidFill>
                          <a:latin typeface="Calibri"/>
                        </a:defRPr>
                      </a:pPr>
                      <a:r>
                        <a:t>Tools Exposed</a:t>
                      </a:r>
                    </a:p>
                  </a:txBody>
                  <a:tcPr>
                    <a:solidFill>
                      <a:srgbClr val="009B8D"/>
                    </a:solidFill>
                  </a:tcPr>
                </a:tc>
                <a:tc>
                  <a:txBody>
                    <a:bodyPr/>
                    <a:lstStyle/>
                    <a:p>
                      <a:pPr>
                        <a:defRPr sz="900" b="1">
                          <a:solidFill>
                            <a:srgbClr val="FFFFFF"/>
                          </a:solidFill>
                          <a:latin typeface="Calibri"/>
                        </a:defRPr>
                      </a:pPr>
                      <a:r>
                        <a:t>Input Schema</a:t>
                      </a:r>
                    </a:p>
                  </a:txBody>
                  <a:tcPr>
                    <a:solidFill>
                      <a:srgbClr val="009B8D"/>
                    </a:solidFill>
                  </a:tcPr>
                </a:tc>
                <a:tc>
                  <a:txBody>
                    <a:bodyPr/>
                    <a:lstStyle/>
                    <a:p>
                      <a:pPr>
                        <a:defRPr sz="900" b="1">
                          <a:solidFill>
                            <a:srgbClr val="FFFFFF"/>
                          </a:solidFill>
                          <a:latin typeface="Calibri"/>
                        </a:defRPr>
                      </a:pPr>
                      <a:r>
                        <a:t>Output Schema</a:t>
                      </a:r>
                    </a:p>
                  </a:txBody>
                  <a:tcPr>
                    <a:solidFill>
                      <a:srgbClr val="009B8D"/>
                    </a:solidFill>
                  </a:tcPr>
                </a:tc>
                <a:tc>
                  <a:txBody>
                    <a:bodyPr/>
                    <a:lstStyle/>
                    <a:p>
                      <a:pPr>
                        <a:defRPr sz="900" b="1">
                          <a:solidFill>
                            <a:srgbClr val="FFFFFF"/>
                          </a:solidFill>
                          <a:latin typeface="Calibri"/>
                        </a:defRPr>
                      </a:pPr>
                      <a:r>
                        <a:t>Orchestrator Compatibility</a:t>
                      </a:r>
                    </a:p>
                  </a:txBody>
                  <a:tcPr>
                    <a:solidFill>
                      <a:srgbClr val="009B8D"/>
                    </a:solidFill>
                  </a:tcPr>
                </a:tc>
                <a:extLst>
                  <a:ext uri="{0D108BD9-81ED-4DB2-BD59-A6C34878D82A}">
                    <a16:rowId xmlns:a16="http://schemas.microsoft.com/office/drawing/2014/main" val="10000"/>
                  </a:ext>
                </a:extLst>
              </a:tr>
              <a:tr h="299357">
                <a:tc>
                  <a:txBody>
                    <a:bodyPr/>
                    <a:lstStyle/>
                    <a:p>
                      <a:pPr>
                        <a:defRPr sz="800">
                          <a:solidFill>
                            <a:srgbClr val="333333"/>
                          </a:solidFill>
                          <a:latin typeface="Calibri"/>
                        </a:defRPr>
                      </a:pPr>
                      <a:r>
                        <a:t>sensor-mcp</a:t>
                      </a:r>
                    </a:p>
                  </a:txBody>
                  <a:tcPr>
                    <a:solidFill>
                      <a:srgbClr val="FFFFFF"/>
                    </a:solidFill>
                  </a:tcPr>
                </a:tc>
                <a:tc>
                  <a:txBody>
                    <a:bodyPr/>
                    <a:lstStyle/>
                    <a:p>
                      <a:pPr>
                        <a:defRPr sz="800">
                          <a:solidFill>
                            <a:srgbClr val="333333"/>
                          </a:solidFill>
                          <a:latin typeface="Calibri"/>
                        </a:defRPr>
                      </a:pPr>
                      <a:r>
                        <a:t>check_thresholds(state)</a:t>
                      </a:r>
                      <a:br/>
                      <a:r>
                        <a:t>get_alerts()</a:t>
                      </a:r>
                    </a:p>
                  </a:txBody>
                  <a:tcPr>
                    <a:solidFill>
                      <a:srgbClr val="FFFFFF"/>
                    </a:solidFill>
                  </a:tcPr>
                </a:tc>
                <a:tc>
                  <a:txBody>
                    <a:bodyPr/>
                    <a:lstStyle/>
                    <a:p>
                      <a:pPr>
                        <a:defRPr sz="800">
                          <a:solidFill>
                            <a:srgbClr val="333333"/>
                          </a:solidFill>
                          <a:latin typeface="Calibri"/>
                        </a:defRPr>
                      </a:pPr>
                      <a:r>
                        <a:t>ReactorState</a:t>
                      </a:r>
                      <a:br/>
                      <a:r>
                        <a:t>(11 fields)</a:t>
                      </a:r>
                    </a:p>
                  </a:txBody>
                  <a:tcPr>
                    <a:solidFill>
                      <a:srgbClr val="FFFFFF"/>
                    </a:solidFill>
                  </a:tcPr>
                </a:tc>
                <a:tc>
                  <a:txBody>
                    <a:bodyPr/>
                    <a:lstStyle/>
                    <a:p>
                      <a:pPr>
                        <a:defRPr sz="800">
                          <a:solidFill>
                            <a:srgbClr val="333333"/>
                          </a:solidFill>
                          <a:latin typeface="Calibri"/>
                        </a:defRPr>
                      </a:pPr>
                      <a:r>
                        <a:t>Alert[]</a:t>
                      </a:r>
                      <a:br/>
                      <a:r>
                        <a:t>(dimension, severity, value)</a:t>
                      </a:r>
                    </a:p>
                  </a:txBody>
                  <a:tcPr>
                    <a:solidFill>
                      <a:srgbClr val="FFFFFF"/>
                    </a:solidFill>
                  </a:tcPr>
                </a:tc>
                <a:tc>
                  <a:txBody>
                    <a:bodyPr/>
                    <a:lstStyle/>
                    <a:p>
                      <a:pPr>
                        <a:defRPr sz="800">
                          <a:solidFill>
                            <a:srgbClr val="333333"/>
                          </a:solidFill>
                          <a:latin typeface="Calibri"/>
                        </a:defRPr>
                      </a:pPr>
                      <a:r>
                        <a:t>AI Foundry, Semantic Kernel,</a:t>
                      </a:r>
                      <a:br/>
                      <a:r>
                        <a:t>AutoGen, LangChain</a:t>
                      </a:r>
                    </a:p>
                  </a:txBody>
                  <a:tcPr>
                    <a:solidFill>
                      <a:srgbClr val="FFFFFF"/>
                    </a:solidFill>
                  </a:tcPr>
                </a:tc>
                <a:extLst>
                  <a:ext uri="{0D108BD9-81ED-4DB2-BD59-A6C34878D82A}">
                    <a16:rowId xmlns:a16="http://schemas.microsoft.com/office/drawing/2014/main" val="10001"/>
                  </a:ext>
                </a:extLst>
              </a:tr>
              <a:tr h="299357">
                <a:tc>
                  <a:txBody>
                    <a:bodyPr/>
                    <a:lstStyle/>
                    <a:p>
                      <a:pPr>
                        <a:defRPr sz="800">
                          <a:solidFill>
                            <a:srgbClr val="333333"/>
                          </a:solidFill>
                          <a:latin typeface="Calibri"/>
                        </a:defRPr>
                      </a:pPr>
                      <a:r>
                        <a:t>risk-mcp</a:t>
                      </a:r>
                    </a:p>
                  </a:txBody>
                  <a:tcPr>
                    <a:solidFill>
                      <a:srgbClr val="F2F2F2"/>
                    </a:solidFill>
                  </a:tcPr>
                </a:tc>
                <a:tc>
                  <a:txBody>
                    <a:bodyPr/>
                    <a:lstStyle/>
                    <a:p>
                      <a:pPr>
                        <a:defRPr sz="800">
                          <a:solidFill>
                            <a:srgbClr val="333333"/>
                          </a:solidFill>
                          <a:latin typeface="Calibri"/>
                        </a:defRPr>
                      </a:pPr>
                      <a:r>
                        <a:t>assess_risk(state, alerts)</a:t>
                      </a:r>
                      <a:br/>
                      <a:r>
                        <a:t>get_score_history()</a:t>
                      </a:r>
                    </a:p>
                  </a:txBody>
                  <a:tcPr>
                    <a:solidFill>
                      <a:srgbClr val="F2F2F2"/>
                    </a:solidFill>
                  </a:tcPr>
                </a:tc>
                <a:tc>
                  <a:txBody>
                    <a:bodyPr/>
                    <a:lstStyle/>
                    <a:p>
                      <a:pPr>
                        <a:defRPr sz="800">
                          <a:solidFill>
                            <a:srgbClr val="333333"/>
                          </a:solidFill>
                          <a:latin typeface="Calibri"/>
                        </a:defRPr>
                      </a:pPr>
                      <a:r>
                        <a:t>State + Alert[]</a:t>
                      </a:r>
                    </a:p>
                  </a:txBody>
                  <a:tcPr>
                    <a:solidFill>
                      <a:srgbClr val="F2F2F2"/>
                    </a:solidFill>
                  </a:tcPr>
                </a:tc>
                <a:tc>
                  <a:txBody>
                    <a:bodyPr/>
                    <a:lstStyle/>
                    <a:p>
                      <a:pPr>
                        <a:defRPr sz="800">
                          <a:solidFill>
                            <a:srgbClr val="333333"/>
                          </a:solidFill>
                          <a:latin typeface="Calibri"/>
                        </a:defRPr>
                      </a:pPr>
                      <a:r>
                        <a:t>RiskScore (0-100) +</a:t>
                      </a:r>
                      <a:br/>
                      <a:r>
                        <a:t>trend + reasoning</a:t>
                      </a:r>
                    </a:p>
                  </a:txBody>
                  <a:tcPr>
                    <a:solidFill>
                      <a:srgbClr val="F2F2F2"/>
                    </a:solidFill>
                  </a:tcPr>
                </a:tc>
                <a:tc>
                  <a:txBody>
                    <a:bodyPr/>
                    <a:lstStyle/>
                    <a:p>
                      <a:pPr>
                        <a:defRPr sz="800">
                          <a:solidFill>
                            <a:srgbClr val="333333"/>
                          </a:solidFill>
                          <a:latin typeface="Calibri"/>
                        </a:defRPr>
                      </a:pPr>
                      <a:r>
                        <a:t>AI Foundry, AutoGen,</a:t>
                      </a:r>
                      <a:br/>
                      <a:r>
                        <a:t>Copilot Studio</a:t>
                      </a:r>
                    </a:p>
                  </a:txBody>
                  <a:tcPr>
                    <a:solidFill>
                      <a:srgbClr val="F2F2F2"/>
                    </a:solidFill>
                  </a:tcPr>
                </a:tc>
                <a:extLst>
                  <a:ext uri="{0D108BD9-81ED-4DB2-BD59-A6C34878D82A}">
                    <a16:rowId xmlns:a16="http://schemas.microsoft.com/office/drawing/2014/main" val="10002"/>
                  </a:ext>
                </a:extLst>
              </a:tr>
              <a:tr h="299357">
                <a:tc>
                  <a:txBody>
                    <a:bodyPr/>
                    <a:lstStyle/>
                    <a:p>
                      <a:pPr>
                        <a:defRPr sz="800">
                          <a:solidFill>
                            <a:srgbClr val="333333"/>
                          </a:solidFill>
                          <a:latin typeface="Calibri"/>
                        </a:defRPr>
                      </a:pPr>
                      <a:r>
                        <a:t>decision-mcp</a:t>
                      </a:r>
                    </a:p>
                  </a:txBody>
                  <a:tcPr>
                    <a:solidFill>
                      <a:srgbClr val="FFFFFF"/>
                    </a:solidFill>
                  </a:tcPr>
                </a:tc>
                <a:tc>
                  <a:txBody>
                    <a:bodyPr/>
                    <a:lstStyle/>
                    <a:p>
                      <a:pPr>
                        <a:defRPr sz="800">
                          <a:solidFill>
                            <a:srgbClr val="333333"/>
                          </a:solidFill>
                          <a:latin typeface="Calibri"/>
                        </a:defRPr>
                      </a:pPr>
                      <a:r>
                        <a:t>decide(state, risk_score)</a:t>
                      </a:r>
                      <a:br/>
                      <a:r>
                        <a:t>get_action_log()</a:t>
                      </a:r>
                    </a:p>
                  </a:txBody>
                  <a:tcPr>
                    <a:solidFill>
                      <a:srgbClr val="FFFFFF"/>
                    </a:solidFill>
                  </a:tcPr>
                </a:tc>
                <a:tc>
                  <a:txBody>
                    <a:bodyPr/>
                    <a:lstStyle/>
                    <a:p>
                      <a:pPr>
                        <a:defRPr sz="800">
                          <a:solidFill>
                            <a:srgbClr val="333333"/>
                          </a:solidFill>
                          <a:latin typeface="Calibri"/>
                        </a:defRPr>
                      </a:pPr>
                      <a:r>
                        <a:t>State + RiskScore</a:t>
                      </a:r>
                    </a:p>
                  </a:txBody>
                  <a:tcPr>
                    <a:solidFill>
                      <a:srgbClr val="FFFFFF"/>
                    </a:solidFill>
                  </a:tcPr>
                </a:tc>
                <a:tc>
                  <a:txBody>
                    <a:bodyPr/>
                    <a:lstStyle/>
                    <a:p>
                      <a:pPr>
                        <a:defRPr sz="800">
                          <a:solidFill>
                            <a:srgbClr val="333333"/>
                          </a:solidFill>
                          <a:latin typeface="Calibri"/>
                        </a:defRPr>
                      </a:pPr>
                      <a:r>
                        <a:t>Decision[] with source</a:t>
                      </a:r>
                      <a:br/>
                      <a:r>
                        <a:t>attribution (rule/llm)</a:t>
                      </a:r>
                    </a:p>
                  </a:txBody>
                  <a:tcPr>
                    <a:solidFill>
                      <a:srgbClr val="FFFFFF"/>
                    </a:solidFill>
                  </a:tcPr>
                </a:tc>
                <a:tc>
                  <a:txBody>
                    <a:bodyPr/>
                    <a:lstStyle/>
                    <a:p>
                      <a:pPr>
                        <a:defRPr sz="800">
                          <a:solidFill>
                            <a:srgbClr val="333333"/>
                          </a:solidFill>
                          <a:latin typeface="Calibri"/>
                        </a:defRPr>
                      </a:pPr>
                      <a:r>
                        <a:rPr dirty="0"/>
                        <a:t>Copilot Studio, Foundry,</a:t>
                      </a:r>
                      <a:br>
                        <a:rPr dirty="0"/>
                      </a:br>
                      <a:r>
                        <a:rPr dirty="0"/>
                        <a:t>Semantic Kernel</a:t>
                      </a:r>
                    </a:p>
                  </a:txBody>
                  <a:tcPr>
                    <a:solidFill>
                      <a:srgbClr val="FFFFFF"/>
                    </a:solidFill>
                  </a:tcPr>
                </a:tc>
                <a:extLst>
                  <a:ext uri="{0D108BD9-81ED-4DB2-BD59-A6C34878D82A}">
                    <a16:rowId xmlns:a16="http://schemas.microsoft.com/office/drawing/2014/main" val="10003"/>
                  </a:ext>
                </a:extLst>
              </a:tr>
              <a:tr h="299357">
                <a:tc>
                  <a:txBody>
                    <a:bodyPr/>
                    <a:lstStyle/>
                    <a:p>
                      <a:pPr>
                        <a:defRPr sz="800">
                          <a:solidFill>
                            <a:srgbClr val="333333"/>
                          </a:solidFill>
                          <a:latin typeface="Calibri"/>
                        </a:defRPr>
                      </a:pPr>
                      <a:r>
                        <a:t>evacuation-mcp</a:t>
                      </a:r>
                    </a:p>
                  </a:txBody>
                  <a:tcPr>
                    <a:solidFill>
                      <a:srgbClr val="F2F2F2"/>
                    </a:solidFill>
                  </a:tcPr>
                </a:tc>
                <a:tc>
                  <a:txBody>
                    <a:bodyPr/>
                    <a:lstStyle/>
                    <a:p>
                      <a:pPr>
                        <a:defRPr sz="800">
                          <a:solidFill>
                            <a:srgbClr val="333333"/>
                          </a:solidFill>
                          <a:latin typeface="Calibri"/>
                        </a:defRPr>
                      </a:pPr>
                      <a:r>
                        <a:t>plan_evacuation(pop, routes)</a:t>
                      </a:r>
                      <a:br/>
                      <a:r>
                        <a:t>get_progress()</a:t>
                      </a:r>
                    </a:p>
                  </a:txBody>
                  <a:tcPr>
                    <a:solidFill>
                      <a:srgbClr val="F2F2F2"/>
                    </a:solidFill>
                  </a:tcPr>
                </a:tc>
                <a:tc>
                  <a:txBody>
                    <a:bodyPr/>
                    <a:lstStyle/>
                    <a:p>
                      <a:pPr>
                        <a:defRPr sz="800">
                          <a:solidFill>
                            <a:srgbClr val="333333"/>
                          </a:solidFill>
                          <a:latin typeface="Calibri"/>
                        </a:defRPr>
                      </a:pPr>
                      <a:r>
                        <a:t>Population +</a:t>
                      </a:r>
                      <a:br/>
                      <a:r>
                        <a:t>Route configs</a:t>
                      </a:r>
                    </a:p>
                  </a:txBody>
                  <a:tcPr>
                    <a:solidFill>
                      <a:srgbClr val="F2F2F2"/>
                    </a:solidFill>
                  </a:tcPr>
                </a:tc>
                <a:tc>
                  <a:txBody>
                    <a:bodyPr/>
                    <a:lstStyle/>
                    <a:p>
                      <a:pPr>
                        <a:defRPr sz="800">
                          <a:solidFill>
                            <a:srgbClr val="333333"/>
                          </a:solidFill>
                          <a:latin typeface="Calibri"/>
                        </a:defRPr>
                      </a:pPr>
                      <a:r>
                        <a:t>EvacPlan + ETAs +</a:t>
                      </a:r>
                      <a:br/>
                      <a:r>
                        <a:t>bus assignments</a:t>
                      </a:r>
                    </a:p>
                  </a:txBody>
                  <a:tcPr>
                    <a:solidFill>
                      <a:srgbClr val="F2F2F2"/>
                    </a:solidFill>
                  </a:tcPr>
                </a:tc>
                <a:tc>
                  <a:txBody>
                    <a:bodyPr/>
                    <a:lstStyle/>
                    <a:p>
                      <a:pPr>
                        <a:defRPr sz="800">
                          <a:solidFill>
                            <a:srgbClr val="333333"/>
                          </a:solidFill>
                          <a:latin typeface="Calibri"/>
                        </a:defRPr>
                      </a:pPr>
                      <a:r>
                        <a:t>Semantic Kernel,</a:t>
                      </a:r>
                      <a:br/>
                      <a:r>
                        <a:t>AutoGen</a:t>
                      </a:r>
                    </a:p>
                  </a:txBody>
                  <a:tcPr>
                    <a:solidFill>
                      <a:srgbClr val="F2F2F2"/>
                    </a:solidFill>
                  </a:tcPr>
                </a:tc>
                <a:extLst>
                  <a:ext uri="{0D108BD9-81ED-4DB2-BD59-A6C34878D82A}">
                    <a16:rowId xmlns:a16="http://schemas.microsoft.com/office/drawing/2014/main" val="10004"/>
                  </a:ext>
                </a:extLst>
              </a:tr>
              <a:tr h="299357">
                <a:tc>
                  <a:txBody>
                    <a:bodyPr/>
                    <a:lstStyle/>
                    <a:p>
                      <a:pPr>
                        <a:defRPr sz="800">
                          <a:solidFill>
                            <a:srgbClr val="333333"/>
                          </a:solidFill>
                          <a:latin typeface="Calibri"/>
                        </a:defRPr>
                      </a:pPr>
                      <a:r>
                        <a:t>comms-mcp</a:t>
                      </a:r>
                    </a:p>
                  </a:txBody>
                  <a:tcPr>
                    <a:solidFill>
                      <a:srgbClr val="FFFFFF"/>
                    </a:solidFill>
                  </a:tcPr>
                </a:tc>
                <a:tc>
                  <a:txBody>
                    <a:bodyPr/>
                    <a:lstStyle/>
                    <a:p>
                      <a:pPr>
                        <a:defRPr sz="800">
                          <a:solidFill>
                            <a:srgbClr val="333333"/>
                          </a:solidFill>
                          <a:latin typeface="Calibri"/>
                        </a:defRPr>
                      </a:pPr>
                      <a:r>
                        <a:t>draft_alert(state, decisions)</a:t>
                      </a:r>
                      <a:br/>
                      <a:r>
                        <a:t>model_plume(params)</a:t>
                      </a:r>
                    </a:p>
                  </a:txBody>
                  <a:tcPr>
                    <a:solidFill>
                      <a:srgbClr val="FFFFFF"/>
                    </a:solidFill>
                  </a:tcPr>
                </a:tc>
                <a:tc>
                  <a:txBody>
                    <a:bodyPr/>
                    <a:lstStyle/>
                    <a:p>
                      <a:pPr>
                        <a:defRPr sz="800">
                          <a:solidFill>
                            <a:srgbClr val="333333"/>
                          </a:solidFill>
                          <a:latin typeface="Calibri"/>
                        </a:defRPr>
                      </a:pPr>
                      <a:r>
                        <a:t>State + Decision[]</a:t>
                      </a:r>
                      <a:br/>
                      <a:r>
                        <a:t>+ wind params</a:t>
                      </a:r>
                    </a:p>
                  </a:txBody>
                  <a:tcPr>
                    <a:solidFill>
                      <a:srgbClr val="FFFFFF"/>
                    </a:solidFill>
                  </a:tcPr>
                </a:tc>
                <a:tc>
                  <a:txBody>
                    <a:bodyPr/>
                    <a:lstStyle/>
                    <a:p>
                      <a:pPr>
                        <a:defRPr sz="800">
                          <a:solidFill>
                            <a:srgbClr val="333333"/>
                          </a:solidFill>
                          <a:latin typeface="Calibri"/>
                        </a:defRPr>
                      </a:pPr>
                      <a:r>
                        <a:t>AlertMsg +</a:t>
                      </a:r>
                      <a:br/>
                      <a:r>
                        <a:t>PlumeData[] (5-300km)</a:t>
                      </a:r>
                    </a:p>
                  </a:txBody>
                  <a:tcPr>
                    <a:solidFill>
                      <a:srgbClr val="FFFFFF"/>
                    </a:solidFill>
                  </a:tcPr>
                </a:tc>
                <a:tc>
                  <a:txBody>
                    <a:bodyPr/>
                    <a:lstStyle/>
                    <a:p>
                      <a:pPr>
                        <a:defRPr sz="800">
                          <a:solidFill>
                            <a:srgbClr val="333333"/>
                          </a:solidFill>
                          <a:latin typeface="Calibri"/>
                        </a:defRPr>
                      </a:pPr>
                      <a:r>
                        <a:rPr dirty="0"/>
                        <a:t>AI Foundry, </a:t>
                      </a:r>
                      <a:r>
                        <a:rPr dirty="0" err="1"/>
                        <a:t>AutoGen</a:t>
                      </a:r>
                      <a:r>
                        <a:rPr dirty="0"/>
                        <a:t>,</a:t>
                      </a:r>
                      <a:br>
                        <a:rPr dirty="0"/>
                      </a:br>
                      <a:r>
                        <a:rPr dirty="0" err="1"/>
                        <a:t>LangChain</a:t>
                      </a:r>
                      <a:endParaRPr dirty="0"/>
                    </a:p>
                  </a:txBody>
                  <a:tcPr>
                    <a:solidFill>
                      <a:srgbClr val="FFFFFF"/>
                    </a:solidFill>
                  </a:tcPr>
                </a:tc>
                <a:extLst>
                  <a:ext uri="{0D108BD9-81ED-4DB2-BD59-A6C34878D82A}">
                    <a16:rowId xmlns:a16="http://schemas.microsoft.com/office/drawing/2014/main" val="10005"/>
                  </a:ext>
                </a:extLst>
              </a:tr>
            </a:tbl>
          </a:graphicData>
        </a:graphic>
      </p:graphicFrame>
      <p:sp>
        <p:nvSpPr>
          <p:cNvPr id="6" name="Rounded Rectangle 5"/>
          <p:cNvSpPr/>
          <p:nvPr/>
        </p:nvSpPr>
        <p:spPr>
          <a:xfrm>
            <a:off x="457200" y="3405269"/>
            <a:ext cx="11277295" cy="150876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wrap="square" lIns="137160" tIns="73152" rtlCol="0" anchor="ctr"/>
          <a:lstStyle/>
          <a:p>
            <a:pPr algn="ctr">
              <a:spcBef>
                <a:spcPts val="0"/>
              </a:spcBef>
              <a:spcAft>
                <a:spcPts val="0"/>
              </a:spcAft>
              <a:defRPr sz="900">
                <a:solidFill>
                  <a:srgbClr val="333333"/>
                </a:solidFill>
                <a:latin typeface="Consolas"/>
              </a:defRPr>
            </a:pPr>
            <a:r>
              <a:rPr dirty="0"/>
              <a:t>THE REUSABLE PATTERN — Guardrail-Union Architecture (applies to ANY safety-critical domain):</a:t>
            </a:r>
          </a:p>
          <a:p>
            <a:pPr>
              <a:spcBef>
                <a:spcPts val="0"/>
              </a:spcBef>
              <a:spcAft>
                <a:spcPts val="0"/>
              </a:spcAft>
              <a:defRPr sz="900">
                <a:solidFill>
                  <a:srgbClr val="333333"/>
                </a:solidFill>
                <a:latin typeface="Consolas"/>
              </a:defRPr>
            </a:pPr>
            <a:r>
              <a:rPr dirty="0"/>
              <a:t>  1. Telemetry → Sensor Agent (deterministic threshold monitoring)</a:t>
            </a:r>
          </a:p>
          <a:p>
            <a:pPr>
              <a:spcBef>
                <a:spcPts val="0"/>
              </a:spcBef>
              <a:spcAft>
                <a:spcPts val="0"/>
              </a:spcAft>
              <a:defRPr sz="900">
                <a:solidFill>
                  <a:srgbClr val="333333"/>
                </a:solidFill>
                <a:latin typeface="Consolas"/>
              </a:defRPr>
            </a:pPr>
            <a:r>
              <a:rPr dirty="0"/>
              <a:t>  2. Alerts → Risk Agent (rule + AI blend scoring)</a:t>
            </a:r>
          </a:p>
          <a:p>
            <a:pPr>
              <a:spcBef>
                <a:spcPts val="0"/>
              </a:spcBef>
              <a:spcAft>
                <a:spcPts val="0"/>
              </a:spcAft>
              <a:defRPr sz="900">
                <a:solidFill>
                  <a:srgbClr val="333333"/>
                </a:solidFill>
                <a:latin typeface="Consolas"/>
              </a:defRPr>
            </a:pPr>
            <a:r>
              <a:rPr dirty="0"/>
              <a:t>  3. Risk Score → Decision Agent:</a:t>
            </a:r>
          </a:p>
          <a:p>
            <a:pPr>
              <a:spcBef>
                <a:spcPts val="0"/>
              </a:spcBef>
              <a:spcAft>
                <a:spcPts val="0"/>
              </a:spcAft>
              <a:defRPr sz="900">
                <a:solidFill>
                  <a:srgbClr val="333333"/>
                </a:solidFill>
                <a:latin typeface="Consolas"/>
              </a:defRPr>
            </a:pPr>
            <a:r>
              <a:rPr dirty="0"/>
              <a:t>     ├─ Rules run FIRST (safety floor — deterministic, non-negotiable)</a:t>
            </a:r>
          </a:p>
          <a:p>
            <a:pPr>
              <a:spcBef>
                <a:spcPts val="0"/>
              </a:spcBef>
              <a:spcAft>
                <a:spcPts val="0"/>
              </a:spcAft>
              <a:defRPr sz="900">
                <a:solidFill>
                  <a:srgbClr val="333333"/>
                </a:solidFill>
                <a:latin typeface="Consolas"/>
              </a:defRPr>
            </a:pPr>
            <a:r>
              <a:rPr dirty="0"/>
              <a:t>     ├─ AI runs SECOND (proactive advisory — adds early warnings)</a:t>
            </a:r>
          </a:p>
          <a:p>
            <a:pPr>
              <a:spcBef>
                <a:spcPts val="0"/>
              </a:spcBef>
              <a:spcAft>
                <a:spcPts val="0"/>
              </a:spcAft>
              <a:defRPr sz="900">
                <a:solidFill>
                  <a:srgbClr val="333333"/>
                </a:solidFill>
                <a:latin typeface="Consolas"/>
              </a:defRPr>
            </a:pPr>
            <a:r>
              <a:rPr dirty="0"/>
              <a:t>     └─ Final = UNION(rules, AI) — AI can ADD actions, never REMOVE</a:t>
            </a:r>
          </a:p>
          <a:p>
            <a:pPr>
              <a:spcBef>
                <a:spcPts val="0"/>
              </a:spcBef>
              <a:spcAft>
                <a:spcPts val="0"/>
              </a:spcAft>
              <a:defRPr sz="900">
                <a:solidFill>
                  <a:srgbClr val="333333"/>
                </a:solidFill>
                <a:latin typeface="Consolas"/>
              </a:defRPr>
            </a:pPr>
            <a:r>
              <a:rPr dirty="0"/>
              <a:t>  4. Hard guardrails are non-negotiable (no override path exists)</a:t>
            </a:r>
          </a:p>
          <a:p>
            <a:pPr>
              <a:spcBef>
                <a:spcPts val="0"/>
              </a:spcBef>
              <a:spcAft>
                <a:spcPts val="0"/>
              </a:spcAft>
              <a:defRPr sz="900">
                <a:solidFill>
                  <a:srgbClr val="333333"/>
                </a:solidFill>
                <a:latin typeface="Consolas"/>
              </a:defRPr>
            </a:pPr>
            <a:r>
              <a:rPr dirty="0"/>
              <a:t>  5. Graceful degradation to pure deterministic rules on any AI failure</a:t>
            </a:r>
          </a:p>
          <a:p>
            <a:pPr>
              <a:spcBef>
                <a:spcPts val="0"/>
              </a:spcBef>
              <a:spcAft>
                <a:spcPts val="0"/>
              </a:spcAft>
              <a:defRPr sz="900">
                <a:solidFill>
                  <a:srgbClr val="333333"/>
                </a:solidFill>
                <a:latin typeface="Consolas"/>
              </a:defRPr>
            </a:pPr>
            <a:r>
              <a:rPr dirty="0"/>
              <a:t>  6. Adversarial agent stress-tests all decisions under realistic human pressure</a:t>
            </a:r>
          </a:p>
        </p:txBody>
      </p:sp>
      <p:sp>
        <p:nvSpPr>
          <p:cNvPr id="7" name="TextBox 6"/>
          <p:cNvSpPr txBox="1"/>
          <p:nvPr/>
        </p:nvSpPr>
        <p:spPr>
          <a:xfrm>
            <a:off x="457200" y="4866132"/>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Cross-Industry Adaptation — 6 Modules to Change, Everything Else Transfers:</a:t>
            </a:r>
          </a:p>
        </p:txBody>
      </p:sp>
      <p:graphicFrame>
        <p:nvGraphicFramePr>
          <p:cNvPr id="8" name="Table 7"/>
          <p:cNvGraphicFramePr>
            <a:graphicFrameLocks noGrp="1"/>
          </p:cNvGraphicFramePr>
          <p:nvPr/>
        </p:nvGraphicFramePr>
        <p:xfrm>
          <a:off x="457200" y="5094732"/>
          <a:ext cx="11277295" cy="1371600"/>
        </p:xfrm>
        <a:graphic>
          <a:graphicData uri="http://schemas.openxmlformats.org/drawingml/2006/table">
            <a:tbl>
              <a:tblPr firstRow="1" bandRow="1">
                <a:tableStyleId>{5C22544A-7EE6-4342-B048-85BDC9FD1C3A}</a:tableStyleId>
              </a:tblPr>
              <a:tblGrid>
                <a:gridCol w="1879549">
                  <a:extLst>
                    <a:ext uri="{9D8B030D-6E8A-4147-A177-3AD203B41FA5}">
                      <a16:colId xmlns:a16="http://schemas.microsoft.com/office/drawing/2014/main" val="20000"/>
                    </a:ext>
                  </a:extLst>
                </a:gridCol>
                <a:gridCol w="1879549">
                  <a:extLst>
                    <a:ext uri="{9D8B030D-6E8A-4147-A177-3AD203B41FA5}">
                      <a16:colId xmlns:a16="http://schemas.microsoft.com/office/drawing/2014/main" val="20001"/>
                    </a:ext>
                  </a:extLst>
                </a:gridCol>
                <a:gridCol w="1879549">
                  <a:extLst>
                    <a:ext uri="{9D8B030D-6E8A-4147-A177-3AD203B41FA5}">
                      <a16:colId xmlns:a16="http://schemas.microsoft.com/office/drawing/2014/main" val="20002"/>
                    </a:ext>
                  </a:extLst>
                </a:gridCol>
                <a:gridCol w="1879549">
                  <a:extLst>
                    <a:ext uri="{9D8B030D-6E8A-4147-A177-3AD203B41FA5}">
                      <a16:colId xmlns:a16="http://schemas.microsoft.com/office/drawing/2014/main" val="20003"/>
                    </a:ext>
                  </a:extLst>
                </a:gridCol>
                <a:gridCol w="1879549">
                  <a:extLst>
                    <a:ext uri="{9D8B030D-6E8A-4147-A177-3AD203B41FA5}">
                      <a16:colId xmlns:a16="http://schemas.microsoft.com/office/drawing/2014/main" val="20004"/>
                    </a:ext>
                  </a:extLst>
                </a:gridCol>
                <a:gridCol w="1879550">
                  <a:extLst>
                    <a:ext uri="{9D8B030D-6E8A-4147-A177-3AD203B41FA5}">
                      <a16:colId xmlns:a16="http://schemas.microsoft.com/office/drawing/2014/main" val="20005"/>
                    </a:ext>
                  </a:extLst>
                </a:gridCol>
              </a:tblGrid>
              <a:tr h="274320">
                <a:tc>
                  <a:txBody>
                    <a:bodyPr/>
                    <a:lstStyle/>
                    <a:p>
                      <a:pPr>
                        <a:defRPr sz="900" b="1">
                          <a:solidFill>
                            <a:srgbClr val="FFFFFF"/>
                          </a:solidFill>
                          <a:latin typeface="Calibri"/>
                        </a:defRPr>
                      </a:pPr>
                      <a:r>
                        <a:t>Industry</a:t>
                      </a:r>
                    </a:p>
                  </a:txBody>
                  <a:tcPr>
                    <a:solidFill>
                      <a:srgbClr val="009B8D"/>
                    </a:solidFill>
                  </a:tcPr>
                </a:tc>
                <a:tc>
                  <a:txBody>
                    <a:bodyPr/>
                    <a:lstStyle/>
                    <a:p>
                      <a:pPr>
                        <a:defRPr sz="900" b="1">
                          <a:solidFill>
                            <a:srgbClr val="FFFFFF"/>
                          </a:solidFill>
                          <a:latin typeface="Calibri"/>
                        </a:defRPr>
                      </a:pPr>
                      <a:r>
                        <a:t>ReactorState →</a:t>
                      </a:r>
                    </a:p>
                  </a:txBody>
                  <a:tcPr>
                    <a:solidFill>
                      <a:srgbClr val="009B8D"/>
                    </a:solidFill>
                  </a:tcPr>
                </a:tc>
                <a:tc>
                  <a:txBody>
                    <a:bodyPr/>
                    <a:lstStyle/>
                    <a:p>
                      <a:pPr>
                        <a:defRPr sz="900" b="1">
                          <a:solidFill>
                            <a:srgbClr val="FFFFFF"/>
                          </a:solidFill>
                          <a:latin typeface="Calibri"/>
                        </a:defRPr>
                      </a:pPr>
                      <a:r>
                        <a:t>SCRAM →</a:t>
                      </a:r>
                    </a:p>
                  </a:txBody>
                  <a:tcPr>
                    <a:solidFill>
                      <a:srgbClr val="009B8D"/>
                    </a:solidFill>
                  </a:tcPr>
                </a:tc>
                <a:tc>
                  <a:txBody>
                    <a:bodyPr/>
                    <a:lstStyle/>
                    <a:p>
                      <a:pPr>
                        <a:defRPr sz="900" b="1">
                          <a:solidFill>
                            <a:srgbClr val="FFFFFF"/>
                          </a:solidFill>
                          <a:latin typeface="Calibri"/>
                        </a:defRPr>
                      </a:pPr>
                      <a:r>
                        <a:t>Radiation →</a:t>
                      </a:r>
                    </a:p>
                  </a:txBody>
                  <a:tcPr>
                    <a:solidFill>
                      <a:srgbClr val="009B8D"/>
                    </a:solidFill>
                  </a:tcPr>
                </a:tc>
                <a:tc>
                  <a:txBody>
                    <a:bodyPr/>
                    <a:lstStyle/>
                    <a:p>
                      <a:pPr>
                        <a:defRPr sz="900" b="1">
                          <a:solidFill>
                            <a:srgbClr val="FFFFFF"/>
                          </a:solidFill>
                          <a:latin typeface="Calibri"/>
                        </a:defRPr>
                      </a:pPr>
                      <a:r>
                        <a:t>Dyatlov →</a:t>
                      </a:r>
                    </a:p>
                  </a:txBody>
                  <a:tcPr>
                    <a:solidFill>
                      <a:srgbClr val="009B8D"/>
                    </a:solidFill>
                  </a:tcPr>
                </a:tc>
                <a:tc>
                  <a:txBody>
                    <a:bodyPr/>
                    <a:lstStyle/>
                    <a:p>
                      <a:pPr>
                        <a:defRPr sz="900" b="1">
                          <a:solidFill>
                            <a:srgbClr val="FFFFFF"/>
                          </a:solidFill>
                          <a:latin typeface="Calibri"/>
                        </a:defRPr>
                      </a:pPr>
                      <a:r>
                        <a:t>IAEA →</a:t>
                      </a:r>
                    </a:p>
                  </a:txBody>
                  <a:tcPr>
                    <a:solidFill>
                      <a:srgbClr val="009B8D"/>
                    </a:solidFill>
                  </a:tcPr>
                </a:tc>
                <a:extLst>
                  <a:ext uri="{0D108BD9-81ED-4DB2-BD59-A6C34878D82A}">
                    <a16:rowId xmlns:a16="http://schemas.microsoft.com/office/drawing/2014/main" val="10000"/>
                  </a:ext>
                </a:extLst>
              </a:tr>
              <a:tr h="274320">
                <a:tc>
                  <a:txBody>
                    <a:bodyPr/>
                    <a:lstStyle/>
                    <a:p>
                      <a:pPr>
                        <a:defRPr sz="800">
                          <a:solidFill>
                            <a:srgbClr val="333333"/>
                          </a:solidFill>
                          <a:latin typeface="Calibri"/>
                        </a:defRPr>
                      </a:pPr>
                      <a:r>
                        <a:t>Oil &amp; Gas</a:t>
                      </a:r>
                    </a:p>
                  </a:txBody>
                  <a:tcPr>
                    <a:solidFill>
                      <a:srgbClr val="FFFFFF"/>
                    </a:solidFill>
                  </a:tcPr>
                </a:tc>
                <a:tc>
                  <a:txBody>
                    <a:bodyPr/>
                    <a:lstStyle/>
                    <a:p>
                      <a:pPr>
                        <a:defRPr sz="800">
                          <a:solidFill>
                            <a:srgbClr val="333333"/>
                          </a:solidFill>
                          <a:latin typeface="Calibri"/>
                        </a:defRPr>
                      </a:pPr>
                      <a:r>
                        <a:t>WellState (PSI, flow)</a:t>
                      </a:r>
                    </a:p>
                  </a:txBody>
                  <a:tcPr>
                    <a:solidFill>
                      <a:srgbClr val="FFFFFF"/>
                    </a:solidFill>
                  </a:tcPr>
                </a:tc>
                <a:tc>
                  <a:txBody>
                    <a:bodyPr/>
                    <a:lstStyle/>
                    <a:p>
                      <a:pPr>
                        <a:defRPr sz="800">
                          <a:solidFill>
                            <a:srgbClr val="333333"/>
                          </a:solidFill>
                          <a:latin typeface="Calibri"/>
                        </a:defRPr>
                      </a:pPr>
                      <a:r>
                        <a:t>Emergency Well Shutdown</a:t>
                      </a:r>
                    </a:p>
                  </a:txBody>
                  <a:tcPr>
                    <a:solidFill>
                      <a:srgbClr val="FFFFFF"/>
                    </a:solidFill>
                  </a:tcPr>
                </a:tc>
                <a:tc>
                  <a:txBody>
                    <a:bodyPr/>
                    <a:lstStyle/>
                    <a:p>
                      <a:pPr>
                        <a:defRPr sz="800">
                          <a:solidFill>
                            <a:srgbClr val="333333"/>
                          </a:solidFill>
                          <a:latin typeface="Calibri"/>
                        </a:defRPr>
                      </a:pPr>
                      <a:r>
                        <a:t>H₂S / blowout</a:t>
                      </a:r>
                    </a:p>
                  </a:txBody>
                  <a:tcPr>
                    <a:solidFill>
                      <a:srgbClr val="FFFFFF"/>
                    </a:solidFill>
                  </a:tcPr>
                </a:tc>
                <a:tc>
                  <a:txBody>
                    <a:bodyPr/>
                    <a:lstStyle/>
                    <a:p>
                      <a:pPr>
                        <a:defRPr sz="800">
                          <a:solidFill>
                            <a:srgbClr val="333333"/>
                          </a:solidFill>
                          <a:latin typeface="Calibri"/>
                        </a:defRPr>
                      </a:pPr>
                      <a:r>
                        <a:t>Production Manager pressure</a:t>
                      </a:r>
                    </a:p>
                  </a:txBody>
                  <a:tcPr>
                    <a:solidFill>
                      <a:srgbClr val="FFFFFF"/>
                    </a:solidFill>
                  </a:tcPr>
                </a:tc>
                <a:tc>
                  <a:txBody>
                    <a:bodyPr/>
                    <a:lstStyle/>
                    <a:p>
                      <a:pPr>
                        <a:defRPr sz="800">
                          <a:solidFill>
                            <a:srgbClr val="333333"/>
                          </a:solidFill>
                          <a:latin typeface="Calibri"/>
                        </a:defRPr>
                      </a:pPr>
                      <a:r>
                        <a:t>BSEE + Coast Guard</a:t>
                      </a:r>
                    </a:p>
                  </a:txBody>
                  <a:tcPr>
                    <a:solidFill>
                      <a:srgbClr val="FFFFFF"/>
                    </a:solidFill>
                  </a:tcPr>
                </a:tc>
                <a:extLst>
                  <a:ext uri="{0D108BD9-81ED-4DB2-BD59-A6C34878D82A}">
                    <a16:rowId xmlns:a16="http://schemas.microsoft.com/office/drawing/2014/main" val="10001"/>
                  </a:ext>
                </a:extLst>
              </a:tr>
              <a:tr h="274320">
                <a:tc>
                  <a:txBody>
                    <a:bodyPr/>
                    <a:lstStyle/>
                    <a:p>
                      <a:pPr>
                        <a:defRPr sz="800">
                          <a:solidFill>
                            <a:srgbClr val="333333"/>
                          </a:solidFill>
                          <a:latin typeface="Calibri"/>
                        </a:defRPr>
                      </a:pPr>
                      <a:r>
                        <a:t>Aviation</a:t>
                      </a:r>
                    </a:p>
                  </a:txBody>
                  <a:tcPr>
                    <a:solidFill>
                      <a:srgbClr val="F2F2F2"/>
                    </a:solidFill>
                  </a:tcPr>
                </a:tc>
                <a:tc>
                  <a:txBody>
                    <a:bodyPr/>
                    <a:lstStyle/>
                    <a:p>
                      <a:pPr>
                        <a:defRPr sz="800">
                          <a:solidFill>
                            <a:srgbClr val="333333"/>
                          </a:solidFill>
                          <a:latin typeface="Calibri"/>
                        </a:defRPr>
                      </a:pPr>
                      <a:r>
                        <a:t>FlightState (alt, speed)</a:t>
                      </a:r>
                    </a:p>
                  </a:txBody>
                  <a:tcPr>
                    <a:solidFill>
                      <a:srgbClr val="F2F2F2"/>
                    </a:solidFill>
                  </a:tcPr>
                </a:tc>
                <a:tc>
                  <a:txBody>
                    <a:bodyPr/>
                    <a:lstStyle/>
                    <a:p>
                      <a:pPr>
                        <a:defRPr sz="800">
                          <a:solidFill>
                            <a:srgbClr val="333333"/>
                          </a:solidFill>
                          <a:latin typeface="Calibri"/>
                        </a:defRPr>
                      </a:pPr>
                      <a:r>
                        <a:t>Go-Around / Diversion</a:t>
                      </a:r>
                    </a:p>
                  </a:txBody>
                  <a:tcPr>
                    <a:solidFill>
                      <a:srgbClr val="F2F2F2"/>
                    </a:solidFill>
                  </a:tcPr>
                </a:tc>
                <a:tc>
                  <a:txBody>
                    <a:bodyPr/>
                    <a:lstStyle/>
                    <a:p>
                      <a:pPr>
                        <a:defRPr sz="800">
                          <a:solidFill>
                            <a:srgbClr val="333333"/>
                          </a:solidFill>
                          <a:latin typeface="Calibri"/>
                        </a:defRPr>
                      </a:pPr>
                      <a:r>
                        <a:t>Turbulence / bird strike</a:t>
                      </a:r>
                    </a:p>
                  </a:txBody>
                  <a:tcPr>
                    <a:solidFill>
                      <a:srgbClr val="F2F2F2"/>
                    </a:solidFill>
                  </a:tcPr>
                </a:tc>
                <a:tc>
                  <a:txBody>
                    <a:bodyPr/>
                    <a:lstStyle/>
                    <a:p>
                      <a:pPr>
                        <a:defRPr sz="800">
                          <a:solidFill>
                            <a:srgbClr val="333333"/>
                          </a:solidFill>
                          <a:latin typeface="Calibri"/>
                        </a:defRPr>
                      </a:pPr>
                      <a:r>
                        <a:t>Captain authority gradient</a:t>
                      </a:r>
                    </a:p>
                  </a:txBody>
                  <a:tcPr>
                    <a:solidFill>
                      <a:srgbClr val="F2F2F2"/>
                    </a:solidFill>
                  </a:tcPr>
                </a:tc>
                <a:tc>
                  <a:txBody>
                    <a:bodyPr/>
                    <a:lstStyle/>
                    <a:p>
                      <a:pPr>
                        <a:defRPr sz="800">
                          <a:solidFill>
                            <a:srgbClr val="333333"/>
                          </a:solidFill>
                          <a:latin typeface="Calibri"/>
                        </a:defRPr>
                      </a:pPr>
                      <a:r>
                        <a:t>ATC + NTSB</a:t>
                      </a:r>
                    </a:p>
                  </a:txBody>
                  <a:tcPr>
                    <a:solidFill>
                      <a:srgbClr val="F2F2F2"/>
                    </a:solidFill>
                  </a:tcPr>
                </a:tc>
                <a:extLst>
                  <a:ext uri="{0D108BD9-81ED-4DB2-BD59-A6C34878D82A}">
                    <a16:rowId xmlns:a16="http://schemas.microsoft.com/office/drawing/2014/main" val="10002"/>
                  </a:ext>
                </a:extLst>
              </a:tr>
              <a:tr h="274320">
                <a:tc>
                  <a:txBody>
                    <a:bodyPr/>
                    <a:lstStyle/>
                    <a:p>
                      <a:pPr>
                        <a:defRPr sz="800">
                          <a:solidFill>
                            <a:srgbClr val="333333"/>
                          </a:solidFill>
                          <a:latin typeface="Calibri"/>
                        </a:defRPr>
                      </a:pPr>
                      <a:r>
                        <a:t>Pharmaceuticals</a:t>
                      </a:r>
                    </a:p>
                  </a:txBody>
                  <a:tcPr>
                    <a:solidFill>
                      <a:srgbClr val="FFFFFF"/>
                    </a:solidFill>
                  </a:tcPr>
                </a:tc>
                <a:tc>
                  <a:txBody>
                    <a:bodyPr/>
                    <a:lstStyle/>
                    <a:p>
                      <a:pPr>
                        <a:defRPr sz="800">
                          <a:solidFill>
                            <a:srgbClr val="333333"/>
                          </a:solidFill>
                          <a:latin typeface="Calibri"/>
                        </a:defRPr>
                      </a:pPr>
                      <a:r>
                        <a:t>BatchState (pH, temp)</a:t>
                      </a:r>
                    </a:p>
                  </a:txBody>
                  <a:tcPr>
                    <a:solidFill>
                      <a:srgbClr val="FFFFFF"/>
                    </a:solidFill>
                  </a:tcPr>
                </a:tc>
                <a:tc>
                  <a:txBody>
                    <a:bodyPr/>
                    <a:lstStyle/>
                    <a:p>
                      <a:pPr>
                        <a:defRPr sz="800">
                          <a:solidFill>
                            <a:srgbClr val="333333"/>
                          </a:solidFill>
                          <a:latin typeface="Calibri"/>
                        </a:defRPr>
                      </a:pPr>
                      <a:r>
                        <a:t>Batch Rejection / Lockdown</a:t>
                      </a:r>
                    </a:p>
                  </a:txBody>
                  <a:tcPr>
                    <a:solidFill>
                      <a:srgbClr val="FFFFFF"/>
                    </a:solidFill>
                  </a:tcPr>
                </a:tc>
                <a:tc>
                  <a:txBody>
                    <a:bodyPr/>
                    <a:lstStyle/>
                    <a:p>
                      <a:pPr>
                        <a:defRPr sz="800">
                          <a:solidFill>
                            <a:srgbClr val="333333"/>
                          </a:solidFill>
                          <a:latin typeface="Calibri"/>
                        </a:defRPr>
                      </a:pPr>
                      <a:r>
                        <a:t>Contamination risk</a:t>
                      </a:r>
                    </a:p>
                  </a:txBody>
                  <a:tcPr>
                    <a:solidFill>
                      <a:srgbClr val="FFFFFF"/>
                    </a:solidFill>
                  </a:tcPr>
                </a:tc>
                <a:tc>
                  <a:txBody>
                    <a:bodyPr/>
                    <a:lstStyle/>
                    <a:p>
                      <a:pPr>
                        <a:defRPr sz="800">
                          <a:solidFill>
                            <a:srgbClr val="333333"/>
                          </a:solidFill>
                          <a:latin typeface="Calibri"/>
                        </a:defRPr>
                      </a:pPr>
                      <a:r>
                        <a:t>Manufacturing quota</a:t>
                      </a:r>
                    </a:p>
                  </a:txBody>
                  <a:tcPr>
                    <a:solidFill>
                      <a:srgbClr val="FFFFFF"/>
                    </a:solidFill>
                  </a:tcPr>
                </a:tc>
                <a:tc>
                  <a:txBody>
                    <a:bodyPr/>
                    <a:lstStyle/>
                    <a:p>
                      <a:pPr>
                        <a:defRPr sz="800">
                          <a:solidFill>
                            <a:srgbClr val="333333"/>
                          </a:solidFill>
                          <a:latin typeface="Calibri"/>
                        </a:defRPr>
                      </a:pPr>
                      <a:r>
                        <a:t>FDA + recall notice</a:t>
                      </a:r>
                    </a:p>
                  </a:txBody>
                  <a:tcPr>
                    <a:solidFill>
                      <a:srgbClr val="FFFFFF"/>
                    </a:solidFill>
                  </a:tcPr>
                </a:tc>
                <a:extLst>
                  <a:ext uri="{0D108BD9-81ED-4DB2-BD59-A6C34878D82A}">
                    <a16:rowId xmlns:a16="http://schemas.microsoft.com/office/drawing/2014/main" val="10003"/>
                  </a:ext>
                </a:extLst>
              </a:tr>
              <a:tr h="274320">
                <a:tc>
                  <a:txBody>
                    <a:bodyPr/>
                    <a:lstStyle/>
                    <a:p>
                      <a:pPr>
                        <a:defRPr sz="800">
                          <a:solidFill>
                            <a:srgbClr val="333333"/>
                          </a:solidFill>
                          <a:latin typeface="Calibri"/>
                        </a:defRPr>
                      </a:pPr>
                      <a:r>
                        <a:t>Power Grid</a:t>
                      </a:r>
                    </a:p>
                  </a:txBody>
                  <a:tcPr>
                    <a:solidFill>
                      <a:srgbClr val="F2F2F2"/>
                    </a:solidFill>
                  </a:tcPr>
                </a:tc>
                <a:tc>
                  <a:txBody>
                    <a:bodyPr/>
                    <a:lstStyle/>
                    <a:p>
                      <a:pPr>
                        <a:defRPr sz="800">
                          <a:solidFill>
                            <a:srgbClr val="333333"/>
                          </a:solidFill>
                          <a:latin typeface="Calibri"/>
                        </a:defRPr>
                      </a:pPr>
                      <a:r>
                        <a:t>GridState (V, Hz, MW)</a:t>
                      </a:r>
                    </a:p>
                  </a:txBody>
                  <a:tcPr>
                    <a:solidFill>
                      <a:srgbClr val="F2F2F2"/>
                    </a:solidFill>
                  </a:tcPr>
                </a:tc>
                <a:tc>
                  <a:txBody>
                    <a:bodyPr/>
                    <a:lstStyle/>
                    <a:p>
                      <a:pPr>
                        <a:defRPr sz="800">
                          <a:solidFill>
                            <a:srgbClr val="333333"/>
                          </a:solidFill>
                          <a:latin typeface="Calibri"/>
                        </a:defRPr>
                      </a:pPr>
                      <a:r>
                        <a:t>Load Shedding / Islanding</a:t>
                      </a:r>
                    </a:p>
                  </a:txBody>
                  <a:tcPr>
                    <a:solidFill>
                      <a:srgbClr val="F2F2F2"/>
                    </a:solidFill>
                  </a:tcPr>
                </a:tc>
                <a:tc>
                  <a:txBody>
                    <a:bodyPr/>
                    <a:lstStyle/>
                    <a:p>
                      <a:pPr>
                        <a:defRPr sz="800">
                          <a:solidFill>
                            <a:srgbClr val="333333"/>
                          </a:solidFill>
                          <a:latin typeface="Calibri"/>
                        </a:defRPr>
                      </a:pPr>
                      <a:r>
                        <a:t>Frequency deviation</a:t>
                      </a:r>
                    </a:p>
                  </a:txBody>
                  <a:tcPr>
                    <a:solidFill>
                      <a:srgbClr val="F2F2F2"/>
                    </a:solidFill>
                  </a:tcPr>
                </a:tc>
                <a:tc>
                  <a:txBody>
                    <a:bodyPr/>
                    <a:lstStyle/>
                    <a:p>
                      <a:pPr>
                        <a:defRPr sz="800">
                          <a:solidFill>
                            <a:srgbClr val="333333"/>
                          </a:solidFill>
                          <a:latin typeface="Calibri"/>
                        </a:defRPr>
                      </a:pPr>
                      <a:r>
                        <a:t>Dispatcher congestion</a:t>
                      </a:r>
                    </a:p>
                  </a:txBody>
                  <a:tcPr>
                    <a:solidFill>
                      <a:srgbClr val="F2F2F2"/>
                    </a:solidFill>
                  </a:tcPr>
                </a:tc>
                <a:tc>
                  <a:txBody>
                    <a:bodyPr/>
                    <a:lstStyle/>
                    <a:p>
                      <a:pPr>
                        <a:defRPr sz="800">
                          <a:solidFill>
                            <a:srgbClr val="333333"/>
                          </a:solidFill>
                          <a:latin typeface="Calibri"/>
                        </a:defRPr>
                      </a:pPr>
                      <a:r>
                        <a:t>NERC + ISO report</a:t>
                      </a:r>
                    </a:p>
                  </a:txBody>
                  <a:tcPr>
                    <a:solidFill>
                      <a:srgbClr val="F2F2F2"/>
                    </a:solidFill>
                  </a:tcPr>
                </a:tc>
                <a:extLst>
                  <a:ext uri="{0D108BD9-81ED-4DB2-BD59-A6C34878D82A}">
                    <a16:rowId xmlns:a16="http://schemas.microsoft.com/office/drawing/2014/main" val="10004"/>
                  </a:ext>
                </a:extLst>
              </a:tr>
            </a:tbl>
          </a:graphicData>
        </a:graphic>
      </p:graphicFrame>
      <p:sp>
        <p:nvSpPr>
          <p:cNvPr id="9" name="Rectangle 8"/>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1" name="TextBox 10"/>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18/20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43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wrap="square" lIns="457200" tIns="137160" rIns="457200" rtlCol="0" anchor="ctr"/>
          <a:lstStyle/>
          <a:p>
            <a:pPr algn="l">
              <a:spcBef>
                <a:spcPts val="100"/>
              </a:spcBef>
              <a:spcAft>
                <a:spcPts val="100"/>
              </a:spcAft>
              <a:defRPr sz="2200" b="1">
                <a:solidFill>
                  <a:srgbClr val="FFFFFF"/>
                </a:solidFill>
                <a:latin typeface="Calibri"/>
              </a:defRPr>
            </a:pPr>
            <a:r>
              <a:t>Real-World Validation &amp; Impact</a:t>
            </a:r>
          </a:p>
          <a:p>
            <a:pPr algn="l">
              <a:spcBef>
                <a:spcPts val="100"/>
              </a:spcBef>
              <a:spcAft>
                <a:spcPts val="100"/>
              </a:spcAft>
              <a:defRPr sz="1300" b="0">
                <a:solidFill>
                  <a:srgbClr val="88BBDD"/>
                </a:solidFill>
                <a:latin typeface="Calibri"/>
              </a:defRPr>
            </a:pPr>
            <a:r>
              <a:t>Same architecture pattern deployed in production for 45 million people</a:t>
            </a:r>
          </a:p>
        </p:txBody>
      </p:sp>
      <p:sp>
        <p:nvSpPr>
          <p:cNvPr id="3" name="Rectangle 2"/>
          <p:cNvSpPr/>
          <p:nvPr/>
        </p:nvSpPr>
        <p:spPr>
          <a:xfrm>
            <a:off x="0" y="114300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254252"/>
            <a:ext cx="11277295" cy="228600"/>
          </a:xfrm>
          <a:prstGeom prst="rect">
            <a:avLst/>
          </a:prstGeom>
          <a:noFill/>
        </p:spPr>
        <p:txBody>
          <a:bodyPr wrap="square">
            <a:spAutoFit/>
          </a:bodyPr>
          <a:lstStyle/>
          <a:p>
            <a:pPr algn="l">
              <a:spcBef>
                <a:spcPts val="100"/>
              </a:spcBef>
              <a:spcAft>
                <a:spcPts val="100"/>
              </a:spcAft>
              <a:defRPr sz="1100" b="1">
                <a:solidFill>
                  <a:srgbClr val="0C2340"/>
                </a:solidFill>
                <a:latin typeface="Calibri"/>
              </a:defRPr>
            </a:pPr>
            <a:r>
              <a:t>Industry Deployments Using the Same Guardrail-Union Pattern:</a:t>
            </a:r>
          </a:p>
        </p:txBody>
      </p:sp>
      <p:graphicFrame>
        <p:nvGraphicFramePr>
          <p:cNvPr id="5" name="Table 4"/>
          <p:cNvGraphicFramePr>
            <a:graphicFrameLocks noGrp="1"/>
          </p:cNvGraphicFramePr>
          <p:nvPr>
            <p:extLst>
              <p:ext uri="{D42A27DB-BD31-4B8C-83A1-F6EECF244321}">
                <p14:modId xmlns:p14="http://schemas.microsoft.com/office/powerpoint/2010/main" val="3383344868"/>
              </p:ext>
            </p:extLst>
          </p:nvPr>
        </p:nvGraphicFramePr>
        <p:xfrm>
          <a:off x="457200" y="1482852"/>
          <a:ext cx="11277295" cy="1589561"/>
        </p:xfrm>
        <a:graphic>
          <a:graphicData uri="http://schemas.openxmlformats.org/drawingml/2006/table">
            <a:tbl>
              <a:tblPr firstRow="1" bandRow="1">
                <a:tableStyleId>{5C22544A-7EE6-4342-B048-85BDC9FD1C3A}</a:tableStyleId>
              </a:tblPr>
              <a:tblGrid>
                <a:gridCol w="2255459">
                  <a:extLst>
                    <a:ext uri="{9D8B030D-6E8A-4147-A177-3AD203B41FA5}">
                      <a16:colId xmlns:a16="http://schemas.microsoft.com/office/drawing/2014/main" val="20000"/>
                    </a:ext>
                  </a:extLst>
                </a:gridCol>
                <a:gridCol w="2255459">
                  <a:extLst>
                    <a:ext uri="{9D8B030D-6E8A-4147-A177-3AD203B41FA5}">
                      <a16:colId xmlns:a16="http://schemas.microsoft.com/office/drawing/2014/main" val="20001"/>
                    </a:ext>
                  </a:extLst>
                </a:gridCol>
                <a:gridCol w="2255459">
                  <a:extLst>
                    <a:ext uri="{9D8B030D-6E8A-4147-A177-3AD203B41FA5}">
                      <a16:colId xmlns:a16="http://schemas.microsoft.com/office/drawing/2014/main" val="20002"/>
                    </a:ext>
                  </a:extLst>
                </a:gridCol>
                <a:gridCol w="2255459">
                  <a:extLst>
                    <a:ext uri="{9D8B030D-6E8A-4147-A177-3AD203B41FA5}">
                      <a16:colId xmlns:a16="http://schemas.microsoft.com/office/drawing/2014/main" val="20003"/>
                    </a:ext>
                  </a:extLst>
                </a:gridCol>
                <a:gridCol w="2255459">
                  <a:extLst>
                    <a:ext uri="{9D8B030D-6E8A-4147-A177-3AD203B41FA5}">
                      <a16:colId xmlns:a16="http://schemas.microsoft.com/office/drawing/2014/main" val="20004"/>
                    </a:ext>
                  </a:extLst>
                </a:gridCol>
              </a:tblGrid>
              <a:tr h="248441">
                <a:tc>
                  <a:txBody>
                    <a:bodyPr/>
                    <a:lstStyle/>
                    <a:p>
                      <a:pPr>
                        <a:defRPr sz="900" b="1">
                          <a:solidFill>
                            <a:srgbClr val="FFFFFF"/>
                          </a:solidFill>
                          <a:latin typeface="Calibri"/>
                        </a:defRPr>
                      </a:pPr>
                      <a:r>
                        <a:t>Deployment</a:t>
                      </a:r>
                    </a:p>
                  </a:txBody>
                  <a:tcPr>
                    <a:solidFill>
                      <a:srgbClr val="009B8D"/>
                    </a:solidFill>
                  </a:tcPr>
                </a:tc>
                <a:tc>
                  <a:txBody>
                    <a:bodyPr/>
                    <a:lstStyle/>
                    <a:p>
                      <a:pPr>
                        <a:defRPr sz="900" b="1">
                          <a:solidFill>
                            <a:srgbClr val="FFFFFF"/>
                          </a:solidFill>
                          <a:latin typeface="Calibri"/>
                        </a:defRPr>
                      </a:pPr>
                      <a:r>
                        <a:t>Organization</a:t>
                      </a:r>
                    </a:p>
                  </a:txBody>
                  <a:tcPr>
                    <a:solidFill>
                      <a:srgbClr val="009B8D"/>
                    </a:solidFill>
                  </a:tcPr>
                </a:tc>
                <a:tc>
                  <a:txBody>
                    <a:bodyPr/>
                    <a:lstStyle/>
                    <a:p>
                      <a:pPr>
                        <a:defRPr sz="900" b="1">
                          <a:solidFill>
                            <a:srgbClr val="FFFFFF"/>
                          </a:solidFill>
                          <a:latin typeface="Calibri"/>
                        </a:defRPr>
                      </a:pPr>
                      <a:r>
                        <a:t>Scale</a:t>
                      </a:r>
                    </a:p>
                  </a:txBody>
                  <a:tcPr>
                    <a:solidFill>
                      <a:srgbClr val="009B8D"/>
                    </a:solidFill>
                  </a:tcPr>
                </a:tc>
                <a:tc>
                  <a:txBody>
                    <a:bodyPr/>
                    <a:lstStyle/>
                    <a:p>
                      <a:pPr>
                        <a:defRPr sz="900" b="1">
                          <a:solidFill>
                            <a:srgbClr val="FFFFFF"/>
                          </a:solidFill>
                          <a:latin typeface="Calibri"/>
                        </a:defRPr>
                      </a:pPr>
                      <a:r>
                        <a:t>PRIPYAT-1986 Equivalent</a:t>
                      </a:r>
                    </a:p>
                  </a:txBody>
                  <a:tcPr>
                    <a:solidFill>
                      <a:srgbClr val="009B8D"/>
                    </a:solidFill>
                  </a:tcPr>
                </a:tc>
                <a:tc>
                  <a:txBody>
                    <a:bodyPr/>
                    <a:lstStyle/>
                    <a:p>
                      <a:pPr>
                        <a:defRPr sz="900" b="1">
                          <a:solidFill>
                            <a:srgbClr val="FFFFFF"/>
                          </a:solidFill>
                          <a:latin typeface="Calibri"/>
                        </a:defRPr>
                      </a:pPr>
                      <a:r>
                        <a:t>Status</a:t>
                      </a:r>
                    </a:p>
                  </a:txBody>
                  <a:tcPr>
                    <a:solidFill>
                      <a:srgbClr val="009B8D"/>
                    </a:solidFill>
                  </a:tcPr>
                </a:tc>
                <a:extLst>
                  <a:ext uri="{0D108BD9-81ED-4DB2-BD59-A6C34878D82A}">
                    <a16:rowId xmlns:a16="http://schemas.microsoft.com/office/drawing/2014/main" val="10000"/>
                  </a:ext>
                </a:extLst>
              </a:tr>
              <a:tr h="303650">
                <a:tc>
                  <a:txBody>
                    <a:bodyPr/>
                    <a:lstStyle/>
                    <a:p>
                      <a:pPr>
                        <a:defRPr sz="800">
                          <a:solidFill>
                            <a:srgbClr val="333333"/>
                          </a:solidFill>
                          <a:latin typeface="Calibri"/>
                        </a:defRPr>
                      </a:pPr>
                      <a:r>
                        <a:t>MISO Azure AI</a:t>
                      </a:r>
                      <a:br/>
                      <a:r>
                        <a:t>Grid Platform</a:t>
                      </a:r>
                    </a:p>
                  </a:txBody>
                  <a:tcPr>
                    <a:solidFill>
                      <a:srgbClr val="FFFFFF"/>
                    </a:solidFill>
                  </a:tcPr>
                </a:tc>
                <a:tc>
                  <a:txBody>
                    <a:bodyPr/>
                    <a:lstStyle/>
                    <a:p>
                      <a:pPr>
                        <a:defRPr sz="800">
                          <a:solidFill>
                            <a:srgbClr val="333333"/>
                          </a:solidFill>
                          <a:latin typeface="Calibri"/>
                        </a:defRPr>
                      </a:pPr>
                      <a:r>
                        <a:t>Microsoft + MISO</a:t>
                      </a:r>
                      <a:br/>
                      <a:r>
                        <a:t>(Jan 2026)</a:t>
                      </a:r>
                    </a:p>
                  </a:txBody>
                  <a:tcPr>
                    <a:solidFill>
                      <a:srgbClr val="FFFFFF"/>
                    </a:solidFill>
                  </a:tcPr>
                </a:tc>
                <a:tc>
                  <a:txBody>
                    <a:bodyPr/>
                    <a:lstStyle/>
                    <a:p>
                      <a:pPr>
                        <a:defRPr sz="800">
                          <a:solidFill>
                            <a:srgbClr val="333333"/>
                          </a:solidFill>
                          <a:latin typeface="Calibri"/>
                        </a:defRPr>
                      </a:pPr>
                      <a:r>
                        <a:rPr dirty="0"/>
                        <a:t>45 million people</a:t>
                      </a:r>
                      <a:br>
                        <a:rPr dirty="0"/>
                      </a:br>
                      <a:r>
                        <a:rPr dirty="0"/>
                        <a:t>15 US states</a:t>
                      </a:r>
                    </a:p>
                  </a:txBody>
                  <a:tcPr>
                    <a:solidFill>
                      <a:srgbClr val="FFFFFF"/>
                    </a:solidFill>
                  </a:tcPr>
                </a:tc>
                <a:tc>
                  <a:txBody>
                    <a:bodyPr/>
                    <a:lstStyle/>
                    <a:p>
                      <a:pPr>
                        <a:defRPr sz="800">
                          <a:solidFill>
                            <a:srgbClr val="333333"/>
                          </a:solidFill>
                          <a:latin typeface="Calibri"/>
                        </a:defRPr>
                      </a:pPr>
                      <a:r>
                        <a:t>Full pipeline: Sensor → Risk → Decision.</a:t>
                      </a:r>
                      <a:br/>
                      <a:r>
                        <a:t>Real-time grid resilience operations.</a:t>
                      </a:r>
                    </a:p>
                  </a:txBody>
                  <a:tcPr>
                    <a:solidFill>
                      <a:srgbClr val="FFFFFF"/>
                    </a:solidFill>
                  </a:tcPr>
                </a:tc>
                <a:tc>
                  <a:txBody>
                    <a:bodyPr/>
                    <a:lstStyle/>
                    <a:p>
                      <a:pPr>
                        <a:defRPr sz="800">
                          <a:solidFill>
                            <a:srgbClr val="333333"/>
                          </a:solidFill>
                          <a:latin typeface="Calibri"/>
                        </a:defRPr>
                      </a:pPr>
                      <a:r>
                        <a:t>Production</a:t>
                      </a:r>
                      <a:br/>
                      <a:r>
                        <a:t>(live)</a:t>
                      </a:r>
                    </a:p>
                  </a:txBody>
                  <a:tcPr>
                    <a:solidFill>
                      <a:srgbClr val="FFFFFF"/>
                    </a:solidFill>
                  </a:tcPr>
                </a:tc>
                <a:extLst>
                  <a:ext uri="{0D108BD9-81ED-4DB2-BD59-A6C34878D82A}">
                    <a16:rowId xmlns:a16="http://schemas.microsoft.com/office/drawing/2014/main" val="10001"/>
                  </a:ext>
                </a:extLst>
              </a:tr>
              <a:tr h="303650">
                <a:tc>
                  <a:txBody>
                    <a:bodyPr/>
                    <a:lstStyle/>
                    <a:p>
                      <a:pPr>
                        <a:defRPr sz="800">
                          <a:solidFill>
                            <a:srgbClr val="333333"/>
                          </a:solidFill>
                          <a:latin typeface="Calibri"/>
                        </a:defRPr>
                      </a:pPr>
                      <a:r>
                        <a:t>eGridGPT</a:t>
                      </a:r>
                    </a:p>
                  </a:txBody>
                  <a:tcPr>
                    <a:solidFill>
                      <a:srgbClr val="F2F2F2"/>
                    </a:solidFill>
                  </a:tcPr>
                </a:tc>
                <a:tc>
                  <a:txBody>
                    <a:bodyPr/>
                    <a:lstStyle/>
                    <a:p>
                      <a:pPr>
                        <a:defRPr sz="800">
                          <a:solidFill>
                            <a:srgbClr val="333333"/>
                          </a:solidFill>
                          <a:latin typeface="Calibri"/>
                        </a:defRPr>
                      </a:pPr>
                      <a:r>
                        <a:t>NREL</a:t>
                      </a:r>
                      <a:br/>
                      <a:r>
                        <a:t>(US National Lab)</a:t>
                      </a:r>
                    </a:p>
                  </a:txBody>
                  <a:tcPr>
                    <a:solidFill>
                      <a:srgbClr val="F2F2F2"/>
                    </a:solidFill>
                  </a:tcPr>
                </a:tc>
                <a:tc>
                  <a:txBody>
                    <a:bodyPr/>
                    <a:lstStyle/>
                    <a:p>
                      <a:pPr>
                        <a:defRPr sz="800">
                          <a:solidFill>
                            <a:srgbClr val="333333"/>
                          </a:solidFill>
                          <a:latin typeface="Calibri"/>
                        </a:defRPr>
                      </a:pPr>
                      <a:r>
                        <a:t>National grid</a:t>
                      </a:r>
                      <a:br/>
                      <a:r>
                        <a:t>research scale</a:t>
                      </a:r>
                    </a:p>
                  </a:txBody>
                  <a:tcPr>
                    <a:solidFill>
                      <a:srgbClr val="F2F2F2"/>
                    </a:solidFill>
                  </a:tcPr>
                </a:tc>
                <a:tc>
                  <a:txBody>
                    <a:bodyPr/>
                    <a:lstStyle/>
                    <a:p>
                      <a:pPr>
                        <a:defRPr sz="800">
                          <a:solidFill>
                            <a:srgbClr val="333333"/>
                          </a:solidFill>
                          <a:latin typeface="Calibri"/>
                        </a:defRPr>
                      </a:pPr>
                      <a:r>
                        <a:t>RiskAgent + DecisionAgent pattern.</a:t>
                      </a:r>
                      <a:br/>
                      <a:r>
                        <a:t>AI-augmented grid analysis.</a:t>
                      </a:r>
                    </a:p>
                  </a:txBody>
                  <a:tcPr>
                    <a:solidFill>
                      <a:srgbClr val="F2F2F2"/>
                    </a:solidFill>
                  </a:tcPr>
                </a:tc>
                <a:tc>
                  <a:txBody>
                    <a:bodyPr/>
                    <a:lstStyle/>
                    <a:p>
                      <a:pPr>
                        <a:defRPr sz="800">
                          <a:solidFill>
                            <a:srgbClr val="333333"/>
                          </a:solidFill>
                          <a:latin typeface="Calibri"/>
                        </a:defRPr>
                      </a:pPr>
                      <a:r>
                        <a:t>Research</a:t>
                      </a:r>
                      <a:br/>
                      <a:r>
                        <a:t>(active)</a:t>
                      </a:r>
                    </a:p>
                  </a:txBody>
                  <a:tcPr>
                    <a:solidFill>
                      <a:srgbClr val="F2F2F2"/>
                    </a:solidFill>
                  </a:tcPr>
                </a:tc>
                <a:extLst>
                  <a:ext uri="{0D108BD9-81ED-4DB2-BD59-A6C34878D82A}">
                    <a16:rowId xmlns:a16="http://schemas.microsoft.com/office/drawing/2014/main" val="10002"/>
                  </a:ext>
                </a:extLst>
              </a:tr>
              <a:tr h="303650">
                <a:tc>
                  <a:txBody>
                    <a:bodyPr/>
                    <a:lstStyle/>
                    <a:p>
                      <a:pPr>
                        <a:defRPr sz="800">
                          <a:solidFill>
                            <a:srgbClr val="333333"/>
                          </a:solidFill>
                          <a:latin typeface="Calibri"/>
                        </a:defRPr>
                      </a:pPr>
                      <a:r>
                        <a:t>ACWA Power</a:t>
                      </a:r>
                      <a:br/>
                      <a:r>
                        <a:t>Predictive Maint.</a:t>
                      </a:r>
                    </a:p>
                  </a:txBody>
                  <a:tcPr>
                    <a:solidFill>
                      <a:srgbClr val="FFFFFF"/>
                    </a:solidFill>
                  </a:tcPr>
                </a:tc>
                <a:tc>
                  <a:txBody>
                    <a:bodyPr/>
                    <a:lstStyle/>
                    <a:p>
                      <a:pPr>
                        <a:defRPr sz="800">
                          <a:solidFill>
                            <a:srgbClr val="333333"/>
                          </a:solidFill>
                          <a:latin typeface="Calibri"/>
                        </a:defRPr>
                      </a:pPr>
                      <a:r>
                        <a:t>Microsoft +</a:t>
                      </a:r>
                      <a:br/>
                      <a:r>
                        <a:t>ACWA Power</a:t>
                      </a:r>
                    </a:p>
                  </a:txBody>
                  <a:tcPr>
                    <a:solidFill>
                      <a:srgbClr val="FFFFFF"/>
                    </a:solidFill>
                  </a:tcPr>
                </a:tc>
                <a:tc>
                  <a:txBody>
                    <a:bodyPr/>
                    <a:lstStyle/>
                    <a:p>
                      <a:pPr>
                        <a:defRPr sz="800">
                          <a:solidFill>
                            <a:srgbClr val="333333"/>
                          </a:solidFill>
                          <a:latin typeface="Calibri"/>
                        </a:defRPr>
                      </a:pPr>
                      <a:r>
                        <a:t>Multiple power</a:t>
                      </a:r>
                      <a:br/>
                      <a:r>
                        <a:t>plants</a:t>
                      </a:r>
                    </a:p>
                  </a:txBody>
                  <a:tcPr>
                    <a:solidFill>
                      <a:srgbClr val="FFFFFF"/>
                    </a:solidFill>
                  </a:tcPr>
                </a:tc>
                <a:tc>
                  <a:txBody>
                    <a:bodyPr/>
                    <a:lstStyle/>
                    <a:p>
                      <a:pPr>
                        <a:defRPr sz="800">
                          <a:solidFill>
                            <a:srgbClr val="333333"/>
                          </a:solidFill>
                          <a:latin typeface="Calibri"/>
                        </a:defRPr>
                      </a:pPr>
                      <a:r>
                        <a:t>SensorAgent + RiskAgent pattern.</a:t>
                      </a:r>
                      <a:br/>
                      <a:r>
                        <a:t>Predictive maintenance scoring.</a:t>
                      </a:r>
                    </a:p>
                  </a:txBody>
                  <a:tcPr>
                    <a:solidFill>
                      <a:srgbClr val="FFFFFF"/>
                    </a:solidFill>
                  </a:tcPr>
                </a:tc>
                <a:tc>
                  <a:txBody>
                    <a:bodyPr/>
                    <a:lstStyle/>
                    <a:p>
                      <a:pPr>
                        <a:defRPr sz="800">
                          <a:solidFill>
                            <a:srgbClr val="333333"/>
                          </a:solidFill>
                          <a:latin typeface="Calibri"/>
                        </a:defRPr>
                      </a:pPr>
                      <a:r>
                        <a:t>Production</a:t>
                      </a:r>
                      <a:br/>
                      <a:r>
                        <a:t>(deployed)</a:t>
                      </a:r>
                    </a:p>
                  </a:txBody>
                  <a:tcPr>
                    <a:solidFill>
                      <a:srgbClr val="FFFFFF"/>
                    </a:solidFill>
                  </a:tcPr>
                </a:tc>
                <a:extLst>
                  <a:ext uri="{0D108BD9-81ED-4DB2-BD59-A6C34878D82A}">
                    <a16:rowId xmlns:a16="http://schemas.microsoft.com/office/drawing/2014/main" val="10003"/>
                  </a:ext>
                </a:extLst>
              </a:tr>
              <a:tr h="303650">
                <a:tc>
                  <a:txBody>
                    <a:bodyPr/>
                    <a:lstStyle/>
                    <a:p>
                      <a:pPr>
                        <a:defRPr sz="800">
                          <a:solidFill>
                            <a:srgbClr val="333333"/>
                          </a:solidFill>
                          <a:latin typeface="Calibri"/>
                        </a:defRPr>
                      </a:pPr>
                      <a:r>
                        <a:t>Control Room</a:t>
                      </a:r>
                      <a:br/>
                      <a:r>
                        <a:t>of the Future</a:t>
                      </a:r>
                    </a:p>
                  </a:txBody>
                  <a:tcPr>
                    <a:solidFill>
                      <a:srgbClr val="F2F2F2"/>
                    </a:solidFill>
                  </a:tcPr>
                </a:tc>
                <a:tc>
                  <a:txBody>
                    <a:bodyPr/>
                    <a:lstStyle/>
                    <a:p>
                      <a:pPr>
                        <a:defRPr sz="800">
                          <a:solidFill>
                            <a:srgbClr val="333333"/>
                          </a:solidFill>
                          <a:latin typeface="Calibri"/>
                        </a:defRPr>
                      </a:pPr>
                      <a:r>
                        <a:t>Capgemini</a:t>
                      </a:r>
                      <a:br/>
                      <a:r>
                        <a:t>(CIGRE 2025)</a:t>
                      </a:r>
                    </a:p>
                  </a:txBody>
                  <a:tcPr>
                    <a:solidFill>
                      <a:srgbClr val="F2F2F2"/>
                    </a:solidFill>
                  </a:tcPr>
                </a:tc>
                <a:tc>
                  <a:txBody>
                    <a:bodyPr/>
                    <a:lstStyle/>
                    <a:p>
                      <a:pPr>
                        <a:defRPr sz="800">
                          <a:solidFill>
                            <a:srgbClr val="333333"/>
                          </a:solidFill>
                          <a:latin typeface="Calibri"/>
                        </a:defRPr>
                      </a:pPr>
                      <a:r>
                        <a:t>Framework</a:t>
                      </a:r>
                      <a:br/>
                      <a:r>
                        <a:t>standard</a:t>
                      </a:r>
                    </a:p>
                  </a:txBody>
                  <a:tcPr>
                    <a:solidFill>
                      <a:srgbClr val="F2F2F2"/>
                    </a:solidFill>
                  </a:tcPr>
                </a:tc>
                <a:tc>
                  <a:txBody>
                    <a:bodyPr/>
                    <a:lstStyle/>
                    <a:p>
                      <a:pPr>
                        <a:defRPr sz="800">
                          <a:solidFill>
                            <a:srgbClr val="333333"/>
                          </a:solidFill>
                          <a:latin typeface="Calibri"/>
                        </a:defRPr>
                      </a:pPr>
                      <a:r>
                        <a:t>Complete CRoF architecture framework.</a:t>
                      </a:r>
                      <a:br/>
                      <a:r>
                        <a:t>Our reference architecture.</a:t>
                      </a:r>
                    </a:p>
                  </a:txBody>
                  <a:tcPr>
                    <a:solidFill>
                      <a:srgbClr val="F2F2F2"/>
                    </a:solidFill>
                  </a:tcPr>
                </a:tc>
                <a:tc>
                  <a:txBody>
                    <a:bodyPr/>
                    <a:lstStyle/>
                    <a:p>
                      <a:pPr>
                        <a:defRPr sz="800">
                          <a:solidFill>
                            <a:srgbClr val="333333"/>
                          </a:solidFill>
                          <a:latin typeface="Calibri"/>
                        </a:defRPr>
                      </a:pPr>
                      <a:r>
                        <a:rPr dirty="0"/>
                        <a:t>Published</a:t>
                      </a:r>
                      <a:br>
                        <a:rPr dirty="0"/>
                      </a:br>
                      <a:r>
                        <a:rPr dirty="0"/>
                        <a:t>(CIGRE)</a:t>
                      </a:r>
                    </a:p>
                  </a:txBody>
                  <a:tcPr>
                    <a:solidFill>
                      <a:srgbClr val="F2F2F2"/>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2991612"/>
            <a:ext cx="11277295" cy="228600"/>
          </a:xfrm>
          <a:prstGeom prst="rect">
            <a:avLst/>
          </a:prstGeom>
          <a:noFill/>
        </p:spPr>
        <p:txBody>
          <a:bodyPr wrap="square">
            <a:spAutoFit/>
          </a:bodyPr>
          <a:lstStyle/>
          <a:p>
            <a:pPr algn="l">
              <a:spcBef>
                <a:spcPts val="100"/>
              </a:spcBef>
              <a:spcAft>
                <a:spcPts val="100"/>
              </a:spcAft>
              <a:defRPr sz="1200" b="1">
                <a:solidFill>
                  <a:srgbClr val="0C2340"/>
                </a:solidFill>
                <a:latin typeface="Calibri"/>
              </a:defRPr>
            </a:pPr>
            <a:r>
              <a:t>PRIPYAT-1986 Simulation Results — Measurable KPIs:</a:t>
            </a:r>
          </a:p>
        </p:txBody>
      </p:sp>
      <p:sp>
        <p:nvSpPr>
          <p:cNvPr id="7" name="Rounded Rectangle 6"/>
          <p:cNvSpPr/>
          <p:nvPr/>
        </p:nvSpPr>
        <p:spPr>
          <a:xfrm>
            <a:off x="457200" y="32659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38 min</a:t>
            </a:r>
          </a:p>
          <a:p>
            <a:pPr algn="ctr">
              <a:spcBef>
                <a:spcPts val="100"/>
              </a:spcBef>
              <a:spcAft>
                <a:spcPts val="100"/>
              </a:spcAft>
              <a:defRPr sz="800" b="0">
                <a:solidFill>
                  <a:srgbClr val="333333"/>
                </a:solidFill>
                <a:latin typeface="Calibri"/>
              </a:defRPr>
            </a:pPr>
            <a:r>
              <a:t>Earlier Emergency Shutdown</a:t>
            </a:r>
            <a:br/>
            <a:r>
              <a:t>vs. actual explosion at 01:23:40</a:t>
            </a:r>
          </a:p>
        </p:txBody>
      </p:sp>
      <p:sp>
        <p:nvSpPr>
          <p:cNvPr id="8" name="Rounded Rectangle 7"/>
          <p:cNvSpPr/>
          <p:nvPr/>
        </p:nvSpPr>
        <p:spPr>
          <a:xfrm>
            <a:off x="3200400" y="32659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35 hrs</a:t>
            </a:r>
          </a:p>
          <a:p>
            <a:pPr algn="ctr">
              <a:spcBef>
                <a:spcPts val="100"/>
              </a:spcBef>
              <a:spcAft>
                <a:spcPts val="100"/>
              </a:spcAft>
              <a:defRPr sz="800" b="0">
                <a:solidFill>
                  <a:srgbClr val="333333"/>
                </a:solidFill>
                <a:latin typeface="Calibri"/>
              </a:defRPr>
            </a:pPr>
            <a:r>
              <a:t>Earlier Civilian Evacuation</a:t>
            </a:r>
            <a:br/>
            <a:r>
              <a:t>vs. Soviet order Apr 27 14:00</a:t>
            </a:r>
          </a:p>
        </p:txBody>
      </p:sp>
      <p:sp>
        <p:nvSpPr>
          <p:cNvPr id="9" name="Rounded Rectangle 8"/>
          <p:cNvSpPr/>
          <p:nvPr/>
        </p:nvSpPr>
        <p:spPr>
          <a:xfrm>
            <a:off x="5943600" y="32659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100%</a:t>
            </a:r>
          </a:p>
          <a:p>
            <a:pPr algn="ctr">
              <a:spcBef>
                <a:spcPts val="100"/>
              </a:spcBef>
              <a:spcAft>
                <a:spcPts val="100"/>
              </a:spcAft>
              <a:defRPr sz="800" b="0">
                <a:solidFill>
                  <a:srgbClr val="333333"/>
                </a:solidFill>
                <a:latin typeface="Calibri"/>
              </a:defRPr>
            </a:pPr>
            <a:r>
              <a:t>Safety Protocol Compliance</a:t>
            </a:r>
            <a:br/>
            <a:r>
              <a:t>vs. 0% on April 26, 1986</a:t>
            </a:r>
          </a:p>
        </p:txBody>
      </p:sp>
      <p:sp>
        <p:nvSpPr>
          <p:cNvPr id="10" name="Rounded Rectangle 9"/>
          <p:cNvSpPr/>
          <p:nvPr/>
        </p:nvSpPr>
        <p:spPr>
          <a:xfrm>
            <a:off x="8686800" y="32659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9B8D"/>
                </a:solidFill>
                <a:latin typeface="Calibri"/>
              </a:defRPr>
            </a:pPr>
            <a:r>
              <a:t>&lt;$0.10</a:t>
            </a:r>
          </a:p>
          <a:p>
            <a:pPr algn="ctr">
              <a:spcBef>
                <a:spcPts val="100"/>
              </a:spcBef>
              <a:spcAft>
                <a:spcPts val="100"/>
              </a:spcAft>
              <a:defRPr sz="800" b="0">
                <a:solidFill>
                  <a:srgbClr val="333333"/>
                </a:solidFill>
                <a:latin typeface="Calibri"/>
              </a:defRPr>
            </a:pPr>
            <a:r>
              <a:t>Cost Per Simulation Run</a:t>
            </a:r>
            <a:br/>
            <a:r>
              <a:t>on Azure OpenAI GPT-4o</a:t>
            </a:r>
          </a:p>
        </p:txBody>
      </p:sp>
      <p:sp>
        <p:nvSpPr>
          <p:cNvPr id="11" name="Rounded Rectangle 10"/>
          <p:cNvSpPr/>
          <p:nvPr/>
        </p:nvSpPr>
        <p:spPr>
          <a:xfrm>
            <a:off x="457200" y="41803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70AD"/>
                </a:solidFill>
                <a:latin typeface="Calibri"/>
              </a:defRPr>
            </a:pPr>
            <a:r>
              <a:t>5 ticks</a:t>
            </a:r>
          </a:p>
          <a:p>
            <a:pPr algn="ctr">
              <a:spcBef>
                <a:spcPts val="100"/>
              </a:spcBef>
              <a:spcAft>
                <a:spcPts val="100"/>
              </a:spcAft>
              <a:defRPr sz="800" b="0">
                <a:solidFill>
                  <a:srgbClr val="333333"/>
                </a:solidFill>
                <a:latin typeface="Calibri"/>
              </a:defRPr>
            </a:pPr>
            <a:r>
              <a:t>Smoke Test Validation</a:t>
            </a:r>
            <a:br/>
            <a:r>
              <a:t>Full pipeline in &lt;10 seconds</a:t>
            </a:r>
          </a:p>
        </p:txBody>
      </p:sp>
      <p:sp>
        <p:nvSpPr>
          <p:cNvPr id="12" name="Rounded Rectangle 11"/>
          <p:cNvSpPr/>
          <p:nvPr/>
        </p:nvSpPr>
        <p:spPr>
          <a:xfrm>
            <a:off x="3200400" y="41803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70AD"/>
                </a:solidFill>
                <a:latin typeface="Calibri"/>
              </a:defRPr>
            </a:pPr>
            <a:r>
              <a:t>&lt;5 min</a:t>
            </a:r>
          </a:p>
          <a:p>
            <a:pPr algn="ctr">
              <a:spcBef>
                <a:spcPts val="100"/>
              </a:spcBef>
              <a:spcAft>
                <a:spcPts val="100"/>
              </a:spcAft>
              <a:defRPr sz="800" b="0">
                <a:solidFill>
                  <a:srgbClr val="333333"/>
                </a:solidFill>
                <a:latin typeface="Calibri"/>
              </a:defRPr>
            </a:pPr>
            <a:r>
              <a:t>Deployment Time</a:t>
            </a:r>
            <a:br/>
            <a:r>
              <a:t>Docker → Container Apps</a:t>
            </a:r>
          </a:p>
        </p:txBody>
      </p:sp>
      <p:sp>
        <p:nvSpPr>
          <p:cNvPr id="13" name="Rounded Rectangle 12"/>
          <p:cNvSpPr/>
          <p:nvPr/>
        </p:nvSpPr>
        <p:spPr>
          <a:xfrm>
            <a:off x="5943600" y="41803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70AD"/>
                </a:solidFill>
                <a:latin typeface="Calibri"/>
              </a:defRPr>
            </a:pPr>
            <a:r>
              <a:t>~$5-15</a:t>
            </a:r>
          </a:p>
          <a:p>
            <a:pPr algn="ctr">
              <a:spcBef>
                <a:spcPts val="100"/>
              </a:spcBef>
              <a:spcAft>
                <a:spcPts val="100"/>
              </a:spcAft>
              <a:defRPr sz="800" b="0">
                <a:solidFill>
                  <a:srgbClr val="333333"/>
                </a:solidFill>
                <a:latin typeface="Calibri"/>
              </a:defRPr>
            </a:pPr>
            <a:r>
              <a:t>Total Azure Spend</a:t>
            </a:r>
            <a:br/>
            <a:r>
              <a:t>of $350 hackathon budget</a:t>
            </a:r>
          </a:p>
        </p:txBody>
      </p:sp>
      <p:sp>
        <p:nvSpPr>
          <p:cNvPr id="14" name="Rounded Rectangle 13"/>
          <p:cNvSpPr/>
          <p:nvPr/>
        </p:nvSpPr>
        <p:spPr>
          <a:xfrm>
            <a:off x="8686800" y="4180332"/>
            <a:ext cx="2560320" cy="777240"/>
          </a:xfrm>
          <a:prstGeom prst="roundRect">
            <a:avLst/>
          </a:prstGeom>
          <a:solidFill>
            <a:srgbClr val="E0F7F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800" b="1">
                <a:solidFill>
                  <a:srgbClr val="0070AD"/>
                </a:solidFill>
                <a:latin typeface="Calibri"/>
              </a:defRPr>
            </a:pPr>
            <a:r>
              <a:t>6 agents</a:t>
            </a:r>
          </a:p>
          <a:p>
            <a:pPr algn="ctr">
              <a:spcBef>
                <a:spcPts val="100"/>
              </a:spcBef>
              <a:spcAft>
                <a:spcPts val="100"/>
              </a:spcAft>
              <a:defRPr sz="800" b="0">
                <a:solidFill>
                  <a:srgbClr val="333333"/>
                </a:solidFill>
                <a:latin typeface="Calibri"/>
              </a:defRPr>
            </a:pPr>
            <a:r>
              <a:t>3 LLM + 3 Deterministic</a:t>
            </a:r>
            <a:br/>
            <a:r>
              <a:t>100% functional without API</a:t>
            </a:r>
          </a:p>
        </p:txBody>
      </p:sp>
      <p:sp>
        <p:nvSpPr>
          <p:cNvPr id="15" name="Rectangle 14"/>
          <p:cNvSpPr/>
          <p:nvPr/>
        </p:nvSpPr>
        <p:spPr>
          <a:xfrm>
            <a:off x="457200" y="5094732"/>
            <a:ext cx="11277295" cy="27432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tIns="18288" rtlCol="0" anchor="ctr"/>
          <a:lstStyle/>
          <a:p>
            <a:pPr algn="l">
              <a:spcBef>
                <a:spcPts val="100"/>
              </a:spcBef>
              <a:spcAft>
                <a:spcPts val="100"/>
              </a:spcAft>
              <a:defRPr sz="1000" b="1">
                <a:solidFill>
                  <a:srgbClr val="FFFFFF"/>
                </a:solidFill>
                <a:latin typeface="Calibri"/>
              </a:defRPr>
            </a:pPr>
            <a:r>
              <a:t>What Makes This Different from a Generic Chatbot</a:t>
            </a:r>
          </a:p>
        </p:txBody>
      </p:sp>
      <p:sp>
        <p:nvSpPr>
          <p:cNvPr id="16" name="Rounded Rectangle 15"/>
          <p:cNvSpPr/>
          <p:nvPr/>
        </p:nvSpPr>
        <p:spPr>
          <a:xfrm>
            <a:off x="457200" y="5369052"/>
            <a:ext cx="11277295"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rIns="45720" rtlCol="0" anchor="ctr"/>
          <a:lstStyle/>
          <a:p>
            <a:pPr>
              <a:spcBef>
                <a:spcPts val="100"/>
              </a:spcBef>
              <a:spcAft>
                <a:spcPts val="100"/>
              </a:spcAft>
              <a:defRPr sz="900" b="0">
                <a:solidFill>
                  <a:srgbClr val="333333"/>
                </a:solidFill>
                <a:latin typeface="Calibri"/>
              </a:defRPr>
            </a:pPr>
            <a:r>
              <a:rPr dirty="0"/>
              <a:t>Multi-dimensional compound risk detection (invisible to single-threshold systems)</a:t>
            </a:r>
          </a:p>
          <a:p>
            <a:pPr>
              <a:spcBef>
                <a:spcPts val="100"/>
              </a:spcBef>
              <a:spcAft>
                <a:spcPts val="100"/>
              </a:spcAft>
              <a:defRPr sz="900" b="0">
                <a:solidFill>
                  <a:srgbClr val="333333"/>
                </a:solidFill>
                <a:latin typeface="Calibri"/>
              </a:defRPr>
            </a:pPr>
            <a:r>
              <a:rPr dirty="0"/>
              <a:t>Guardrail-Union: rules + AI merged, not </a:t>
            </a:r>
            <a:r>
              <a:rPr dirty="0" err="1"/>
              <a:t>OR'd</a:t>
            </a:r>
            <a:r>
              <a:rPr dirty="0"/>
              <a:t> — LLM adds value, never removes safety</a:t>
            </a:r>
          </a:p>
          <a:p>
            <a:pPr>
              <a:spcBef>
                <a:spcPts val="100"/>
              </a:spcBef>
              <a:spcAft>
                <a:spcPts val="100"/>
              </a:spcAft>
              <a:defRPr sz="900" b="0">
                <a:solidFill>
                  <a:srgbClr val="333333"/>
                </a:solidFill>
                <a:latin typeface="Calibri"/>
              </a:defRPr>
            </a:pPr>
            <a:r>
              <a:rPr dirty="0"/>
              <a:t>Adversarial stress testing built into the architecture (</a:t>
            </a:r>
            <a:r>
              <a:rPr dirty="0" err="1"/>
              <a:t>DyatlovAgent</a:t>
            </a:r>
            <a:r>
              <a:rPr dirty="0"/>
              <a:t>)</a:t>
            </a:r>
          </a:p>
          <a:p>
            <a:pPr>
              <a:spcBef>
                <a:spcPts val="100"/>
              </a:spcBef>
              <a:spcAft>
                <a:spcPts val="100"/>
              </a:spcAft>
              <a:defRPr sz="900" b="0">
                <a:solidFill>
                  <a:srgbClr val="333333"/>
                </a:solidFill>
                <a:latin typeface="Calibri"/>
              </a:defRPr>
            </a:pPr>
            <a:r>
              <a:rPr dirty="0"/>
              <a:t>Dual timeline engine: historical replay + AI counterfactual in parallel</a:t>
            </a:r>
          </a:p>
          <a:p>
            <a:pPr>
              <a:spcBef>
                <a:spcPts val="100"/>
              </a:spcBef>
              <a:spcAft>
                <a:spcPts val="100"/>
              </a:spcAft>
              <a:defRPr sz="900" b="0">
                <a:solidFill>
                  <a:srgbClr val="333333"/>
                </a:solidFill>
                <a:latin typeface="Calibri"/>
              </a:defRPr>
            </a:pPr>
            <a:r>
              <a:rPr dirty="0"/>
              <a:t>MCP-packaged agents composable with any Microsoft orchestrator (Foundry, Semantic Kernel, </a:t>
            </a:r>
            <a:r>
              <a:rPr dirty="0" err="1"/>
              <a:t>AutoGen</a:t>
            </a:r>
            <a:r>
              <a:rPr dirty="0"/>
              <a:t>)</a:t>
            </a:r>
          </a:p>
          <a:p>
            <a:pPr>
              <a:spcBef>
                <a:spcPts val="100"/>
              </a:spcBef>
              <a:spcAft>
                <a:spcPts val="100"/>
              </a:spcAft>
              <a:defRPr sz="900" b="0">
                <a:solidFill>
                  <a:srgbClr val="333333"/>
                </a:solidFill>
                <a:latin typeface="Calibri"/>
              </a:defRPr>
            </a:pPr>
            <a:r>
              <a:rPr dirty="0"/>
              <a:t>Same pattern validated in production by MISO + Microsoft for 45M people — not theoretical</a:t>
            </a:r>
          </a:p>
        </p:txBody>
      </p:sp>
      <p:sp>
        <p:nvSpPr>
          <p:cNvPr id="17" name="Rectangle 16"/>
          <p:cNvSpPr/>
          <p:nvPr/>
        </p:nvSpPr>
        <p:spPr>
          <a:xfrm>
            <a:off x="457200" y="6547104"/>
            <a:ext cx="11277295" cy="9525"/>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7200" y="6565392"/>
            <a:ext cx="6400800" cy="256032"/>
          </a:xfrm>
          <a:prstGeom prst="rect">
            <a:avLst/>
          </a:prstGeom>
          <a:noFill/>
        </p:spPr>
        <p:txBody>
          <a:bodyPr wrap="square">
            <a:spAutoFit/>
          </a:bodyPr>
          <a:lstStyle/>
          <a:p>
            <a:pPr algn="l">
              <a:spcBef>
                <a:spcPts val="100"/>
              </a:spcBef>
              <a:spcAft>
                <a:spcPts val="100"/>
              </a:spcAft>
              <a:defRPr sz="700" b="0">
                <a:solidFill>
                  <a:srgbClr val="777777"/>
                </a:solidFill>
                <a:latin typeface="Calibri"/>
              </a:defRPr>
            </a:pPr>
            <a:r>
              <a:t>Company Confidential © Capgemini 2026. All rights reserved.</a:t>
            </a:r>
          </a:p>
        </p:txBody>
      </p:sp>
      <p:sp>
        <p:nvSpPr>
          <p:cNvPr id="19" name="TextBox 18"/>
          <p:cNvSpPr txBox="1"/>
          <p:nvPr/>
        </p:nvSpPr>
        <p:spPr>
          <a:xfrm>
            <a:off x="9448495" y="6565392"/>
            <a:ext cx="2286000" cy="256032"/>
          </a:xfrm>
          <a:prstGeom prst="rect">
            <a:avLst/>
          </a:prstGeom>
          <a:noFill/>
        </p:spPr>
        <p:txBody>
          <a:bodyPr wrap="square">
            <a:spAutoFit/>
          </a:bodyPr>
          <a:lstStyle/>
          <a:p>
            <a:pPr algn="r">
              <a:spcBef>
                <a:spcPts val="100"/>
              </a:spcBef>
              <a:spcAft>
                <a:spcPts val="100"/>
              </a:spcAft>
              <a:defRPr sz="700" b="0">
                <a:solidFill>
                  <a:srgbClr val="777777"/>
                </a:solidFill>
                <a:latin typeface="Calibri"/>
              </a:defRPr>
            </a:pPr>
            <a:r>
              <a:t>WattAgents — PRIPYAT-1986 | 19/20</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194560"/>
            <a:ext cx="12191695" cy="38100"/>
          </a:xfrm>
          <a:prstGeom prst="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371600" y="548640"/>
            <a:ext cx="9144000" cy="731520"/>
          </a:xfrm>
          <a:prstGeom prst="rect">
            <a:avLst/>
          </a:prstGeom>
          <a:noFill/>
        </p:spPr>
        <p:txBody>
          <a:bodyPr wrap="square">
            <a:spAutoFit/>
          </a:bodyPr>
          <a:lstStyle/>
          <a:p>
            <a:pPr algn="ctr">
              <a:spcBef>
                <a:spcPts val="100"/>
              </a:spcBef>
              <a:spcAft>
                <a:spcPts val="100"/>
              </a:spcAft>
              <a:defRPr sz="3600" b="1">
                <a:solidFill>
                  <a:srgbClr val="FFFFFF"/>
                </a:solidFill>
                <a:latin typeface="Calibri"/>
              </a:defRPr>
            </a:pPr>
            <a:r>
              <a:t>PRIPYAT-1986</a:t>
            </a:r>
          </a:p>
          <a:p>
            <a:pPr algn="ctr">
              <a:spcBef>
                <a:spcPts val="100"/>
              </a:spcBef>
              <a:spcAft>
                <a:spcPts val="100"/>
              </a:spcAft>
              <a:defRPr sz="1800" b="1">
                <a:solidFill>
                  <a:srgbClr val="009B8D"/>
                </a:solidFill>
                <a:latin typeface="Calibri"/>
              </a:defRPr>
            </a:pPr>
            <a:r>
              <a:t>The Architecture is the Product</a:t>
            </a:r>
          </a:p>
        </p:txBody>
      </p:sp>
      <p:sp>
        <p:nvSpPr>
          <p:cNvPr id="5" name="Rounded Rectangle 4"/>
          <p:cNvSpPr/>
          <p:nvPr/>
        </p:nvSpPr>
        <p:spPr>
          <a:xfrm>
            <a:off x="914400" y="2468880"/>
            <a:ext cx="10332720" cy="1828800"/>
          </a:xfrm>
          <a:prstGeom prst="roundRect">
            <a:avLst/>
          </a:prstGeom>
          <a:solidFill>
            <a:srgbClr val="1B365F"/>
          </a:solidFill>
          <a:ln>
            <a:noFill/>
          </a:ln>
        </p:spPr>
        <p:style>
          <a:lnRef idx="1">
            <a:schemeClr val="accent1"/>
          </a:lnRef>
          <a:fillRef idx="3">
            <a:schemeClr val="accent1"/>
          </a:fillRef>
          <a:effectRef idx="2">
            <a:schemeClr val="accent1"/>
          </a:effectRef>
          <a:fontRef idx="minor">
            <a:schemeClr val="lt1"/>
          </a:fontRef>
        </p:style>
        <p:txBody>
          <a:bodyPr wrap="square" lIns="365760" tIns="137160" rIns="365760" rtlCol="0" anchor="ctr"/>
          <a:lstStyle/>
          <a:p>
            <a:pPr algn="ctr">
              <a:spcBef>
                <a:spcPts val="100"/>
              </a:spcBef>
              <a:spcAft>
                <a:spcPts val="100"/>
              </a:spcAft>
              <a:defRPr sz="1600" b="1">
                <a:solidFill>
                  <a:srgbClr val="FFFFFF"/>
                </a:solidFill>
                <a:latin typeface="Calibri"/>
              </a:defRPr>
            </a:pPr>
            <a:r>
              <a:rPr dirty="0"/>
              <a:t>"PRIPYAT-1986 is not </a:t>
            </a:r>
            <a:r>
              <a:rPr lang="en-US" dirty="0"/>
              <a:t>just </a:t>
            </a:r>
            <a:r>
              <a:rPr dirty="0"/>
              <a:t>a nuclear simulator.</a:t>
            </a:r>
          </a:p>
          <a:p>
            <a:pPr algn="ctr">
              <a:spcBef>
                <a:spcPts val="100"/>
              </a:spcBef>
              <a:spcAft>
                <a:spcPts val="100"/>
              </a:spcAft>
              <a:defRPr sz="1600" b="1">
                <a:solidFill>
                  <a:srgbClr val="009B8D"/>
                </a:solidFill>
                <a:latin typeface="Calibri"/>
              </a:defRPr>
            </a:pPr>
            <a:r>
              <a:rPr dirty="0"/>
              <a:t>It's a reusable safety-critical AI architecture</a:t>
            </a:r>
          </a:p>
          <a:p>
            <a:pPr algn="ctr">
              <a:spcBef>
                <a:spcPts val="100"/>
              </a:spcBef>
              <a:spcAft>
                <a:spcPts val="100"/>
              </a:spcAft>
              <a:defRPr sz="1400" b="0">
                <a:solidFill>
                  <a:srgbClr val="AACCEE"/>
                </a:solidFill>
                <a:latin typeface="Calibri"/>
              </a:defRPr>
            </a:pPr>
            <a:r>
              <a:rPr dirty="0"/>
              <a:t>that uses Chernobyl as its most dramatic training dataset.</a:t>
            </a:r>
          </a:p>
          <a:p>
            <a:pPr algn="l">
              <a:spcBef>
                <a:spcPts val="100"/>
              </a:spcBef>
              <a:spcAft>
                <a:spcPts val="100"/>
              </a:spcAft>
              <a:defRPr sz="600" b="0">
                <a:solidFill>
                  <a:srgbClr val="FFFFFF"/>
                </a:solidFill>
                <a:latin typeface="Calibri"/>
              </a:defRPr>
            </a:pPr>
            <a:endParaRPr dirty="0"/>
          </a:p>
          <a:p>
            <a:pPr algn="ctr">
              <a:spcBef>
                <a:spcPts val="100"/>
              </a:spcBef>
              <a:spcAft>
                <a:spcPts val="100"/>
              </a:spcAft>
              <a:defRPr sz="1300" b="0">
                <a:solidFill>
                  <a:srgbClr val="FFFFFF"/>
                </a:solidFill>
                <a:latin typeface="Calibri"/>
              </a:defRPr>
            </a:pPr>
            <a:r>
              <a:rPr dirty="0"/>
              <a:t>Connect it to your SCADA API → it runs on your grid tomorrow.</a:t>
            </a:r>
          </a:p>
          <a:p>
            <a:pPr algn="ctr">
              <a:spcBef>
                <a:spcPts val="100"/>
              </a:spcBef>
              <a:spcAft>
                <a:spcPts val="100"/>
              </a:spcAft>
              <a:defRPr sz="1300" b="0">
                <a:solidFill>
                  <a:srgbClr val="FFFFFF"/>
                </a:solidFill>
                <a:latin typeface="Calibri"/>
              </a:defRPr>
            </a:pPr>
            <a:r>
              <a:rPr dirty="0"/>
              <a:t>Connect it to your BSEE feed → it monitors your wells.</a:t>
            </a:r>
          </a:p>
          <a:p>
            <a:pPr algn="ctr">
              <a:spcBef>
                <a:spcPts val="100"/>
              </a:spcBef>
              <a:spcAft>
                <a:spcPts val="100"/>
              </a:spcAft>
              <a:defRPr sz="1400" b="1">
                <a:solidFill>
                  <a:srgbClr val="009B8D"/>
                </a:solidFill>
                <a:latin typeface="Calibri"/>
              </a:defRPr>
            </a:pPr>
            <a:r>
              <a:rPr dirty="0"/>
              <a:t>The architecture is the product. The disaster is just the proof."</a:t>
            </a:r>
          </a:p>
        </p:txBody>
      </p:sp>
      <p:sp>
        <p:nvSpPr>
          <p:cNvPr id="6" name="Rounded Rectangle 5"/>
          <p:cNvSpPr/>
          <p:nvPr/>
        </p:nvSpPr>
        <p:spPr>
          <a:xfrm>
            <a:off x="640080" y="4572000"/>
            <a:ext cx="3200400" cy="68580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300" b="1">
                <a:solidFill>
                  <a:srgbClr val="FFFFFF"/>
                </a:solidFill>
                <a:latin typeface="Calibri"/>
              </a:defRPr>
            </a:pPr>
            <a:r>
              <a:t>Track A: GitHub + Azure</a:t>
            </a:r>
          </a:p>
          <a:p>
            <a:pPr algn="ctr">
              <a:spcBef>
                <a:spcPts val="100"/>
              </a:spcBef>
              <a:spcAft>
                <a:spcPts val="100"/>
              </a:spcAft>
              <a:defRPr sz="1000" b="0">
                <a:solidFill>
                  <a:srgbClr val="DDFFDD"/>
                </a:solidFill>
                <a:latin typeface="Calibri"/>
              </a:defRPr>
            </a:pPr>
            <a:r>
              <a:t>7 Azure services deployed</a:t>
            </a:r>
          </a:p>
        </p:txBody>
      </p:sp>
      <p:sp>
        <p:nvSpPr>
          <p:cNvPr id="7" name="Rounded Rectangle 6"/>
          <p:cNvSpPr/>
          <p:nvPr/>
        </p:nvSpPr>
        <p:spPr>
          <a:xfrm>
            <a:off x="4114800" y="4572000"/>
            <a:ext cx="3200400" cy="68580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300" b="1">
                <a:solidFill>
                  <a:srgbClr val="FFFFFF"/>
                </a:solidFill>
                <a:latin typeface="Calibri"/>
              </a:defRPr>
            </a:pPr>
            <a:r>
              <a:t>6 Agents, 3 LLM-powered</a:t>
            </a:r>
          </a:p>
          <a:p>
            <a:pPr algn="ctr">
              <a:spcBef>
                <a:spcPts val="100"/>
              </a:spcBef>
              <a:spcAft>
                <a:spcPts val="100"/>
              </a:spcAft>
              <a:defRPr sz="1000" b="0">
                <a:solidFill>
                  <a:srgbClr val="DDFFDD"/>
                </a:solidFill>
                <a:latin typeface="Calibri"/>
              </a:defRPr>
            </a:pPr>
            <a:r>
              <a:t>Guardrail-Union architecture</a:t>
            </a:r>
          </a:p>
        </p:txBody>
      </p:sp>
      <p:sp>
        <p:nvSpPr>
          <p:cNvPr id="8" name="Rounded Rectangle 7"/>
          <p:cNvSpPr/>
          <p:nvPr/>
        </p:nvSpPr>
        <p:spPr>
          <a:xfrm>
            <a:off x="7589520" y="4572000"/>
            <a:ext cx="3200400" cy="685800"/>
          </a:xfrm>
          <a:prstGeom prst="roundRect">
            <a:avLst/>
          </a:prstGeom>
          <a:solidFill>
            <a:srgbClr val="009B8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100"/>
              </a:spcBef>
              <a:spcAft>
                <a:spcPts val="100"/>
              </a:spcAft>
              <a:defRPr sz="1300" b="1">
                <a:solidFill>
                  <a:srgbClr val="FFFFFF"/>
                </a:solidFill>
                <a:latin typeface="Calibri"/>
              </a:defRPr>
            </a:pPr>
            <a:r>
              <a:t>&lt; $0.10 per run</a:t>
            </a:r>
          </a:p>
          <a:p>
            <a:pPr algn="ctr">
              <a:spcBef>
                <a:spcPts val="100"/>
              </a:spcBef>
              <a:spcAft>
                <a:spcPts val="100"/>
              </a:spcAft>
              <a:defRPr sz="1000" b="0">
                <a:solidFill>
                  <a:srgbClr val="DDFFDD"/>
                </a:solidFill>
                <a:latin typeface="Calibri"/>
              </a:defRPr>
            </a:pPr>
            <a:r>
              <a:t>100% rule-based fallback</a:t>
            </a:r>
          </a:p>
        </p:txBody>
      </p:sp>
      <p:sp>
        <p:nvSpPr>
          <p:cNvPr id="9" name="TextBox 8"/>
          <p:cNvSpPr txBox="1"/>
          <p:nvPr/>
        </p:nvSpPr>
        <p:spPr>
          <a:xfrm>
            <a:off x="914400" y="5486400"/>
            <a:ext cx="10058400" cy="365760"/>
          </a:xfrm>
          <a:prstGeom prst="rect">
            <a:avLst/>
          </a:prstGeom>
          <a:noFill/>
        </p:spPr>
        <p:txBody>
          <a:bodyPr wrap="square">
            <a:spAutoFit/>
          </a:bodyPr>
          <a:lstStyle/>
          <a:p>
            <a:pPr algn="ctr">
              <a:spcBef>
                <a:spcPts val="100"/>
              </a:spcBef>
              <a:spcAft>
                <a:spcPts val="100"/>
              </a:spcAft>
              <a:defRPr sz="1100" b="0">
                <a:solidFill>
                  <a:srgbClr val="AABBCC"/>
                </a:solidFill>
                <a:latin typeface="Calibri"/>
              </a:defRPr>
            </a:pPr>
            <a:r>
              <a:t>Team WattAgents: Shruti Kate • Amar Shikhar • V. Sreenivas • Deendayalan Balaji • M. Navenaa • Shyamdinesh</a:t>
            </a:r>
          </a:p>
        </p:txBody>
      </p:sp>
      <p:sp>
        <p:nvSpPr>
          <p:cNvPr id="10" name="TextBox 9"/>
          <p:cNvSpPr txBox="1"/>
          <p:nvPr/>
        </p:nvSpPr>
        <p:spPr>
          <a:xfrm>
            <a:off x="914400" y="5852160"/>
            <a:ext cx="10058400" cy="274320"/>
          </a:xfrm>
          <a:prstGeom prst="rect">
            <a:avLst/>
          </a:prstGeom>
          <a:noFill/>
        </p:spPr>
        <p:txBody>
          <a:bodyPr wrap="square">
            <a:spAutoFit/>
          </a:bodyPr>
          <a:lstStyle/>
          <a:p>
            <a:pPr algn="ctr">
              <a:spcBef>
                <a:spcPts val="100"/>
              </a:spcBef>
              <a:spcAft>
                <a:spcPts val="100"/>
              </a:spcAft>
              <a:defRPr sz="1000" b="0">
                <a:solidFill>
                  <a:srgbClr val="777777"/>
                </a:solidFill>
                <a:latin typeface="Calibri"/>
              </a:defRPr>
            </a:pPr>
            <a:r>
              <a:t>github.com/amarshikhar/pripyat-1986</a:t>
            </a:r>
          </a:p>
        </p:txBody>
      </p:sp>
      <p:sp>
        <p:nvSpPr>
          <p:cNvPr id="11" name="TextBox 10"/>
          <p:cNvSpPr txBox="1"/>
          <p:nvPr/>
        </p:nvSpPr>
        <p:spPr>
          <a:xfrm>
            <a:off x="914400" y="6309360"/>
            <a:ext cx="10058400" cy="274320"/>
          </a:xfrm>
          <a:prstGeom prst="rect">
            <a:avLst/>
          </a:prstGeom>
          <a:noFill/>
        </p:spPr>
        <p:txBody>
          <a:bodyPr wrap="square">
            <a:spAutoFit/>
          </a:bodyPr>
          <a:lstStyle/>
          <a:p>
            <a:pPr algn="ctr">
              <a:spcBef>
                <a:spcPts val="100"/>
              </a:spcBef>
              <a:spcAft>
                <a:spcPts val="100"/>
              </a:spcAft>
              <a:defRPr sz="700" b="0">
                <a:solidFill>
                  <a:srgbClr val="777777"/>
                </a:solidFill>
                <a:latin typeface="Calibri"/>
              </a:defRPr>
            </a:pPr>
            <a:r>
              <a:t>Company Confidential © Capgemini 2026.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1074</TotalTime>
  <Words>7743</Words>
  <Application>Microsoft Office PowerPoint</Application>
  <PresentationFormat>Widescreen</PresentationFormat>
  <Paragraphs>1027</Paragraphs>
  <Slides>20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Amar, Shikhar</cp:lastModifiedBy>
  <cp:revision>5</cp:revision>
  <dcterms:created xsi:type="dcterms:W3CDTF">2013-01-27T09:14:16Z</dcterms:created>
  <dcterms:modified xsi:type="dcterms:W3CDTF">2026-04-28T08:25:03Z</dcterms:modified>
  <cp:category/>
</cp:coreProperties>
</file>